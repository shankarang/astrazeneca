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64" r:id="rId5"/>
    <p:sldId id="312" r:id="rId6"/>
    <p:sldId id="313" r:id="rId7"/>
    <p:sldId id="314" r:id="rId8"/>
    <p:sldId id="315" r:id="rId9"/>
    <p:sldId id="319" r:id="rId10"/>
    <p:sldId id="316" r:id="rId11"/>
    <p:sldId id="318" r:id="rId12"/>
    <p:sldId id="31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8/4/2026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904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62E5A-6139-C960-92C1-32909A2F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8ED54-2440-8538-C510-5AC0B36372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4756F-0BB7-9479-B6BF-48E32B9C7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2F02A-3AB8-4E9F-2F91-496193772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540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0156-7D47-C2C9-7D38-1B0802F71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0C5A8-9584-CE42-2469-1C8D17753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AF40E-C764-301C-5617-681A74BE6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ECB1C-45BF-2B04-22CA-C9DC7C4F8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2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BAE92-EEC0-DC21-F7C0-B819A3A32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26F1D-23DA-0258-625D-E56573DA0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79DB5-A811-EC48-11FA-C7F15EEEE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7E708-415E-418D-FC26-E40D3D154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479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B095-978A-FFC6-0F3B-F1090CF8B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7666B-D949-0A27-B7D0-6290D23BA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FF307E-2408-29AD-95D2-570099EB0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502AE-36BD-C482-39D2-1ED693909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523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344C0-6C4F-BA75-F9C3-C34C4800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3A0D30-939C-B9E8-61FB-8F0742277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01495-5856-CF4E-8169-C548F65ED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209B-97C6-A39B-4979-D967BA70F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035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CC5C7-B3C5-17E7-8AB2-1B06C77B9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94183-EA86-D215-35C3-E96F50358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48C2DC-945B-7BEE-122C-E28ED7CB6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FEE9F-BC1D-9C2F-0FF2-FF178FC7E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470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9191-9ABD-8558-4DC5-6E8ED9B0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9352D-1AE8-BB5C-2906-34ED5D393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8A347-435E-2927-EA3B-554EBA940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38724-A5A7-969B-82F5-588EFF7B2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211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8/4/2026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8/4/2026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sz="6800" dirty="0"/>
              <a:t>ASTRA Zeneca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quals 8">
            <a:extLst>
              <a:ext uri="{FF2B5EF4-FFF2-40B4-BE49-F238E27FC236}">
                <a16:creationId xmlns:a16="http://schemas.microsoft.com/office/drawing/2014/main" id="{D53AB664-5FF2-41FA-AE75-D6DB078C7D17}"/>
              </a:ext>
            </a:extLst>
          </p:cNvPr>
          <p:cNvSpPr/>
          <p:nvPr/>
        </p:nvSpPr>
        <p:spPr>
          <a:xfrm>
            <a:off x="3628103" y="2955822"/>
            <a:ext cx="540774" cy="361335"/>
          </a:xfrm>
          <a:prstGeom prst="mathEqua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02DED5-3965-8A67-4D3E-EF98735D8423}"/>
              </a:ext>
            </a:extLst>
          </p:cNvPr>
          <p:cNvSpPr/>
          <p:nvPr/>
        </p:nvSpPr>
        <p:spPr>
          <a:xfrm>
            <a:off x="1671484" y="2753032"/>
            <a:ext cx="1632156" cy="7669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Score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074E91-B338-BF9C-0C8F-DADEF78EDB30}"/>
              </a:ext>
            </a:extLst>
          </p:cNvPr>
          <p:cNvSpPr/>
          <p:nvPr/>
        </p:nvSpPr>
        <p:spPr>
          <a:xfrm>
            <a:off x="4463844" y="2724764"/>
            <a:ext cx="1632156" cy="7669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Evidence Score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D83A54-F9AC-7EEB-B1AB-3AA766CBFEC7}"/>
              </a:ext>
            </a:extLst>
          </p:cNvPr>
          <p:cNvSpPr/>
          <p:nvPr/>
        </p:nvSpPr>
        <p:spPr>
          <a:xfrm>
            <a:off x="6936658" y="2724764"/>
            <a:ext cx="1632156" cy="7669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Confidence Score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F90D89D-5D37-B0BC-A960-32C1BF021C1F}"/>
              </a:ext>
            </a:extLst>
          </p:cNvPr>
          <p:cNvSpPr/>
          <p:nvPr/>
        </p:nvSpPr>
        <p:spPr>
          <a:xfrm>
            <a:off x="9237406" y="2724764"/>
            <a:ext cx="1632156" cy="76691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Similarity</a:t>
            </a:r>
          </a:p>
          <a:p>
            <a:pPr algn="ctr"/>
            <a:r>
              <a:rPr lang="en-IN" dirty="0"/>
              <a:t>Score</a:t>
            </a:r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2D7D787A-CBBE-BB96-25E4-EDD674DD2AE3}"/>
              </a:ext>
            </a:extLst>
          </p:cNvPr>
          <p:cNvSpPr/>
          <p:nvPr/>
        </p:nvSpPr>
        <p:spPr>
          <a:xfrm>
            <a:off x="6268066" y="2899900"/>
            <a:ext cx="486696" cy="473178"/>
          </a:xfrm>
          <a:prstGeom prst="mathMultipl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6DDC504C-7089-781B-41E8-0219B2E7E24B}"/>
              </a:ext>
            </a:extLst>
          </p:cNvPr>
          <p:cNvSpPr/>
          <p:nvPr/>
        </p:nvSpPr>
        <p:spPr>
          <a:xfrm>
            <a:off x="8659762" y="2899900"/>
            <a:ext cx="486696" cy="473178"/>
          </a:xfrm>
          <a:prstGeom prst="mathMultipl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D0178D-CD3C-378A-3FD6-49F780EACA44}"/>
              </a:ext>
            </a:extLst>
          </p:cNvPr>
          <p:cNvSpPr txBox="1"/>
          <p:nvPr/>
        </p:nvSpPr>
        <p:spPr>
          <a:xfrm>
            <a:off x="717755" y="806245"/>
            <a:ext cx="10697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How Scores for Each Cell Line is calculated</a:t>
            </a:r>
          </a:p>
        </p:txBody>
      </p:sp>
    </p:spTree>
    <p:extLst>
      <p:ext uri="{BB962C8B-B14F-4D97-AF65-F5344CB8AC3E}">
        <p14:creationId xmlns:p14="http://schemas.microsoft.com/office/powerpoint/2010/main" val="31922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D26A-EDDF-9065-9BF8-FB268020B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BCED84-6A16-F0B9-92AF-33572B338341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Evidence Score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FB78D2-85A8-D8C9-E4EE-BBBF4B471901}"/>
              </a:ext>
            </a:extLst>
          </p:cNvPr>
          <p:cNvSpPr/>
          <p:nvPr/>
        </p:nvSpPr>
        <p:spPr>
          <a:xfrm>
            <a:off x="916856" y="4494617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Net Evidence 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2F215-F8BC-4996-9AC6-291CB23035B2}"/>
              </a:ext>
            </a:extLst>
          </p:cNvPr>
          <p:cNvSpPr txBox="1"/>
          <p:nvPr/>
        </p:nvSpPr>
        <p:spPr>
          <a:xfrm>
            <a:off x="3274139" y="1536455"/>
            <a:ext cx="349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RNA (</a:t>
            </a:r>
            <a:r>
              <a:rPr lang="en-IN" dirty="0" err="1"/>
              <a:t>Depmap</a:t>
            </a:r>
            <a:r>
              <a:rPr lang="en-IN" dirty="0"/>
              <a:t>) + Protein + HPA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7D2922-F4EA-1938-FABD-B9E3E20B3F10}"/>
              </a:ext>
            </a:extLst>
          </p:cNvPr>
          <p:cNvSpPr txBox="1"/>
          <p:nvPr/>
        </p:nvSpPr>
        <p:spPr>
          <a:xfrm>
            <a:off x="3274139" y="2065065"/>
            <a:ext cx="336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A12B92-F33E-881C-65DA-A45699CE41AB}"/>
              </a:ext>
            </a:extLst>
          </p:cNvPr>
          <p:cNvSpPr txBox="1"/>
          <p:nvPr/>
        </p:nvSpPr>
        <p:spPr>
          <a:xfrm>
            <a:off x="698090" y="1724822"/>
            <a:ext cx="204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Evidence Score</a:t>
            </a: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4ACF2F43-E4D1-4D35-F4D3-6DE82F877B02}"/>
              </a:ext>
            </a:extLst>
          </p:cNvPr>
          <p:cNvSpPr/>
          <p:nvPr/>
        </p:nvSpPr>
        <p:spPr>
          <a:xfrm>
            <a:off x="2603089" y="1792689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F593D3-FBB3-D81A-6060-8EDE510F1936}"/>
              </a:ext>
            </a:extLst>
          </p:cNvPr>
          <p:cNvCxnSpPr>
            <a:cxnSpLocks/>
          </p:cNvCxnSpPr>
          <p:nvPr/>
        </p:nvCxnSpPr>
        <p:spPr>
          <a:xfrm>
            <a:off x="3370004" y="1936689"/>
            <a:ext cx="326431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C9CEDF9-67E4-F106-B8CE-7F1A3A4A083C}"/>
              </a:ext>
            </a:extLst>
          </p:cNvPr>
          <p:cNvSpPr txBox="1"/>
          <p:nvPr/>
        </p:nvSpPr>
        <p:spPr>
          <a:xfrm>
            <a:off x="737419" y="3925749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Case 1: No Exclusion Gene</a:t>
            </a:r>
          </a:p>
        </p:txBody>
      </p:sp>
      <p:sp>
        <p:nvSpPr>
          <p:cNvPr id="29" name="Equals 28">
            <a:extLst>
              <a:ext uri="{FF2B5EF4-FFF2-40B4-BE49-F238E27FC236}">
                <a16:creationId xmlns:a16="http://schemas.microsoft.com/office/drawing/2014/main" id="{1B9312BF-E38B-B78C-7DCA-5430E73EB109}"/>
              </a:ext>
            </a:extLst>
          </p:cNvPr>
          <p:cNvSpPr/>
          <p:nvPr/>
        </p:nvSpPr>
        <p:spPr>
          <a:xfrm>
            <a:off x="4248762" y="4596594"/>
            <a:ext cx="403122" cy="288000"/>
          </a:xfrm>
          <a:prstGeom prst="mathEqua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4D9FDF4-CECB-1113-F256-175F56649929}"/>
              </a:ext>
            </a:extLst>
          </p:cNvPr>
          <p:cNvSpPr/>
          <p:nvPr/>
        </p:nvSpPr>
        <p:spPr>
          <a:xfrm>
            <a:off x="5353662" y="4494617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Target Evidence Score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AD6376-111A-A9E7-9E10-2DA653885677}"/>
              </a:ext>
            </a:extLst>
          </p:cNvPr>
          <p:cNvSpPr txBox="1"/>
          <p:nvPr/>
        </p:nvSpPr>
        <p:spPr>
          <a:xfrm>
            <a:off x="737419" y="5186108"/>
            <a:ext cx="298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Case 2: Exclusion Exists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220272E-6D38-18FC-52F7-47CC35E7FDB2}"/>
              </a:ext>
            </a:extLst>
          </p:cNvPr>
          <p:cNvSpPr/>
          <p:nvPr/>
        </p:nvSpPr>
        <p:spPr>
          <a:xfrm>
            <a:off x="916856" y="5776280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Net Evidence Score</a:t>
            </a:r>
          </a:p>
        </p:txBody>
      </p:sp>
      <p:sp>
        <p:nvSpPr>
          <p:cNvPr id="37" name="Equals 36">
            <a:extLst>
              <a:ext uri="{FF2B5EF4-FFF2-40B4-BE49-F238E27FC236}">
                <a16:creationId xmlns:a16="http://schemas.microsoft.com/office/drawing/2014/main" id="{468B4DAA-3CDA-4DD3-C253-2B5DB1A3F175}"/>
              </a:ext>
            </a:extLst>
          </p:cNvPr>
          <p:cNvSpPr/>
          <p:nvPr/>
        </p:nvSpPr>
        <p:spPr>
          <a:xfrm>
            <a:off x="4237704" y="5865391"/>
            <a:ext cx="403122" cy="288000"/>
          </a:xfrm>
          <a:prstGeom prst="mathEqua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CDE61DB-5259-18DB-7430-EA7C1841A4EC}"/>
              </a:ext>
            </a:extLst>
          </p:cNvPr>
          <p:cNvSpPr/>
          <p:nvPr/>
        </p:nvSpPr>
        <p:spPr>
          <a:xfrm>
            <a:off x="5112775" y="5709783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Target Evidence Score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6C1FC75-039A-7A27-ED8A-F4097319E46A}"/>
              </a:ext>
            </a:extLst>
          </p:cNvPr>
          <p:cNvSpPr/>
          <p:nvPr/>
        </p:nvSpPr>
        <p:spPr>
          <a:xfrm>
            <a:off x="8554065" y="5700817"/>
            <a:ext cx="3156155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Exclusion Evidence Penalty</a:t>
            </a:r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BC58DDAC-2C73-D8C6-F34A-0189A0BEE7C5}"/>
              </a:ext>
            </a:extLst>
          </p:cNvPr>
          <p:cNvSpPr/>
          <p:nvPr/>
        </p:nvSpPr>
        <p:spPr>
          <a:xfrm>
            <a:off x="8008373" y="5802794"/>
            <a:ext cx="412959" cy="389978"/>
          </a:xfrm>
          <a:prstGeom prst="mathMultipl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455A2D-9483-B0DF-F0D9-E9C128E5BB9A}"/>
              </a:ext>
            </a:extLst>
          </p:cNvPr>
          <p:cNvSpPr txBox="1"/>
          <p:nvPr/>
        </p:nvSpPr>
        <p:spPr>
          <a:xfrm>
            <a:off x="629261" y="2926238"/>
            <a:ext cx="3205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Exclusion Evidence Penalty</a:t>
            </a:r>
          </a:p>
        </p:txBody>
      </p:sp>
      <p:sp>
        <p:nvSpPr>
          <p:cNvPr id="49" name="Equals 48">
            <a:extLst>
              <a:ext uri="{FF2B5EF4-FFF2-40B4-BE49-F238E27FC236}">
                <a16:creationId xmlns:a16="http://schemas.microsoft.com/office/drawing/2014/main" id="{78136274-53D8-374B-E309-9216544120C2}"/>
              </a:ext>
            </a:extLst>
          </p:cNvPr>
          <p:cNvSpPr/>
          <p:nvPr/>
        </p:nvSpPr>
        <p:spPr>
          <a:xfrm>
            <a:off x="3875135" y="2973513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4ADB58-1E72-BDB0-B32E-B6C2311D4F75}"/>
              </a:ext>
            </a:extLst>
          </p:cNvPr>
          <p:cNvSpPr txBox="1"/>
          <p:nvPr/>
        </p:nvSpPr>
        <p:spPr>
          <a:xfrm>
            <a:off x="4553562" y="2815951"/>
            <a:ext cx="5912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e </a:t>
            </a:r>
            <a:r>
              <a:rPr lang="en-IN" sz="2800" baseline="30000" dirty="0"/>
              <a:t>– (ʎ X (Percentile of Exclusion Evidence Score))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6876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BF6C-0290-D6D8-8DF2-858284EF7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C48232-12A9-F3E2-C6C0-EBAC78ACDE13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Similarity Score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0BF7A0-6A4A-DA9A-5DD3-A1772EB3176E}"/>
              </a:ext>
            </a:extLst>
          </p:cNvPr>
          <p:cNvSpPr/>
          <p:nvPr/>
        </p:nvSpPr>
        <p:spPr>
          <a:xfrm>
            <a:off x="916856" y="4494617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Net Similarity Score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127552-E2D9-D97F-3D49-DCFBA2088404}"/>
              </a:ext>
            </a:extLst>
          </p:cNvPr>
          <p:cNvSpPr txBox="1"/>
          <p:nvPr/>
        </p:nvSpPr>
        <p:spPr>
          <a:xfrm>
            <a:off x="698090" y="1724822"/>
            <a:ext cx="204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Similarity Score</a:t>
            </a: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9C9B0589-2123-CB44-9A70-299F82A8C3B9}"/>
              </a:ext>
            </a:extLst>
          </p:cNvPr>
          <p:cNvSpPr/>
          <p:nvPr/>
        </p:nvSpPr>
        <p:spPr>
          <a:xfrm>
            <a:off x="2603089" y="1792689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85D85-8DF4-4749-CF67-D02228675FB6}"/>
              </a:ext>
            </a:extLst>
          </p:cNvPr>
          <p:cNvSpPr txBox="1"/>
          <p:nvPr/>
        </p:nvSpPr>
        <p:spPr>
          <a:xfrm>
            <a:off x="737419" y="3925749"/>
            <a:ext cx="329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Case 1: No Exclusion Gene</a:t>
            </a:r>
          </a:p>
        </p:txBody>
      </p:sp>
      <p:sp>
        <p:nvSpPr>
          <p:cNvPr id="29" name="Equals 28">
            <a:extLst>
              <a:ext uri="{FF2B5EF4-FFF2-40B4-BE49-F238E27FC236}">
                <a16:creationId xmlns:a16="http://schemas.microsoft.com/office/drawing/2014/main" id="{A9DFB737-E409-DF01-BE99-1821F684FD13}"/>
              </a:ext>
            </a:extLst>
          </p:cNvPr>
          <p:cNvSpPr/>
          <p:nvPr/>
        </p:nvSpPr>
        <p:spPr>
          <a:xfrm>
            <a:off x="4248762" y="4596594"/>
            <a:ext cx="403122" cy="288000"/>
          </a:xfrm>
          <a:prstGeom prst="mathEqua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9B267F-72C8-AC20-53F9-6BC08309E336}"/>
              </a:ext>
            </a:extLst>
          </p:cNvPr>
          <p:cNvSpPr/>
          <p:nvPr/>
        </p:nvSpPr>
        <p:spPr>
          <a:xfrm>
            <a:off x="5353662" y="4494617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Target Similarity Score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FD5B8D-6BB2-B73C-9FB0-184F8A6B0660}"/>
              </a:ext>
            </a:extLst>
          </p:cNvPr>
          <p:cNvSpPr txBox="1"/>
          <p:nvPr/>
        </p:nvSpPr>
        <p:spPr>
          <a:xfrm>
            <a:off x="737419" y="5186108"/>
            <a:ext cx="298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Case 2: Exclusion Exists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FB8B91D-2BB2-AD01-5A7F-1E788A9EC715}"/>
              </a:ext>
            </a:extLst>
          </p:cNvPr>
          <p:cNvSpPr/>
          <p:nvPr/>
        </p:nvSpPr>
        <p:spPr>
          <a:xfrm>
            <a:off x="916856" y="5776280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Net Similarity Score</a:t>
            </a:r>
          </a:p>
        </p:txBody>
      </p:sp>
      <p:sp>
        <p:nvSpPr>
          <p:cNvPr id="37" name="Equals 36">
            <a:extLst>
              <a:ext uri="{FF2B5EF4-FFF2-40B4-BE49-F238E27FC236}">
                <a16:creationId xmlns:a16="http://schemas.microsoft.com/office/drawing/2014/main" id="{323BA632-3916-9183-DF84-61AED0BC8CFF}"/>
              </a:ext>
            </a:extLst>
          </p:cNvPr>
          <p:cNvSpPr/>
          <p:nvPr/>
        </p:nvSpPr>
        <p:spPr>
          <a:xfrm>
            <a:off x="4237704" y="5865391"/>
            <a:ext cx="403122" cy="288000"/>
          </a:xfrm>
          <a:prstGeom prst="mathEqual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CEE3A9-93A8-DBFE-5B95-1F0681505633}"/>
              </a:ext>
            </a:extLst>
          </p:cNvPr>
          <p:cNvSpPr/>
          <p:nvPr/>
        </p:nvSpPr>
        <p:spPr>
          <a:xfrm>
            <a:off x="5112775" y="5709783"/>
            <a:ext cx="263012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Target Similarity Score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2B07013-BE0F-0764-7B5F-8AD2158DF7C9}"/>
              </a:ext>
            </a:extLst>
          </p:cNvPr>
          <p:cNvSpPr/>
          <p:nvPr/>
        </p:nvSpPr>
        <p:spPr>
          <a:xfrm>
            <a:off x="8686801" y="5700817"/>
            <a:ext cx="3023419" cy="49195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Similarity Exclusion Penalty</a:t>
            </a:r>
          </a:p>
        </p:txBody>
      </p:sp>
      <p:sp>
        <p:nvSpPr>
          <p:cNvPr id="42" name="Multiplication Sign 41">
            <a:extLst>
              <a:ext uri="{FF2B5EF4-FFF2-40B4-BE49-F238E27FC236}">
                <a16:creationId xmlns:a16="http://schemas.microsoft.com/office/drawing/2014/main" id="{A2653B67-31D9-838B-123E-E02789D6AF90}"/>
              </a:ext>
            </a:extLst>
          </p:cNvPr>
          <p:cNvSpPr/>
          <p:nvPr/>
        </p:nvSpPr>
        <p:spPr>
          <a:xfrm>
            <a:off x="8008373" y="5802794"/>
            <a:ext cx="412959" cy="389978"/>
          </a:xfrm>
          <a:prstGeom prst="mathMultiply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45F712C-2894-29DC-1C37-CDD1C93F669F}"/>
              </a:ext>
            </a:extLst>
          </p:cNvPr>
          <p:cNvSpPr txBox="1"/>
          <p:nvPr/>
        </p:nvSpPr>
        <p:spPr>
          <a:xfrm>
            <a:off x="698090" y="2902131"/>
            <a:ext cx="204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Similarity Penalty</a:t>
            </a:r>
          </a:p>
        </p:txBody>
      </p:sp>
      <p:sp>
        <p:nvSpPr>
          <p:cNvPr id="49" name="Equals 48">
            <a:extLst>
              <a:ext uri="{FF2B5EF4-FFF2-40B4-BE49-F238E27FC236}">
                <a16:creationId xmlns:a16="http://schemas.microsoft.com/office/drawing/2014/main" id="{994C82C2-F525-E859-D42E-26F707248DC6}"/>
              </a:ext>
            </a:extLst>
          </p:cNvPr>
          <p:cNvSpPr/>
          <p:nvPr/>
        </p:nvSpPr>
        <p:spPr>
          <a:xfrm>
            <a:off x="2804650" y="2971716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D9EBA5-7F7C-D33F-D64D-E5E34B05EDA7}"/>
              </a:ext>
            </a:extLst>
          </p:cNvPr>
          <p:cNvSpPr txBox="1"/>
          <p:nvPr/>
        </p:nvSpPr>
        <p:spPr>
          <a:xfrm>
            <a:off x="3474472" y="2802204"/>
            <a:ext cx="59128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e </a:t>
            </a:r>
            <a:r>
              <a:rPr lang="en-IN" sz="2800" baseline="30000" dirty="0"/>
              <a:t>– (ʎ X (Percentile of Exclusion Similarity Score))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7F646-6501-1D07-EF91-4ECB5FEF862C}"/>
              </a:ext>
            </a:extLst>
          </p:cNvPr>
          <p:cNvSpPr txBox="1"/>
          <p:nvPr/>
        </p:nvSpPr>
        <p:spPr>
          <a:xfrm>
            <a:off x="3244644" y="1751704"/>
            <a:ext cx="5702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Score obtained per gene from the similarity matrix</a:t>
            </a:r>
          </a:p>
        </p:txBody>
      </p:sp>
    </p:spTree>
    <p:extLst>
      <p:ext uri="{BB962C8B-B14F-4D97-AF65-F5344CB8AC3E}">
        <p14:creationId xmlns:p14="http://schemas.microsoft.com/office/powerpoint/2010/main" val="310356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4E841-F3CF-D520-9860-82F42230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17CD9D-28FF-0BE9-6494-90BF1B38A475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Confidence Score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73475-4AEA-B8D2-2E28-93A153979D4E}"/>
              </a:ext>
            </a:extLst>
          </p:cNvPr>
          <p:cNvSpPr txBox="1"/>
          <p:nvPr/>
        </p:nvSpPr>
        <p:spPr>
          <a:xfrm>
            <a:off x="3274139" y="1536455"/>
            <a:ext cx="3490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RNA (</a:t>
            </a:r>
            <a:r>
              <a:rPr lang="en-IN" dirty="0" err="1"/>
              <a:t>Depmap</a:t>
            </a:r>
            <a:r>
              <a:rPr lang="en-IN" dirty="0"/>
              <a:t>) + Protein + HPA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DF754B-B55B-FD2B-AAAC-86E16B753DDB}"/>
              </a:ext>
            </a:extLst>
          </p:cNvPr>
          <p:cNvSpPr txBox="1"/>
          <p:nvPr/>
        </p:nvSpPr>
        <p:spPr>
          <a:xfrm>
            <a:off x="3274139" y="2065065"/>
            <a:ext cx="336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A94BFC-1021-8D14-464C-5529547DE441}"/>
              </a:ext>
            </a:extLst>
          </p:cNvPr>
          <p:cNvSpPr txBox="1"/>
          <p:nvPr/>
        </p:nvSpPr>
        <p:spPr>
          <a:xfrm>
            <a:off x="698090" y="1724822"/>
            <a:ext cx="204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Modality Score</a:t>
            </a:r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94F94782-6FAB-6F96-CD9B-6206E08037CB}"/>
              </a:ext>
            </a:extLst>
          </p:cNvPr>
          <p:cNvSpPr/>
          <p:nvPr/>
        </p:nvSpPr>
        <p:spPr>
          <a:xfrm>
            <a:off x="2603089" y="1792689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B428F73-20C1-2893-8F8A-164DF667B277}"/>
              </a:ext>
            </a:extLst>
          </p:cNvPr>
          <p:cNvCxnSpPr>
            <a:cxnSpLocks/>
          </p:cNvCxnSpPr>
          <p:nvPr/>
        </p:nvCxnSpPr>
        <p:spPr>
          <a:xfrm>
            <a:off x="3370004" y="1936689"/>
            <a:ext cx="326431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E6DCB9-F04E-8C89-3105-20BCEEA195C9}"/>
              </a:ext>
            </a:extLst>
          </p:cNvPr>
          <p:cNvSpPr txBox="1"/>
          <p:nvPr/>
        </p:nvSpPr>
        <p:spPr>
          <a:xfrm>
            <a:off x="698090" y="4441507"/>
            <a:ext cx="298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Confidence score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C00E2C-C9DE-2C1C-DB52-CF2474890905}"/>
              </a:ext>
            </a:extLst>
          </p:cNvPr>
          <p:cNvSpPr txBox="1"/>
          <p:nvPr/>
        </p:nvSpPr>
        <p:spPr>
          <a:xfrm>
            <a:off x="698090" y="2902131"/>
            <a:ext cx="204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Agreement Score</a:t>
            </a:r>
          </a:p>
        </p:txBody>
      </p:sp>
      <p:sp>
        <p:nvSpPr>
          <p:cNvPr id="49" name="Equals 48">
            <a:extLst>
              <a:ext uri="{FF2B5EF4-FFF2-40B4-BE49-F238E27FC236}">
                <a16:creationId xmlns:a16="http://schemas.microsoft.com/office/drawing/2014/main" id="{58E6B0FA-0DBC-2159-4B5B-25AFEFC28A24}"/>
              </a:ext>
            </a:extLst>
          </p:cNvPr>
          <p:cNvSpPr/>
          <p:nvPr/>
        </p:nvSpPr>
        <p:spPr>
          <a:xfrm>
            <a:off x="2804650" y="2971716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93F15-DB72-2B9D-23EC-1AA018BAECD6}"/>
              </a:ext>
            </a:extLst>
          </p:cNvPr>
          <p:cNvSpPr txBox="1"/>
          <p:nvPr/>
        </p:nvSpPr>
        <p:spPr>
          <a:xfrm>
            <a:off x="7578206" y="1741642"/>
            <a:ext cx="3264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the value is present it denotes to 1 or else 0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F072057-647C-6AD2-6329-59B57204F334}"/>
              </a:ext>
            </a:extLst>
          </p:cNvPr>
          <p:cNvSpPr/>
          <p:nvPr/>
        </p:nvSpPr>
        <p:spPr>
          <a:xfrm>
            <a:off x="6934199" y="1904325"/>
            <a:ext cx="388369" cy="25729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F3542-4D47-BFF3-1151-B4FB5A7284DE}"/>
              </a:ext>
            </a:extLst>
          </p:cNvPr>
          <p:cNvSpPr txBox="1"/>
          <p:nvPr/>
        </p:nvSpPr>
        <p:spPr>
          <a:xfrm>
            <a:off x="3463414" y="3127043"/>
            <a:ext cx="441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+ Var(RNA (</a:t>
            </a:r>
            <a:r>
              <a:rPr lang="en-IN" dirty="0" err="1"/>
              <a:t>Depmap</a:t>
            </a:r>
            <a:r>
              <a:rPr lang="en-IN" dirty="0"/>
              <a:t>) + Protein + HPA)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D5550-09BE-1FAF-CB5F-1D8D40480BC7}"/>
              </a:ext>
            </a:extLst>
          </p:cNvPr>
          <p:cNvSpPr txBox="1"/>
          <p:nvPr/>
        </p:nvSpPr>
        <p:spPr>
          <a:xfrm>
            <a:off x="3840721" y="2626075"/>
            <a:ext cx="336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0753A4-5B34-F639-FC5C-4BEC40E76618}"/>
              </a:ext>
            </a:extLst>
          </p:cNvPr>
          <p:cNvCxnSpPr>
            <a:cxnSpLocks/>
          </p:cNvCxnSpPr>
          <p:nvPr/>
        </p:nvCxnSpPr>
        <p:spPr>
          <a:xfrm flipV="1">
            <a:off x="3463414" y="3014189"/>
            <a:ext cx="4114792" cy="1463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Equals 11">
            <a:extLst>
              <a:ext uri="{FF2B5EF4-FFF2-40B4-BE49-F238E27FC236}">
                <a16:creationId xmlns:a16="http://schemas.microsoft.com/office/drawing/2014/main" id="{8D606517-0EA7-8D6F-4806-0E3699CC16CE}"/>
              </a:ext>
            </a:extLst>
          </p:cNvPr>
          <p:cNvSpPr/>
          <p:nvPr/>
        </p:nvSpPr>
        <p:spPr>
          <a:xfrm>
            <a:off x="3008667" y="4472324"/>
            <a:ext cx="403122" cy="288000"/>
          </a:xfrm>
          <a:prstGeom prst="mathEqual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E549FA-BFB8-C1BF-EA7D-ECC623B33017}"/>
              </a:ext>
            </a:extLst>
          </p:cNvPr>
          <p:cNvSpPr txBox="1"/>
          <p:nvPr/>
        </p:nvSpPr>
        <p:spPr>
          <a:xfrm>
            <a:off x="3840721" y="4102992"/>
            <a:ext cx="41676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Modality Score  + Agreement Score</a:t>
            </a:r>
          </a:p>
          <a:p>
            <a:r>
              <a:rPr lang="en-IN" dirty="0"/>
              <a:t> 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E141C2-DBC0-9691-7EE1-CDF2EF3D109F}"/>
              </a:ext>
            </a:extLst>
          </p:cNvPr>
          <p:cNvCxnSpPr>
            <a:cxnSpLocks/>
          </p:cNvCxnSpPr>
          <p:nvPr/>
        </p:nvCxnSpPr>
        <p:spPr>
          <a:xfrm flipV="1">
            <a:off x="3687095" y="4569728"/>
            <a:ext cx="4114792" cy="1463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4F99FEC-026B-A923-6C60-4428B53127FF}"/>
              </a:ext>
            </a:extLst>
          </p:cNvPr>
          <p:cNvSpPr txBox="1"/>
          <p:nvPr/>
        </p:nvSpPr>
        <p:spPr>
          <a:xfrm>
            <a:off x="3940268" y="4710426"/>
            <a:ext cx="336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A0B05D8-C0AE-1587-702E-4840162BE018}"/>
              </a:ext>
            </a:extLst>
          </p:cNvPr>
          <p:cNvSpPr/>
          <p:nvPr/>
        </p:nvSpPr>
        <p:spPr>
          <a:xfrm>
            <a:off x="7938318" y="2902131"/>
            <a:ext cx="388369" cy="25729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6937BF-F554-ABF8-6C4D-8D44B6D432B2}"/>
              </a:ext>
            </a:extLst>
          </p:cNvPr>
          <p:cNvSpPr txBox="1"/>
          <p:nvPr/>
        </p:nvSpPr>
        <p:spPr>
          <a:xfrm>
            <a:off x="8508588" y="2810741"/>
            <a:ext cx="3264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the value is not present it is excluded from the variance count</a:t>
            </a:r>
          </a:p>
        </p:txBody>
      </p:sp>
    </p:spTree>
    <p:extLst>
      <p:ext uri="{BB962C8B-B14F-4D97-AF65-F5344CB8AC3E}">
        <p14:creationId xmlns:p14="http://schemas.microsoft.com/office/powerpoint/2010/main" val="3003421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FB76-5084-3706-AA9A-35DDEA5FB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0679D9-6B9D-53C5-40AF-D66208F99EA6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Arrival of the Formula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083988-4D3C-E690-B7BA-6CB72E4DC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14" y="2042512"/>
            <a:ext cx="5328469" cy="32311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3253438-0647-831A-A3B9-4C17EA484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980" y="2042512"/>
            <a:ext cx="5328469" cy="32311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A9CF70A-7038-2728-B07C-3E59A8B45740}"/>
              </a:ext>
            </a:extLst>
          </p:cNvPr>
          <p:cNvSpPr txBox="1"/>
          <p:nvPr/>
        </p:nvSpPr>
        <p:spPr>
          <a:xfrm>
            <a:off x="934063" y="5417574"/>
            <a:ext cx="516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Gene Expression Curve across all the cell lines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CB7CD3-8759-08B2-AA66-EAF96E3A98EF}"/>
              </a:ext>
            </a:extLst>
          </p:cNvPr>
          <p:cNvSpPr txBox="1"/>
          <p:nvPr/>
        </p:nvSpPr>
        <p:spPr>
          <a:xfrm>
            <a:off x="7772399" y="5417574"/>
            <a:ext cx="2620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Penalty Equation Curve</a:t>
            </a:r>
          </a:p>
        </p:txBody>
      </p:sp>
    </p:spTree>
    <p:extLst>
      <p:ext uri="{BB962C8B-B14F-4D97-AF65-F5344CB8AC3E}">
        <p14:creationId xmlns:p14="http://schemas.microsoft.com/office/powerpoint/2010/main" val="271909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3571-7180-1BC0-A8BA-3FAE27F32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24AF0A-12ED-7336-82D9-C31D7952C55A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TEST RUN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ADA73-A91F-2FF3-F89D-87F837E18550}"/>
              </a:ext>
            </a:extLst>
          </p:cNvPr>
          <p:cNvSpPr txBox="1"/>
          <p:nvPr/>
        </p:nvSpPr>
        <p:spPr>
          <a:xfrm>
            <a:off x="417870" y="1439868"/>
            <a:ext cx="113562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The Input parameters from the user end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Target Genes  </a:t>
            </a:r>
            <a:r>
              <a:rPr lang="en-IN" dirty="0"/>
              <a:t>=&gt; The genes which we are targeting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Exclusion Genes </a:t>
            </a:r>
            <a:r>
              <a:rPr lang="en-IN" dirty="0"/>
              <a:t>=&gt; The genes which needs to be excluded (lower expressions on the cell lines)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Disease (Optional) </a:t>
            </a:r>
            <a:r>
              <a:rPr lang="en-IN" dirty="0"/>
              <a:t>=&gt; Type of disease we are targeting for the cell line. Default is to consider all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Fusion Filter (Optional) </a:t>
            </a:r>
            <a:r>
              <a:rPr lang="en-IN" dirty="0"/>
              <a:t>=&gt; Indicator says if the fusion is required or not. Default is ignore and consider all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Mutation Filter (Optional) </a:t>
            </a:r>
            <a:r>
              <a:rPr lang="en-IN" dirty="0"/>
              <a:t>=&gt; Indicator says if the mutation is required or not. Default is ignore and consider all</a:t>
            </a:r>
          </a:p>
          <a:p>
            <a:endParaRPr lang="en-IN" dirty="0"/>
          </a:p>
          <a:p>
            <a:r>
              <a:rPr lang="en-IN" b="1" dirty="0"/>
              <a:t>For the test run below genes were selected for target and exclusion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Target genes =&gt; 'MTMR7', 'FKBP4', 'GGCT’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Exclusion genes =&gt; 'UPP2’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Disease =&gt; None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Fusion Filter =&gt; Ignore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Mutation Filter =&gt; Ignore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52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DC473-F2CB-96C9-D55A-39A2940C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1DD974-FAFA-86ED-B4EC-D19F2F3028A1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TEST RUN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77147-D383-B402-2265-7048D4AA955D}"/>
              </a:ext>
            </a:extLst>
          </p:cNvPr>
          <p:cNvSpPr txBox="1"/>
          <p:nvPr/>
        </p:nvSpPr>
        <p:spPr>
          <a:xfrm>
            <a:off x="5152103" y="4563448"/>
            <a:ext cx="25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 10 Cell Lines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77D356B-DA76-AF11-80E4-32A8C8D50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66" y="2158902"/>
            <a:ext cx="11449665" cy="204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94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9EEC8-DC19-44D7-3631-6C648A38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E3AF60-A3C0-A547-8840-D472F029C958}"/>
              </a:ext>
            </a:extLst>
          </p:cNvPr>
          <p:cNvSpPr txBox="1"/>
          <p:nvPr/>
        </p:nvSpPr>
        <p:spPr>
          <a:xfrm>
            <a:off x="742335" y="608871"/>
            <a:ext cx="10707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TEST RUN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FFFDE-D0A4-98AB-AE1B-E3110E3DE5D0}"/>
              </a:ext>
            </a:extLst>
          </p:cNvPr>
          <p:cNvSpPr txBox="1"/>
          <p:nvPr/>
        </p:nvSpPr>
        <p:spPr>
          <a:xfrm>
            <a:off x="4218038" y="5879797"/>
            <a:ext cx="4483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Top 10 Cell lines in the biological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A51919-84B7-DC8B-7C27-A61F24A31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08" y="1439868"/>
            <a:ext cx="5404317" cy="434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773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ppt/theme/themeOverride2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{EFA6823A-2BFD-4287-A1A0-8114548C84BA}TF522ea272-7fed-4917-a421-5e6ae99a6bbed5eddc9a_win32-854160eadf3d</Template>
  <TotalTime>66</TotalTime>
  <Words>366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Avenir Next LT Pro Light</vt:lpstr>
      <vt:lpstr>Calibri</vt:lpstr>
      <vt:lpstr>Garamond</vt:lpstr>
      <vt:lpstr>SavonVTI</vt:lpstr>
      <vt:lpstr>ASTRA Zeneca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Shankara Narayana N G</dc:creator>
  <cp:lastModifiedBy>Shankara Narayana N G</cp:lastModifiedBy>
  <cp:revision>7</cp:revision>
  <dcterms:created xsi:type="dcterms:W3CDTF">2026-07-28T14:25:51Z</dcterms:created>
  <dcterms:modified xsi:type="dcterms:W3CDTF">2026-08-04T02:27:36Z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