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0"/>
  </p:notesMasterIdLst>
  <p:sldIdLst>
    <p:sldId id="264" r:id="rId5"/>
    <p:sldId id="312" r:id="rId6"/>
    <p:sldId id="313" r:id="rId7"/>
    <p:sldId id="314" r:id="rId8"/>
    <p:sldId id="31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904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DFB66-D02E-A7EE-5E6C-E190AAFED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2884C-D243-A396-51F3-56831544A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C6354-E4BF-F76B-62A3-420B60B18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2C887-4C61-3F6F-230E-551A6D0C3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320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4505F-D9F4-5656-F848-A13D3F1D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9B91A-80F3-C780-0D7D-6BEFD1127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4A87B-A978-21FF-A432-C732E53F5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F2839-A63C-8C8F-192C-1D5721C89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935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79527-AB9B-4264-DEF9-4F17B62C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85702-DAD3-1E67-7AA1-8907CDF4F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4CC99-3DE5-2DE7-C108-8DD33AEBB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FA3A9-6C27-2E07-C0D1-8E4ABD659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887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/>
          </a:bodyPr>
          <a:lstStyle/>
          <a:p>
            <a:r>
              <a:rPr lang="en-US" sz="6800" dirty="0"/>
              <a:t>Cell Line selector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137A9B-DF0D-4777-9417-3DFEA644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55" y="534439"/>
            <a:ext cx="11061290" cy="606103"/>
          </a:xfrm>
        </p:spPr>
        <p:txBody>
          <a:bodyPr>
            <a:normAutofit/>
          </a:bodyPr>
          <a:lstStyle/>
          <a:p>
            <a:r>
              <a:rPr lang="en-IN" sz="3200" dirty="0"/>
              <a:t>Analysis regarding the HPA RNA and </a:t>
            </a:r>
            <a:r>
              <a:rPr lang="en-IN" sz="3200" dirty="0" err="1"/>
              <a:t>DepMap</a:t>
            </a:r>
            <a:r>
              <a:rPr lang="en-IN" sz="3200" dirty="0"/>
              <a:t> cell lines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C470BF-FAD6-5DC9-0F2C-30AF67B006E1}"/>
              </a:ext>
            </a:extLst>
          </p:cNvPr>
          <p:cNvSpPr txBox="1"/>
          <p:nvPr/>
        </p:nvSpPr>
        <p:spPr>
          <a:xfrm>
            <a:off x="693175" y="1297858"/>
            <a:ext cx="1023046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Dataset coverage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DepMap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RNA: 1479 unique cell lines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HPA RNA: 1206 unique cell lines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Initial direct mapping using cell-line names showed unexpectedly high missingness.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Initial observation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HPA RNA cell line names were initially matched directly against stripped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DepMap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cell-line names.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This produced an apparent missingness of approximately 40 to 43%.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We then explored whether using CVCL ID instead of Model ID (ACH ID) would improve the mapping.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initial analysis appeared to show different missingness depending on the identifier used.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F57CC6-186C-B4E0-494D-D88AE25FC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851" y="3805660"/>
            <a:ext cx="6430298" cy="19048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05256F-7538-AD67-BF5D-3FA24C9C9D50}"/>
              </a:ext>
            </a:extLst>
          </p:cNvPr>
          <p:cNvSpPr txBox="1"/>
          <p:nvPr/>
        </p:nvSpPr>
        <p:spPr>
          <a:xfrm>
            <a:off x="2369575" y="5710506"/>
            <a:ext cx="7870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combined directly using the </a:t>
            </a:r>
            <a:r>
              <a:rPr lang="en-US" dirty="0" err="1"/>
              <a:t>depmapsample</a:t>
            </a:r>
            <a:r>
              <a:rPr lang="en-US" dirty="0"/>
              <a:t> info on the stripped cell 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257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96C3D4-EEB4-CF41-047F-C4760E4A7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ED4593-9A73-368D-2F85-86A15E6A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55" y="534439"/>
            <a:ext cx="11061290" cy="606103"/>
          </a:xfrm>
        </p:spPr>
        <p:txBody>
          <a:bodyPr>
            <a:normAutofit/>
          </a:bodyPr>
          <a:lstStyle/>
          <a:p>
            <a:r>
              <a:rPr lang="en-IN" sz="3200" dirty="0"/>
              <a:t>Analysis regarding the HPA RNA and </a:t>
            </a:r>
            <a:r>
              <a:rPr lang="en-IN" sz="3200" dirty="0" err="1"/>
              <a:t>DepMap</a:t>
            </a:r>
            <a:r>
              <a:rPr lang="en-IN" sz="3200" dirty="0"/>
              <a:t> cell lines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BDAB77-EDDB-3C55-59B3-94209CFC11A3}"/>
              </a:ext>
            </a:extLst>
          </p:cNvPr>
          <p:cNvSpPr txBox="1"/>
          <p:nvPr/>
        </p:nvSpPr>
        <p:spPr>
          <a:xfrm>
            <a:off x="703007" y="1140542"/>
            <a:ext cx="102304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original discrepancy was caused by the mapping order, not by a fundamental difference between Model ID and CVCL 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After correcting the mapping pipeline, the missing count was 359 out of 1479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DepMap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cell lines (24–25%).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This primarily reflects the different baseline coverage of the datasets: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DepMap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: 1479 cell lines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HPA RNA: 1206 cell lines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Therefore, the unmatched cell lines represent differences in dataset coverage, rather than data being lost because of the merge.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Once the mapping is performed correctly, using Model ID or CVCL ID as the link ultimately leads to the same mapped HPA RNA relationships.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Some valid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DepMap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models do not have a CVCL ID. Using CVCL ID as the primary base would unnecessarily exclude 80 valid cell lines.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450B6B-A65F-25C1-F83D-0F674D2FF4CB}"/>
              </a:ext>
            </a:extLst>
          </p:cNvPr>
          <p:cNvSpPr txBox="1"/>
          <p:nvPr/>
        </p:nvSpPr>
        <p:spPr>
          <a:xfrm>
            <a:off x="2320414" y="5798996"/>
            <a:ext cx="7870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combined using </a:t>
            </a:r>
            <a:r>
              <a:rPr lang="en-US" dirty="0" err="1"/>
              <a:t>hpa</a:t>
            </a:r>
            <a:r>
              <a:rPr lang="en-US" dirty="0"/>
              <a:t> </a:t>
            </a:r>
            <a:r>
              <a:rPr lang="en-US" dirty="0" err="1"/>
              <a:t>rna</a:t>
            </a:r>
            <a:r>
              <a:rPr lang="en-US" dirty="0"/>
              <a:t> cell line description and then on the </a:t>
            </a:r>
            <a:r>
              <a:rPr lang="en-US" dirty="0" err="1"/>
              <a:t>depmap</a:t>
            </a:r>
            <a:r>
              <a:rPr lang="en-US" dirty="0"/>
              <a:t> sample info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D37DB1-1B41-B871-BF49-014D950CB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658" y="3940797"/>
            <a:ext cx="6634555" cy="185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454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55AED-28C1-2594-85DF-7939273B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688F490-64A9-729E-699D-76349C1D0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55" y="534439"/>
            <a:ext cx="11061290" cy="606103"/>
          </a:xfrm>
        </p:spPr>
        <p:txBody>
          <a:bodyPr>
            <a:normAutofit/>
          </a:bodyPr>
          <a:lstStyle/>
          <a:p>
            <a:r>
              <a:rPr lang="en-IN" sz="3200" dirty="0"/>
              <a:t>Analysis regarding the HPA RNA and </a:t>
            </a:r>
            <a:r>
              <a:rPr lang="en-IN" sz="3200" dirty="0" err="1"/>
              <a:t>DepMap</a:t>
            </a:r>
            <a:r>
              <a:rPr lang="en-IN" sz="3200" dirty="0"/>
              <a:t> cell lines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AD8DB9-7E76-2EC6-A65E-375EFBBB4FD1}"/>
              </a:ext>
            </a:extLst>
          </p:cNvPr>
          <p:cNvSpPr txBox="1"/>
          <p:nvPr/>
        </p:nvSpPr>
        <p:spPr>
          <a:xfrm>
            <a:off x="565355" y="1414185"/>
            <a:ext cx="10230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Initial approach which resulted in 40% missing data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118C6F-1342-6480-CDEE-3039C3559D07}"/>
              </a:ext>
            </a:extLst>
          </p:cNvPr>
          <p:cNvSpPr/>
          <p:nvPr/>
        </p:nvSpPr>
        <p:spPr>
          <a:xfrm>
            <a:off x="663677" y="2197509"/>
            <a:ext cx="1548581" cy="7226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Depmap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35A321-8CDA-099B-2450-CF37E401E5D6}"/>
              </a:ext>
            </a:extLst>
          </p:cNvPr>
          <p:cNvSpPr/>
          <p:nvPr/>
        </p:nvSpPr>
        <p:spPr>
          <a:xfrm>
            <a:off x="5530646" y="2166940"/>
            <a:ext cx="3082412" cy="83664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Depmapinfo</a:t>
            </a:r>
            <a:br>
              <a:rPr lang="en-US" dirty="0"/>
            </a:br>
            <a:r>
              <a:rPr lang="en-US" dirty="0"/>
              <a:t>(on the column stripped cell line)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C696C70-5254-30D3-E4CA-68FBD4792646}"/>
              </a:ext>
            </a:extLst>
          </p:cNvPr>
          <p:cNvSpPr/>
          <p:nvPr/>
        </p:nvSpPr>
        <p:spPr>
          <a:xfrm>
            <a:off x="9463548" y="2166940"/>
            <a:ext cx="1548581" cy="6989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HPA RNA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06B8A5D-D33B-7E8D-9D34-1C971F920A7D}"/>
              </a:ext>
            </a:extLst>
          </p:cNvPr>
          <p:cNvSpPr/>
          <p:nvPr/>
        </p:nvSpPr>
        <p:spPr>
          <a:xfrm>
            <a:off x="3175819" y="2210453"/>
            <a:ext cx="1750139" cy="69899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Depmap</a:t>
            </a:r>
            <a:r>
              <a:rPr lang="en-US" dirty="0"/>
              <a:t> </a:t>
            </a:r>
            <a:r>
              <a:rPr lang="en-US" dirty="0" err="1"/>
              <a:t>omnics</a:t>
            </a:r>
            <a:r>
              <a:rPr lang="en-US" dirty="0"/>
              <a:t> profile</a:t>
            </a:r>
            <a:endParaRPr lang="en-IN" dirty="0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A2AAFAEE-A0C9-45E4-DFFC-546DD7E1FCE8}"/>
              </a:ext>
            </a:extLst>
          </p:cNvPr>
          <p:cNvSpPr/>
          <p:nvPr/>
        </p:nvSpPr>
        <p:spPr>
          <a:xfrm>
            <a:off x="8812161" y="2465127"/>
            <a:ext cx="452284" cy="187435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8426D147-114D-C2FD-5974-1EB43BB0919D}"/>
              </a:ext>
            </a:extLst>
          </p:cNvPr>
          <p:cNvSpPr/>
          <p:nvPr/>
        </p:nvSpPr>
        <p:spPr>
          <a:xfrm>
            <a:off x="5002160" y="2476966"/>
            <a:ext cx="452284" cy="187435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EC9C4365-DABB-10E2-0A92-58BD62A6A695}"/>
              </a:ext>
            </a:extLst>
          </p:cNvPr>
          <p:cNvSpPr/>
          <p:nvPr/>
        </p:nvSpPr>
        <p:spPr>
          <a:xfrm>
            <a:off x="2421191" y="2476966"/>
            <a:ext cx="452284" cy="187435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6E3682-C080-8D95-C6E3-5BDDFD44D385}"/>
              </a:ext>
            </a:extLst>
          </p:cNvPr>
          <p:cNvSpPr txBox="1"/>
          <p:nvPr/>
        </p:nvSpPr>
        <p:spPr>
          <a:xfrm>
            <a:off x="8379541" y="3103339"/>
            <a:ext cx="1769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 convert from cell line names to ACH ID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9E30AD-AF12-4087-CE16-5BD2DBDC509A}"/>
              </a:ext>
            </a:extLst>
          </p:cNvPr>
          <p:cNvSpPr txBox="1"/>
          <p:nvPr/>
        </p:nvSpPr>
        <p:spPr>
          <a:xfrm>
            <a:off x="4569540" y="3156174"/>
            <a:ext cx="1769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 convert it to Profile ID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E9DDEE-1C29-9D68-EFD4-46BA5CF9DF23}"/>
              </a:ext>
            </a:extLst>
          </p:cNvPr>
          <p:cNvSpPr txBox="1"/>
          <p:nvPr/>
        </p:nvSpPr>
        <p:spPr>
          <a:xfrm>
            <a:off x="1762429" y="3114207"/>
            <a:ext cx="1769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Final Merge on the Profile ID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018A268-71C9-8B4C-A6D9-7DD13E8EC220}"/>
              </a:ext>
            </a:extLst>
          </p:cNvPr>
          <p:cNvSpPr/>
          <p:nvPr/>
        </p:nvSpPr>
        <p:spPr>
          <a:xfrm>
            <a:off x="459656" y="4632294"/>
            <a:ext cx="1302774" cy="7226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Depmap</a:t>
            </a:r>
            <a:endParaRPr lang="en-I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45E4F08-23FA-1306-E7D4-68D734CFD40F}"/>
              </a:ext>
            </a:extLst>
          </p:cNvPr>
          <p:cNvSpPr/>
          <p:nvPr/>
        </p:nvSpPr>
        <p:spPr>
          <a:xfrm>
            <a:off x="4680154" y="4572174"/>
            <a:ext cx="2470360" cy="83664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Depmapinfo</a:t>
            </a:r>
            <a:br>
              <a:rPr lang="en-US" dirty="0"/>
            </a:br>
            <a:r>
              <a:rPr lang="en-US" dirty="0"/>
              <a:t>(on the column CVCL)</a:t>
            </a:r>
            <a:endParaRPr lang="en-IN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03300A3-C2A7-917C-FB31-84063A7D4723}"/>
              </a:ext>
            </a:extLst>
          </p:cNvPr>
          <p:cNvSpPr/>
          <p:nvPr/>
        </p:nvSpPr>
        <p:spPr>
          <a:xfrm>
            <a:off x="10677830" y="4604026"/>
            <a:ext cx="1098765" cy="6989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HPA RNA</a:t>
            </a:r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939BDB9-250E-4425-D3A2-E7D560532C17}"/>
              </a:ext>
            </a:extLst>
          </p:cNvPr>
          <p:cNvSpPr/>
          <p:nvPr/>
        </p:nvSpPr>
        <p:spPr>
          <a:xfrm>
            <a:off x="2421191" y="4581605"/>
            <a:ext cx="1538750" cy="8340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Depmap</a:t>
            </a:r>
            <a:r>
              <a:rPr lang="en-US" dirty="0"/>
              <a:t> </a:t>
            </a:r>
            <a:r>
              <a:rPr lang="en-US" dirty="0" err="1"/>
              <a:t>omnics</a:t>
            </a:r>
            <a:r>
              <a:rPr lang="en-US" dirty="0"/>
              <a:t> profile</a:t>
            </a:r>
            <a:endParaRPr lang="en-IN" dirty="0"/>
          </a:p>
        </p:txBody>
      </p:sp>
      <p:sp>
        <p:nvSpPr>
          <p:cNvPr id="37" name="Arrow: Left 36">
            <a:extLst>
              <a:ext uri="{FF2B5EF4-FFF2-40B4-BE49-F238E27FC236}">
                <a16:creationId xmlns:a16="http://schemas.microsoft.com/office/drawing/2014/main" id="{6756B264-F9BC-C6E2-E959-CA7B717AAA3D}"/>
              </a:ext>
            </a:extLst>
          </p:cNvPr>
          <p:cNvSpPr/>
          <p:nvPr/>
        </p:nvSpPr>
        <p:spPr>
          <a:xfrm>
            <a:off x="7278330" y="4953522"/>
            <a:ext cx="452284" cy="187435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Arrow: Left 38">
            <a:extLst>
              <a:ext uri="{FF2B5EF4-FFF2-40B4-BE49-F238E27FC236}">
                <a16:creationId xmlns:a16="http://schemas.microsoft.com/office/drawing/2014/main" id="{28D2E189-81B6-2265-4678-E5722CC38398}"/>
              </a:ext>
            </a:extLst>
          </p:cNvPr>
          <p:cNvSpPr/>
          <p:nvPr/>
        </p:nvSpPr>
        <p:spPr>
          <a:xfrm>
            <a:off x="4100054" y="4912744"/>
            <a:ext cx="452284" cy="187435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Arrow: Left 40">
            <a:extLst>
              <a:ext uri="{FF2B5EF4-FFF2-40B4-BE49-F238E27FC236}">
                <a16:creationId xmlns:a16="http://schemas.microsoft.com/office/drawing/2014/main" id="{9D8E05BE-79D4-47C4-4CF9-14140EC65442}"/>
              </a:ext>
            </a:extLst>
          </p:cNvPr>
          <p:cNvSpPr/>
          <p:nvPr/>
        </p:nvSpPr>
        <p:spPr>
          <a:xfrm>
            <a:off x="1870586" y="4912744"/>
            <a:ext cx="452284" cy="187435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142054-DD36-459F-8CE2-83B64CF5531C}"/>
              </a:ext>
            </a:extLst>
          </p:cNvPr>
          <p:cNvSpPr txBox="1"/>
          <p:nvPr/>
        </p:nvSpPr>
        <p:spPr>
          <a:xfrm>
            <a:off x="5530646" y="5544773"/>
            <a:ext cx="1769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 convert from cell line names to ACH ID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A42FC7-F91D-10E4-9419-C50067C4AEBA}"/>
              </a:ext>
            </a:extLst>
          </p:cNvPr>
          <p:cNvSpPr txBox="1"/>
          <p:nvPr/>
        </p:nvSpPr>
        <p:spPr>
          <a:xfrm>
            <a:off x="2421191" y="5524488"/>
            <a:ext cx="1769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 convert it to Profile ID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004347-AB84-3A22-4C45-4D3A8CE8034B}"/>
              </a:ext>
            </a:extLst>
          </p:cNvPr>
          <p:cNvSpPr txBox="1"/>
          <p:nvPr/>
        </p:nvSpPr>
        <p:spPr>
          <a:xfrm>
            <a:off x="553063" y="5491918"/>
            <a:ext cx="1769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Final Merge on the Profile ID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C9285A-7561-C4B8-1287-197BCC4DD56C}"/>
              </a:ext>
            </a:extLst>
          </p:cNvPr>
          <p:cNvSpPr txBox="1"/>
          <p:nvPr/>
        </p:nvSpPr>
        <p:spPr>
          <a:xfrm>
            <a:off x="565354" y="3983252"/>
            <a:ext cx="10230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Final approach which resulted in 25% missing data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C65B936-95F8-ED2A-A3C9-306957E4AC0F}"/>
              </a:ext>
            </a:extLst>
          </p:cNvPr>
          <p:cNvSpPr/>
          <p:nvPr/>
        </p:nvSpPr>
        <p:spPr>
          <a:xfrm>
            <a:off x="7833851" y="4459849"/>
            <a:ext cx="2160643" cy="10932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HPA RNA cell line description (merge on Cell line names)</a:t>
            </a:r>
            <a:endParaRPr lang="en-IN" dirty="0"/>
          </a:p>
        </p:txBody>
      </p:sp>
      <p:sp>
        <p:nvSpPr>
          <p:cNvPr id="53" name="Arrow: Left 52">
            <a:extLst>
              <a:ext uri="{FF2B5EF4-FFF2-40B4-BE49-F238E27FC236}">
                <a16:creationId xmlns:a16="http://schemas.microsoft.com/office/drawing/2014/main" id="{4D893C34-E8FF-125E-2572-013125C775DF}"/>
              </a:ext>
            </a:extLst>
          </p:cNvPr>
          <p:cNvSpPr/>
          <p:nvPr/>
        </p:nvSpPr>
        <p:spPr>
          <a:xfrm>
            <a:off x="10122309" y="4896778"/>
            <a:ext cx="452284" cy="187435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AEA87C-E560-35A0-519F-BC896790FEEF}"/>
              </a:ext>
            </a:extLst>
          </p:cNvPr>
          <p:cNvSpPr txBox="1"/>
          <p:nvPr/>
        </p:nvSpPr>
        <p:spPr>
          <a:xfrm>
            <a:off x="8029268" y="5709154"/>
            <a:ext cx="1769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 get the CVCL ID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63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5EFA4-DEE6-B5A7-F36A-7A2601768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48E3C7F-2BFE-5E17-BDFF-3C478B1CD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55" y="534439"/>
            <a:ext cx="11061290" cy="606103"/>
          </a:xfrm>
        </p:spPr>
        <p:txBody>
          <a:bodyPr>
            <a:normAutofit/>
          </a:bodyPr>
          <a:lstStyle/>
          <a:p>
            <a:r>
              <a:rPr lang="en-IN" sz="3200" dirty="0"/>
              <a:t>Analysis regarding the HPA RNA and </a:t>
            </a:r>
            <a:r>
              <a:rPr lang="en-IN" sz="3200" dirty="0" err="1"/>
              <a:t>DepMap</a:t>
            </a:r>
            <a:r>
              <a:rPr lang="en-IN" sz="3200" dirty="0"/>
              <a:t> cell lines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1BB96-E655-CCE1-936A-09D0B4D0DA8A}"/>
              </a:ext>
            </a:extLst>
          </p:cNvPr>
          <p:cNvSpPr txBox="1"/>
          <p:nvPr/>
        </p:nvSpPr>
        <p:spPr>
          <a:xfrm>
            <a:off x="565355" y="1140542"/>
            <a:ext cx="1106129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Identified duplicate Model IDs associated with multiple sequencing or experimental profiles.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Expression values between the duplicate profiles showed very small differences (~0.04) in the investigated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Therefore, retaining either profile would be unlikely to significantly affect the downstream analysis.</a:t>
            </a: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Selecting the Most Appropriate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Rather than selecting a duplicate profile arbitrarily,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DepMap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provides metadata to identify the preferred entry: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IsDefaultEntryForModel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which Identifies the default sequencing profile for a biological model.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IsDefaultEntryForMC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which Identifies the default profile for a specific model condition.</a:t>
            </a: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differences between duplicate profiles are minimal.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However, the default-entry metadata provides a systematic and reproducible method for selecting the most appropriate representative profile.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Final approach: Use the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DepMap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default-entry metadata to select one representative profile for each duplicated Model 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This ensures a unique Model ID while avoiding arbitrary duplicate removal.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0BB91-B82C-D771-75F2-7AF6A265B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845" y="4249085"/>
            <a:ext cx="4788310" cy="217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655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ppt/theme/themeOverride2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ppt/theme/themeOverride3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ppt/theme/themeOverride4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ppt/theme/themeOverride5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{EFA6823A-2BFD-4287-A1A0-8114548C84BA}TF522ea272-7fed-4917-a421-5e6ae99a6bbed5eddc9a_win32-854160eadf3d</Template>
  <TotalTime>31</TotalTime>
  <Words>556</Words>
  <Application>Microsoft Office PowerPoint</Application>
  <PresentationFormat>Widescreen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Avenir Next LT Pro</vt:lpstr>
      <vt:lpstr>Avenir Next LT Pro Light</vt:lpstr>
      <vt:lpstr>Calibri</vt:lpstr>
      <vt:lpstr>Garamond</vt:lpstr>
      <vt:lpstr>SavonVTI</vt:lpstr>
      <vt:lpstr>Cell Line selector</vt:lpstr>
      <vt:lpstr>Analysis regarding the HPA RNA and DepMap cell lines</vt:lpstr>
      <vt:lpstr>Analysis regarding the HPA RNA and DepMap cell lines</vt:lpstr>
      <vt:lpstr>Analysis regarding the HPA RNA and DepMap cell lines</vt:lpstr>
      <vt:lpstr>Analysis regarding the HPA RNA and DepMap cell lines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Shankara Narayana N G</dc:creator>
  <cp:lastModifiedBy>Shankara Narayana N G</cp:lastModifiedBy>
  <cp:revision>5</cp:revision>
  <dcterms:created xsi:type="dcterms:W3CDTF">2026-07-15T08:41:51Z</dcterms:created>
  <dcterms:modified xsi:type="dcterms:W3CDTF">2026-07-15T09:13:32Z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