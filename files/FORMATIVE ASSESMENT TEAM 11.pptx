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0"/>
  </p:notesMasterIdLst>
  <p:sldIdLst>
    <p:sldId id="256" r:id="rId2"/>
    <p:sldId id="261" r:id="rId3"/>
    <p:sldId id="257" r:id="rId4"/>
    <p:sldId id="258" r:id="rId5"/>
    <p:sldId id="259" r:id="rId6"/>
    <p:sldId id="262" r:id="rId7"/>
    <p:sldId id="260" r:id="rId8"/>
    <p:sldId id="263"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C51D286-E688-54E3-9A11-0B9A03EAADE6}" v="9" dt="2026-07-06T05:27:49.225"/>
    <p1510:client id="{786F8B11-0BC3-115B-3D7E-D3581CDAC193}" v="20" dt="2026-07-05T11:51:55.278"/>
    <p1510:client id="{835CAA8C-CA16-8E90-EFEC-978A5135730C}" v="40" dt="2026-07-04T17:29:27.657"/>
    <p1510:client id="{841E69D5-57EA-59DF-DAA0-B445C1044157}" v="794" dt="2026-07-05T01:20:25.557"/>
    <p1510:client id="{A6B063D8-CF83-344A-9146-68961654CA9F}" v="808" dt="2026-07-04T13:22:22.377"/>
    <p1510:client id="{C71C6AB3-2134-A520-FC4E-326955D12201}" v="9" dt="2026-07-04T14:07:02.020"/>
    <p1510:client id="{D17864A1-9151-1990-6F96-BD0A4D32F153}" v="2" dt="2026-07-05T20:30:03.252"/>
  </p1510:revLst>
</p1510:revInfo>
</file>

<file path=ppt/tableStyles.xml><?xml version="1.0" encoding="utf-8"?>
<a:tblStyleLst xmlns:a="http://schemas.openxmlformats.org/drawingml/2006/main" def="{5C22544A-7EE6-4342-B048-85BDC9FD1C3A}">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8907893-E658-3A4E-A495-52C5859954F6}" type="datetimeFigureOut">
              <a:rPr lang="en-US" smtClean="0"/>
              <a:t>7/6/2026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6A42F0C-A9A7-2041-B3FF-FFF1C768DBAD}" type="slidenum">
              <a:rPr lang="en-US" smtClean="0"/>
              <a:t>‹#›</a:t>
            </a:fld>
            <a:endParaRPr lang="en-US"/>
          </a:p>
        </p:txBody>
      </p:sp>
    </p:spTree>
    <p:extLst>
      <p:ext uri="{BB962C8B-B14F-4D97-AF65-F5344CB8AC3E}">
        <p14:creationId xmlns:p14="http://schemas.microsoft.com/office/powerpoint/2010/main" val="29807578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6A42F0C-A9A7-2041-B3FF-FFF1C768DBAD}" type="slidenum">
              <a:rPr lang="en-US" smtClean="0"/>
              <a:t>7</a:t>
            </a:fld>
            <a:endParaRPr lang="en-US"/>
          </a:p>
        </p:txBody>
      </p:sp>
    </p:spTree>
    <p:extLst>
      <p:ext uri="{BB962C8B-B14F-4D97-AF65-F5344CB8AC3E}">
        <p14:creationId xmlns:p14="http://schemas.microsoft.com/office/powerpoint/2010/main" val="39291705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1007533" y="0"/>
            <a:ext cx="7934348"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8941881"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2611808" y="3428998"/>
            <a:ext cx="5518066" cy="2268559"/>
          </a:xfrm>
        </p:spPr>
        <p:txBody>
          <a:bodyPr anchor="t">
            <a:normAutofit/>
          </a:bodyPr>
          <a:lstStyle>
            <a:lvl1pPr algn="r">
              <a:defRPr sz="6000"/>
            </a:lvl1pPr>
          </a:lstStyle>
          <a:p>
            <a:r>
              <a:rPr lang="en-US"/>
              <a:t>Click to edit Master title style</a:t>
            </a:r>
          </a:p>
        </p:txBody>
      </p:sp>
      <p:sp>
        <p:nvSpPr>
          <p:cNvPr id="3" name="Subtitle 2"/>
          <p:cNvSpPr>
            <a:spLocks noGrp="1"/>
          </p:cNvSpPr>
          <p:nvPr>
            <p:ph type="subTitle" idx="1"/>
          </p:nvPr>
        </p:nvSpPr>
        <p:spPr>
          <a:xfrm>
            <a:off x="2772274" y="2268786"/>
            <a:ext cx="5357600" cy="1160213"/>
          </a:xfrm>
        </p:spPr>
        <p:txBody>
          <a:bodyPr tIns="0" anchor="b">
            <a:normAutofit/>
          </a:bodyPr>
          <a:lstStyle>
            <a:lvl1pPr marL="0" indent="0" algn="r">
              <a:buNone/>
              <a:defRPr sz="1800" b="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9AB3A824-1A51-4B26-AD58-A6D8E14F6C04}" type="datetimeFigureOut">
              <a:rPr lang="en-US" dirty="0"/>
              <a:t>7/6/2026</a:t>
            </a:fld>
            <a:endParaRPr lang="en-US"/>
          </a:p>
        </p:txBody>
      </p:sp>
      <p:sp>
        <p:nvSpPr>
          <p:cNvPr id="5" name="Footer Placeholder 4"/>
          <p:cNvSpPr>
            <a:spLocks noGrp="1"/>
          </p:cNvSpPr>
          <p:nvPr>
            <p:ph type="ftr" sz="quarter" idx="11"/>
          </p:nvPr>
        </p:nvSpPr>
        <p:spPr/>
        <p:txBody>
          <a:bodyPr/>
          <a:lstStyle/>
          <a:p>
            <a:r>
              <a:rPr lang="en-US"/>
              <a:t>
              </a:t>
            </a:r>
          </a:p>
        </p:txBody>
      </p:sp>
      <p:sp>
        <p:nvSpPr>
          <p:cNvPr id="6" name="Slide Number Placeholder 5"/>
          <p:cNvSpPr>
            <a:spLocks noGrp="1"/>
          </p:cNvSpPr>
          <p:nvPr>
            <p:ph type="sldNum" sz="quarter" idx="12"/>
          </p:nvPr>
        </p:nvSpPr>
        <p:spPr/>
        <p:txBody>
          <a:bodyPr rIns="45720"/>
          <a:lstStyle/>
          <a:p>
            <a:fld id="{6D22F896-40B5-4ADD-8801-0D06FADFA095}" type="slidenum">
              <a:rPr lang="en-US" dirty="0"/>
              <a:t>‹#›</a:t>
            </a:fld>
            <a:endParaRPr lang="en-US"/>
          </a:p>
        </p:txBody>
      </p:sp>
      <p:sp>
        <p:nvSpPr>
          <p:cNvPr id="13" name="TextBox 12"/>
          <p:cNvSpPr txBox="1"/>
          <p:nvPr/>
        </p:nvSpPr>
        <p:spPr>
          <a:xfrm>
            <a:off x="2191282" y="3262852"/>
            <a:ext cx="415636" cy="461665"/>
          </a:xfrm>
          <a:prstGeom prst="rect">
            <a:avLst/>
          </a:prstGeom>
          <a:noFill/>
        </p:spPr>
        <p:txBody>
          <a:bodyPr wrap="square" rtlCol="0">
            <a:spAutoFit/>
          </a:bodyPr>
          <a:lstStyle/>
          <a:p>
            <a:pPr algn="r"/>
            <a:r>
              <a:rPr lang="en-US" sz="2400">
                <a:solidFill>
                  <a:schemeClr val="accent6"/>
                </a:solidFill>
                <a:latin typeface="Wingdings 3" panose="05040102010807070707" pitchFamily="18" charset="2"/>
              </a:rPr>
              <a:t>z</a:t>
            </a:r>
            <a:endParaRPr lang="en-US" sz="2400">
              <a:solidFill>
                <a:schemeClr val="accent6"/>
              </a:solidFill>
              <a:latin typeface="MS Shell Dlg 2" panose="020B0604030504040204"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9" name="Rectangle 2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7D162C4-EDD9-4389-A98B-B87ECEA2A816}" type="datetimeFigureOut">
              <a:rPr lang="en-US" dirty="0"/>
              <a:t>7/6/2026</a:t>
            </a:fld>
            <a:endParaRPr lang="en-US"/>
          </a:p>
        </p:txBody>
      </p:sp>
      <p:sp>
        <p:nvSpPr>
          <p:cNvPr id="5" name="Footer Placeholder 4"/>
          <p:cNvSpPr>
            <a:spLocks noGrp="1"/>
          </p:cNvSpPr>
          <p:nvPr>
            <p:ph type="ftr" sz="quarter" idx="11"/>
          </p:nvPr>
        </p:nvSpPr>
        <p:spPr/>
        <p:txBody>
          <a:bodyPr/>
          <a:lstStyle/>
          <a:p>
            <a:r>
              <a:rPr lang="en-US"/>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a:p>
        </p:txBody>
      </p:sp>
      <p:sp>
        <p:nvSpPr>
          <p:cNvPr id="7" name="TextBox 6"/>
          <p:cNvSpPr txBox="1"/>
          <p:nvPr/>
        </p:nvSpPr>
        <p:spPr>
          <a:xfrm>
            <a:off x="2194943" y="641225"/>
            <a:ext cx="415636" cy="369332"/>
          </a:xfrm>
          <a:prstGeom prst="rect">
            <a:avLst/>
          </a:prstGeom>
          <a:noFill/>
        </p:spPr>
        <p:txBody>
          <a:bodyPr wrap="square" rtlCol="0">
            <a:spAutoFit/>
          </a:bodyPr>
          <a:lstStyle/>
          <a:p>
            <a:pPr algn="r"/>
            <a:r>
              <a:rPr lang="en-US" sz="1800">
                <a:solidFill>
                  <a:schemeClr val="accent6"/>
                </a:solidFill>
                <a:latin typeface="Wingdings 3" panose="05040102010807070707" pitchFamily="18" charset="2"/>
              </a:rPr>
              <a:t>z</a:t>
            </a:r>
            <a:endParaRPr lang="en-US" sz="1000">
              <a:solidFill>
                <a:schemeClr val="accent6"/>
              </a:solidFill>
              <a:latin typeface="MS Shell Dlg 2" panose="020B060403050404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4" name="Rectangle 2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TextBox 10"/>
          <p:cNvSpPr txBox="1"/>
          <p:nvPr/>
        </p:nvSpPr>
        <p:spPr>
          <a:xfrm>
            <a:off x="2191843" y="2962586"/>
            <a:ext cx="415636" cy="369332"/>
          </a:xfrm>
          <a:prstGeom prst="rect">
            <a:avLst/>
          </a:prstGeom>
          <a:noFill/>
        </p:spPr>
        <p:txBody>
          <a:bodyPr wrap="square" rtlCol="0">
            <a:spAutoFit/>
          </a:bodyPr>
          <a:lstStyle/>
          <a:p>
            <a:pPr algn="r"/>
            <a:r>
              <a:rPr lang="en-US" sz="1800">
                <a:solidFill>
                  <a:schemeClr val="accent6"/>
                </a:solidFill>
                <a:latin typeface="Wingdings 3" panose="05040102010807070707" pitchFamily="18" charset="2"/>
              </a:rPr>
              <a:t>z</a:t>
            </a:r>
            <a:endParaRPr lang="en-US" sz="100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3147254"/>
            <a:ext cx="7956560" cy="1424746"/>
          </a:xfrm>
        </p:spPr>
        <p:txBody>
          <a:bodyPr anchor="t">
            <a:normAutofit/>
          </a:bodyPr>
          <a:lstStyle>
            <a:lvl1pPr algn="r">
              <a:defRPr sz="3200"/>
            </a:lvl1pPr>
          </a:lstStyle>
          <a:p>
            <a:r>
              <a:rPr lang="en-US"/>
              <a:t>Click to edit Master title style</a:t>
            </a:r>
          </a:p>
        </p:txBody>
      </p:sp>
      <p:sp>
        <p:nvSpPr>
          <p:cNvPr id="3" name="Text Placeholder 2"/>
          <p:cNvSpPr>
            <a:spLocks noGrp="1"/>
          </p:cNvSpPr>
          <p:nvPr>
            <p:ph type="body" idx="1"/>
          </p:nvPr>
        </p:nvSpPr>
        <p:spPr>
          <a:xfrm>
            <a:off x="2773968" y="2268786"/>
            <a:ext cx="7791931" cy="878468"/>
          </a:xfrm>
        </p:spPr>
        <p:txBody>
          <a:bodyPr tIns="0" anchor="b">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E5059C3-6A89-4494-99FF-5A4D6FFD50EB}" type="datetimeFigureOut">
              <a:rPr lang="en-US" dirty="0"/>
              <a:t>7/6/2026</a:t>
            </a:fld>
            <a:endParaRPr lang="en-US"/>
          </a:p>
        </p:txBody>
      </p:sp>
      <p:sp>
        <p:nvSpPr>
          <p:cNvPr id="5" name="Footer Placeholder 4"/>
          <p:cNvSpPr>
            <a:spLocks noGrp="1"/>
          </p:cNvSpPr>
          <p:nvPr>
            <p:ph type="ftr" sz="quarter" idx="11"/>
          </p:nvPr>
        </p:nvSpPr>
        <p:spPr/>
        <p:txBody>
          <a:bodyPr/>
          <a:lstStyle/>
          <a:p>
            <a:r>
              <a:rPr lang="en-US"/>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6" name="Rectangle 25"/>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609873" y="805817"/>
            <a:ext cx="7950984" cy="1081705"/>
          </a:xfrm>
        </p:spPr>
        <p:txBody>
          <a:bodyPr/>
          <a:lstStyle/>
          <a:p>
            <a:r>
              <a:rPr lang="en-US"/>
              <a:t>Click to edit Master title style</a:t>
            </a:r>
          </a:p>
        </p:txBody>
      </p:sp>
      <p:sp>
        <p:nvSpPr>
          <p:cNvPr id="3" name="Content Placeholder 2"/>
          <p:cNvSpPr>
            <a:spLocks noGrp="1"/>
          </p:cNvSpPr>
          <p:nvPr>
            <p:ph sz="half" idx="1"/>
          </p:nvPr>
        </p:nvSpPr>
        <p:spPr>
          <a:xfrm>
            <a:off x="2605374" y="2052116"/>
            <a:ext cx="3891960" cy="39978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666636" y="2052114"/>
            <a:ext cx="3894222" cy="399782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A954B2F-12DE-47F5-8894-472B206D2E1E}" type="datetimeFigureOut">
              <a:rPr lang="en-US" dirty="0"/>
              <a:t>7/6/2026</a:t>
            </a:fld>
            <a:endParaRPr lang="en-US"/>
          </a:p>
        </p:txBody>
      </p:sp>
      <p:sp>
        <p:nvSpPr>
          <p:cNvPr id="6" name="Footer Placeholder 5"/>
          <p:cNvSpPr>
            <a:spLocks noGrp="1"/>
          </p:cNvSpPr>
          <p:nvPr>
            <p:ph type="ftr" sz="quarter" idx="11"/>
          </p:nvPr>
        </p:nvSpPr>
        <p:spPr/>
        <p:txBody>
          <a:bodyPr/>
          <a:lstStyle/>
          <a:p>
            <a:r>
              <a:rPr lang="en-US"/>
              <a:t>
              </a:t>
            </a:r>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a:p>
        </p:txBody>
      </p:sp>
      <p:sp>
        <p:nvSpPr>
          <p:cNvPr id="10" name="TextBox 9"/>
          <p:cNvSpPr txBox="1"/>
          <p:nvPr/>
        </p:nvSpPr>
        <p:spPr>
          <a:xfrm>
            <a:off x="2196172" y="641223"/>
            <a:ext cx="415636" cy="369332"/>
          </a:xfrm>
          <a:prstGeom prst="rect">
            <a:avLst/>
          </a:prstGeom>
          <a:noFill/>
        </p:spPr>
        <p:txBody>
          <a:bodyPr wrap="square" rtlCol="0">
            <a:spAutoFit/>
          </a:bodyPr>
          <a:lstStyle/>
          <a:p>
            <a:pPr algn="r"/>
            <a:r>
              <a:rPr lang="en-US" sz="1800">
                <a:solidFill>
                  <a:schemeClr val="accent6"/>
                </a:solidFill>
                <a:latin typeface="Wingdings 3" panose="05040102010807070707" pitchFamily="18" charset="2"/>
              </a:rPr>
              <a:t>z</a:t>
            </a:r>
            <a:endParaRPr lang="en-US" sz="1000">
              <a:solidFill>
                <a:schemeClr val="accent6"/>
              </a:solidFill>
              <a:latin typeface="MS Shell Dlg 2" panose="020B060403050404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0" name="Rectangle 19"/>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Rectangle 20"/>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TextBox 11"/>
          <p:cNvSpPr txBox="1"/>
          <p:nvPr/>
        </p:nvSpPr>
        <p:spPr>
          <a:xfrm>
            <a:off x="2193650" y="636424"/>
            <a:ext cx="415636" cy="369332"/>
          </a:xfrm>
          <a:prstGeom prst="rect">
            <a:avLst/>
          </a:prstGeom>
          <a:noFill/>
        </p:spPr>
        <p:txBody>
          <a:bodyPr wrap="square" rtlCol="0">
            <a:spAutoFit/>
          </a:bodyPr>
          <a:lstStyle/>
          <a:p>
            <a:pPr algn="r"/>
            <a:r>
              <a:rPr lang="en-US" sz="1800">
                <a:solidFill>
                  <a:schemeClr val="accent6"/>
                </a:solidFill>
                <a:latin typeface="Wingdings 3" panose="05040102010807070707" pitchFamily="18" charset="2"/>
              </a:rPr>
              <a:t>z</a:t>
            </a:r>
            <a:endParaRPr lang="en-US" sz="100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805818"/>
            <a:ext cx="7956560" cy="1078348"/>
          </a:xfrm>
        </p:spPr>
        <p:txBody>
          <a:bodyPr/>
          <a:lstStyle/>
          <a:p>
            <a:r>
              <a:rPr lang="en-US"/>
              <a:t>Click to edit Master title style</a:t>
            </a:r>
          </a:p>
        </p:txBody>
      </p:sp>
      <p:sp>
        <p:nvSpPr>
          <p:cNvPr id="3" name="Text Placeholder 2"/>
          <p:cNvSpPr>
            <a:spLocks noGrp="1"/>
          </p:cNvSpPr>
          <p:nvPr>
            <p:ph type="body" idx="1"/>
          </p:nvPr>
        </p:nvSpPr>
        <p:spPr>
          <a:xfrm>
            <a:off x="2609285" y="2052115"/>
            <a:ext cx="3896467"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609285" y="2851331"/>
            <a:ext cx="3893623" cy="30714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666634" y="2052115"/>
            <a:ext cx="3899798"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66635" y="2851331"/>
            <a:ext cx="3899798" cy="30714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F30E46F-7819-4ACF-B48B-48222C2ACC88}" type="datetimeFigureOut">
              <a:rPr lang="en-US" dirty="0"/>
              <a:t>7/6/2026</a:t>
            </a:fld>
            <a:endParaRPr lang="en-US"/>
          </a:p>
        </p:txBody>
      </p:sp>
      <p:sp>
        <p:nvSpPr>
          <p:cNvPr id="8" name="Footer Placeholder 7"/>
          <p:cNvSpPr>
            <a:spLocks noGrp="1"/>
          </p:cNvSpPr>
          <p:nvPr>
            <p:ph type="ftr" sz="quarter" idx="11"/>
          </p:nvPr>
        </p:nvSpPr>
        <p:spPr/>
        <p:txBody>
          <a:bodyPr/>
          <a:lstStyle/>
          <a:p>
            <a:r>
              <a:rPr lang="en-US"/>
              <a:t>
              </a:t>
            </a:r>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3" name="Rectangle 12"/>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Rectangle 13"/>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FAF3416-4057-4DAA-829D-4CA07428D088}" type="datetimeFigureOut">
              <a:rPr lang="en-US" dirty="0"/>
              <a:t>7/6/2026</a:t>
            </a:fld>
            <a:endParaRPr lang="en-US"/>
          </a:p>
        </p:txBody>
      </p:sp>
      <p:sp>
        <p:nvSpPr>
          <p:cNvPr id="4" name="Footer Placeholder 3"/>
          <p:cNvSpPr>
            <a:spLocks noGrp="1"/>
          </p:cNvSpPr>
          <p:nvPr>
            <p:ph type="ftr" sz="quarter" idx="11"/>
          </p:nvPr>
        </p:nvSpPr>
        <p:spPr/>
        <p:txBody>
          <a:bodyPr/>
          <a:lstStyle/>
          <a:p>
            <a:r>
              <a:rPr lang="en-US"/>
              <a:t>
              </a:t>
            </a:r>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a:p>
        </p:txBody>
      </p:sp>
      <p:sp>
        <p:nvSpPr>
          <p:cNvPr id="8" name="TextBox 7"/>
          <p:cNvSpPr txBox="1"/>
          <p:nvPr/>
        </p:nvSpPr>
        <p:spPr>
          <a:xfrm>
            <a:off x="2196172" y="641226"/>
            <a:ext cx="415636" cy="369332"/>
          </a:xfrm>
          <a:prstGeom prst="rect">
            <a:avLst/>
          </a:prstGeom>
          <a:noFill/>
        </p:spPr>
        <p:txBody>
          <a:bodyPr wrap="square" rtlCol="0">
            <a:spAutoFit/>
          </a:bodyPr>
          <a:lstStyle/>
          <a:p>
            <a:pPr algn="r"/>
            <a:r>
              <a:rPr lang="en-US" sz="1800">
                <a:solidFill>
                  <a:schemeClr val="accent6"/>
                </a:solidFill>
                <a:latin typeface="Wingdings 3" panose="05040102010807070707" pitchFamily="18" charset="2"/>
              </a:rPr>
              <a:t>z</a:t>
            </a:r>
            <a:endParaRPr lang="en-US" sz="1000">
              <a:solidFill>
                <a:schemeClr val="accent6"/>
              </a:solidFill>
              <a:latin typeface="MS Shell Dlg 2" panose="020B060403050404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2" name="Rectangle 11"/>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921D9284-D300-4297-87F7-E791DCC15DB1}" type="datetimeFigureOut">
              <a:rPr lang="en-US" dirty="0"/>
              <a:t>7/6/2026</a:t>
            </a:fld>
            <a:endParaRPr lang="en-US"/>
          </a:p>
        </p:txBody>
      </p:sp>
      <p:sp>
        <p:nvSpPr>
          <p:cNvPr id="3" name="Footer Placeholder 2"/>
          <p:cNvSpPr>
            <a:spLocks noGrp="1"/>
          </p:cNvSpPr>
          <p:nvPr>
            <p:ph type="ftr" sz="quarter" idx="11"/>
          </p:nvPr>
        </p:nvSpPr>
        <p:spPr/>
        <p:txBody>
          <a:bodyPr/>
          <a:lstStyle/>
          <a:p>
            <a:r>
              <a:rPr lang="en-US"/>
              <a:t>
              </a:t>
            </a:r>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5" name="Rectangle 2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Rectangle 2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TextBox 9"/>
          <p:cNvSpPr txBox="1"/>
          <p:nvPr/>
        </p:nvSpPr>
        <p:spPr>
          <a:xfrm>
            <a:off x="1554154" y="1127550"/>
            <a:ext cx="415636" cy="369332"/>
          </a:xfrm>
          <a:prstGeom prst="rect">
            <a:avLst/>
          </a:prstGeom>
          <a:noFill/>
        </p:spPr>
        <p:txBody>
          <a:bodyPr wrap="square" rtlCol="0">
            <a:spAutoFit/>
          </a:bodyPr>
          <a:lstStyle/>
          <a:p>
            <a:pPr algn="r"/>
            <a:r>
              <a:rPr lang="en-US" sz="1800">
                <a:solidFill>
                  <a:schemeClr val="accent6"/>
                </a:solidFill>
                <a:latin typeface="Wingdings 3" panose="05040102010807070707" pitchFamily="18" charset="2"/>
              </a:rPr>
              <a:t>z</a:t>
            </a:r>
            <a:endParaRPr lang="en-US" sz="1000">
              <a:solidFill>
                <a:schemeClr val="accent6"/>
              </a:solidFill>
              <a:latin typeface="MS Shell Dlg 2" panose="020B0604030504040204" pitchFamily="34" charset="0"/>
            </a:endParaRPr>
          </a:p>
        </p:txBody>
      </p:sp>
      <p:sp>
        <p:nvSpPr>
          <p:cNvPr id="2" name="Title 1"/>
          <p:cNvSpPr>
            <a:spLocks noGrp="1"/>
          </p:cNvSpPr>
          <p:nvPr>
            <p:ph type="title"/>
          </p:nvPr>
        </p:nvSpPr>
        <p:spPr>
          <a:xfrm>
            <a:off x="1970323" y="1282451"/>
            <a:ext cx="2664361" cy="1903241"/>
          </a:xfrm>
        </p:spPr>
        <p:txBody>
          <a:bodyPr anchor="b">
            <a:normAutofit/>
          </a:bodyPr>
          <a:lstStyle>
            <a:lvl1pPr algn="l">
              <a:defRPr sz="2400"/>
            </a:lvl1pPr>
          </a:lstStyle>
          <a:p>
            <a:r>
              <a:rPr lang="en-US"/>
              <a:t>Click to edit Master title style</a:t>
            </a:r>
          </a:p>
        </p:txBody>
      </p:sp>
      <p:sp>
        <p:nvSpPr>
          <p:cNvPr id="3" name="Content Placeholder 2"/>
          <p:cNvSpPr>
            <a:spLocks noGrp="1"/>
          </p:cNvSpPr>
          <p:nvPr>
            <p:ph idx="1"/>
          </p:nvPr>
        </p:nvSpPr>
        <p:spPr>
          <a:xfrm>
            <a:off x="5120154" y="805818"/>
            <a:ext cx="5446278" cy="52441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970322" y="3186154"/>
            <a:ext cx="2664361" cy="2386397"/>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7D525BB-DA17-4BA0-B3C8-3AC3ABC827E6}" type="datetimeFigureOut">
              <a:rPr lang="en-US" dirty="0"/>
              <a:t>7/6/2026</a:t>
            </a:fld>
            <a:endParaRPr lang="en-US"/>
          </a:p>
        </p:txBody>
      </p:sp>
      <p:sp>
        <p:nvSpPr>
          <p:cNvPr id="6" name="Footer Placeholder 5"/>
          <p:cNvSpPr>
            <a:spLocks noGrp="1"/>
          </p:cNvSpPr>
          <p:nvPr>
            <p:ph type="ftr" sz="quarter" idx="11"/>
          </p:nvPr>
        </p:nvSpPr>
        <p:spPr/>
        <p:txBody>
          <a:bodyPr/>
          <a:lstStyle/>
          <a:p>
            <a:r>
              <a:rPr lang="en-US"/>
              <a:t>
              </a:t>
            </a:r>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9" name="Rectangle 1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Rectangle 19"/>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6747062" y="3229"/>
            <a:ext cx="4629734" cy="6858000"/>
          </a:xfrm>
          <a:solidFill>
            <a:schemeClr val="tx1">
              <a:alpha val="10000"/>
            </a:schemeClr>
          </a:solidFill>
          <a:ln w="9525" cap="sq">
            <a:noFill/>
            <a:miter lim="800000"/>
          </a:ln>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10" name="TextBox 9"/>
          <p:cNvSpPr txBox="1"/>
          <p:nvPr/>
        </p:nvSpPr>
        <p:spPr>
          <a:xfrm>
            <a:off x="1554686" y="1127550"/>
            <a:ext cx="415636" cy="369332"/>
          </a:xfrm>
          <a:prstGeom prst="rect">
            <a:avLst/>
          </a:prstGeom>
          <a:noFill/>
        </p:spPr>
        <p:txBody>
          <a:bodyPr wrap="square" rtlCol="0">
            <a:spAutoFit/>
          </a:bodyPr>
          <a:lstStyle/>
          <a:p>
            <a:pPr algn="r"/>
            <a:r>
              <a:rPr lang="en-US" sz="1800">
                <a:solidFill>
                  <a:schemeClr val="accent6"/>
                </a:solidFill>
                <a:latin typeface="Wingdings 3" panose="05040102010807070707" pitchFamily="18" charset="2"/>
              </a:rPr>
              <a:t>z</a:t>
            </a:r>
            <a:endParaRPr lang="en-US" sz="1000">
              <a:solidFill>
                <a:schemeClr val="accent6"/>
              </a:solidFill>
              <a:latin typeface="MS Shell Dlg 2" panose="020B0604030504040204" pitchFamily="34" charset="0"/>
            </a:endParaRPr>
          </a:p>
        </p:txBody>
      </p:sp>
      <p:sp>
        <p:nvSpPr>
          <p:cNvPr id="2" name="Title 1"/>
          <p:cNvSpPr>
            <a:spLocks noGrp="1"/>
          </p:cNvSpPr>
          <p:nvPr>
            <p:ph type="title"/>
          </p:nvPr>
        </p:nvSpPr>
        <p:spPr>
          <a:xfrm>
            <a:off x="1971241" y="1282452"/>
            <a:ext cx="3970986" cy="1900473"/>
          </a:xfrm>
        </p:spPr>
        <p:txBody>
          <a:bodyPr anchor="b">
            <a:normAutofit/>
          </a:bodyPr>
          <a:lstStyle>
            <a:lvl1pPr algn="l">
              <a:defRPr sz="3200"/>
            </a:lvl1pPr>
          </a:lstStyle>
          <a:p>
            <a:r>
              <a:rPr lang="en-US"/>
              <a:t>Click to edit Master title style</a:t>
            </a:r>
          </a:p>
        </p:txBody>
      </p:sp>
      <p:sp>
        <p:nvSpPr>
          <p:cNvPr id="4" name="Text Placeholder 3"/>
          <p:cNvSpPr>
            <a:spLocks noGrp="1"/>
          </p:cNvSpPr>
          <p:nvPr>
            <p:ph type="body" sz="half" idx="2"/>
          </p:nvPr>
        </p:nvSpPr>
        <p:spPr>
          <a:xfrm>
            <a:off x="1970322" y="3182928"/>
            <a:ext cx="3971874" cy="2386394"/>
          </a:xfrm>
        </p:spPr>
        <p:txBody>
          <a:bodyPr>
            <a:normAutofit/>
          </a:bodyPr>
          <a:lstStyle>
            <a:lvl1pPr marL="0" indent="0" algn="l">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16C4C9A-3960-41CF-A4E9-2A8FB932454B}" type="datetimeFigureOut">
              <a:rPr lang="en-US" dirty="0"/>
              <a:t>7/6/2026</a:t>
            </a:fld>
            <a:endParaRPr lang="en-US"/>
          </a:p>
        </p:txBody>
      </p:sp>
      <p:sp>
        <p:nvSpPr>
          <p:cNvPr id="6" name="Footer Placeholder 5"/>
          <p:cNvSpPr>
            <a:spLocks noGrp="1"/>
          </p:cNvSpPr>
          <p:nvPr>
            <p:ph type="ftr" sz="quarter" idx="11"/>
          </p:nvPr>
        </p:nvSpPr>
        <p:spPr/>
        <p:txBody>
          <a:bodyPr/>
          <a:lstStyle/>
          <a:p>
            <a:r>
              <a:rPr lang="en-US"/>
              <a:t>
              </a:t>
            </a:r>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4" name="Rectangle 1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a:off x="2194236" y="641225"/>
            <a:ext cx="415636" cy="369332"/>
          </a:xfrm>
          <a:prstGeom prst="rect">
            <a:avLst/>
          </a:prstGeom>
          <a:noFill/>
        </p:spPr>
        <p:txBody>
          <a:bodyPr wrap="square" rtlCol="0">
            <a:spAutoFit/>
          </a:bodyPr>
          <a:lstStyle/>
          <a:p>
            <a:pPr algn="r"/>
            <a:r>
              <a:rPr lang="en-US" sz="1800">
                <a:solidFill>
                  <a:schemeClr val="accent6"/>
                </a:solidFill>
                <a:latin typeface="Wingdings 3" panose="05040102010807070707" pitchFamily="18" charset="2"/>
              </a:rPr>
              <a:t>z</a:t>
            </a:r>
            <a:endParaRPr lang="en-US" sz="1000">
              <a:solidFill>
                <a:schemeClr val="accent6"/>
              </a:solidFill>
              <a:latin typeface="MS Shell Dlg 2" panose="020B0604030504040204" pitchFamily="34" charset="0"/>
            </a:endParaRPr>
          </a:p>
        </p:txBody>
      </p:sp>
      <p:sp>
        <p:nvSpPr>
          <p:cNvPr id="2" name="Title 1"/>
          <p:cNvSpPr>
            <a:spLocks noGrp="1"/>
          </p:cNvSpPr>
          <p:nvPr>
            <p:ph type="title"/>
          </p:nvPr>
        </p:nvSpPr>
        <p:spPr>
          <a:xfrm>
            <a:off x="2611808" y="808056"/>
            <a:ext cx="7954091" cy="1077229"/>
          </a:xfr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857E33E-8B18-4087-B112-809917729534}" type="datetimeFigureOut">
              <a:rPr lang="en-US" dirty="0"/>
              <a:t>7/6/2026</a:t>
            </a:fld>
            <a:endParaRPr lang="en-US"/>
          </a:p>
        </p:txBody>
      </p:sp>
      <p:sp>
        <p:nvSpPr>
          <p:cNvPr id="5" name="Footer Placeholder 4"/>
          <p:cNvSpPr>
            <a:spLocks noGrp="1"/>
          </p:cNvSpPr>
          <p:nvPr>
            <p:ph type="ftr" sz="quarter" idx="11"/>
          </p:nvPr>
        </p:nvSpPr>
        <p:spPr/>
        <p:txBody>
          <a:bodyPr/>
          <a:lstStyle/>
          <a:p>
            <a:r>
              <a:rPr lang="en-US"/>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5" name="Rectangle 1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 name="Rectangle 1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rot="5400000">
            <a:off x="10337141" y="416061"/>
            <a:ext cx="415636" cy="369332"/>
          </a:xfrm>
          <a:prstGeom prst="rect">
            <a:avLst/>
          </a:prstGeom>
          <a:noFill/>
        </p:spPr>
        <p:txBody>
          <a:bodyPr wrap="square" rtlCol="0">
            <a:spAutoFit/>
          </a:bodyPr>
          <a:lstStyle/>
          <a:p>
            <a:pPr algn="r"/>
            <a:r>
              <a:rPr lang="en-US" sz="1800">
                <a:solidFill>
                  <a:schemeClr val="accent6"/>
                </a:solidFill>
                <a:latin typeface="Wingdings 3" panose="05040102010807070707" pitchFamily="18" charset="2"/>
              </a:rPr>
              <a:t>z</a:t>
            </a:r>
            <a:endParaRPr lang="en-US" sz="1000">
              <a:solidFill>
                <a:schemeClr val="accent6"/>
              </a:solidFill>
              <a:latin typeface="MS Shell Dlg 2" panose="020B0604030504040204" pitchFamily="34" charset="0"/>
            </a:endParaRPr>
          </a:p>
        </p:txBody>
      </p:sp>
      <p:sp>
        <p:nvSpPr>
          <p:cNvPr id="2" name="Vertical Title 1"/>
          <p:cNvSpPr>
            <a:spLocks noGrp="1"/>
          </p:cNvSpPr>
          <p:nvPr>
            <p:ph type="title" orient="vert"/>
          </p:nvPr>
        </p:nvSpPr>
        <p:spPr>
          <a:xfrm>
            <a:off x="9239380" y="805818"/>
            <a:ext cx="1326519" cy="5244126"/>
          </a:xfrm>
        </p:spPr>
        <p:txBody>
          <a:bodyPr vert="eaVert"/>
          <a:lstStyle>
            <a:lvl1pPr algn="l">
              <a:defRPr/>
            </a:lvl1pPr>
          </a:lstStyle>
          <a:p>
            <a:r>
              <a:rPr lang="en-US"/>
              <a:t>Click to edit Master title style</a:t>
            </a:r>
          </a:p>
        </p:txBody>
      </p:sp>
      <p:sp>
        <p:nvSpPr>
          <p:cNvPr id="3" name="Vertical Text Placeholder 2"/>
          <p:cNvSpPr>
            <a:spLocks noGrp="1"/>
          </p:cNvSpPr>
          <p:nvPr>
            <p:ph type="body" orient="vert" idx="1"/>
          </p:nvPr>
        </p:nvSpPr>
        <p:spPr>
          <a:xfrm>
            <a:off x="2608751" y="970410"/>
            <a:ext cx="6466903" cy="507953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3FFE419-2371-464F-8239-3959401C3561}" type="datetimeFigureOut">
              <a:rPr lang="en-US" dirty="0"/>
              <a:t>7/6/2026</a:t>
            </a:fld>
            <a:endParaRPr lang="en-US"/>
          </a:p>
        </p:txBody>
      </p:sp>
      <p:sp>
        <p:nvSpPr>
          <p:cNvPr id="5" name="Footer Placeholder 4"/>
          <p:cNvSpPr>
            <a:spLocks noGrp="1"/>
          </p:cNvSpPr>
          <p:nvPr>
            <p:ph type="ftr" sz="quarter" idx="11"/>
          </p:nvPr>
        </p:nvSpPr>
        <p:spPr/>
        <p:txBody>
          <a:bodyPr/>
          <a:lstStyle/>
          <a:p>
            <a:r>
              <a:rPr lang="en-US"/>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18" name="Picture 17"/>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15" name="Picture 14"/>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8" name="Rectangle 7"/>
          <p:cNvSpPr/>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2611808" y="808056"/>
            <a:ext cx="7958331" cy="1077229"/>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p:cNvSpPr>
            <a:spLocks noGrp="1"/>
          </p:cNvSpPr>
          <p:nvPr>
            <p:ph type="body" idx="1"/>
          </p:nvPr>
        </p:nvSpPr>
        <p:spPr>
          <a:xfrm>
            <a:off x="2773599" y="2052116"/>
            <a:ext cx="7796540" cy="3997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rot="5400000">
            <a:off x="-810065" y="5270604"/>
            <a:ext cx="2662729" cy="182880"/>
          </a:xfrm>
          <a:prstGeom prst="rect">
            <a:avLst/>
          </a:prstGeom>
        </p:spPr>
        <p:txBody>
          <a:bodyPr vert="horz" lIns="91440" tIns="18288" rIns="91440" bIns="45720" rtlCol="0" anchor="t"/>
          <a:lstStyle>
            <a:lvl1pPr algn="r">
              <a:defRPr sz="800">
                <a:solidFill>
                  <a:schemeClr val="tx1">
                    <a:tint val="75000"/>
                  </a:schemeClr>
                </a:solidFill>
                <a:latin typeface="+mn-lt"/>
              </a:defRPr>
            </a:lvl1pPr>
          </a:lstStyle>
          <a:p>
            <a:fld id="{3CBC1C18-307B-4F68-A007-B5B542270E8D}" type="datetimeFigureOut">
              <a:rPr lang="en-US" dirty="0"/>
              <a:t>7/6/2026</a:t>
            </a:fld>
            <a:endParaRPr lang="en-US"/>
          </a:p>
        </p:txBody>
      </p:sp>
      <p:sp>
        <p:nvSpPr>
          <p:cNvPr id="5" name="Footer Placeholder 4"/>
          <p:cNvSpPr>
            <a:spLocks noGrp="1"/>
          </p:cNvSpPr>
          <p:nvPr>
            <p:ph type="ftr" sz="quarter" idx="3"/>
          </p:nvPr>
        </p:nvSpPr>
        <p:spPr>
          <a:xfrm rot="5400000">
            <a:off x="-2237130" y="3661144"/>
            <a:ext cx="5885352" cy="179176"/>
          </a:xfrm>
          <a:prstGeom prst="rect">
            <a:avLst/>
          </a:prstGeom>
        </p:spPr>
        <p:txBody>
          <a:bodyPr vert="horz" lIns="91440" tIns="45720" rIns="91440" bIns="18288" rtlCol="0" anchor="b"/>
          <a:lstStyle>
            <a:lvl1pPr algn="r">
              <a:defRPr sz="800">
                <a:solidFill>
                  <a:schemeClr val="tx1">
                    <a:tint val="75000"/>
                  </a:schemeClr>
                </a:solidFill>
              </a:defRPr>
            </a:lvl1pPr>
          </a:lstStyle>
          <a:p>
            <a:r>
              <a:rPr lang="en-US"/>
              <a:t>
              </a:t>
            </a:r>
          </a:p>
        </p:txBody>
      </p:sp>
      <p:sp>
        <p:nvSpPr>
          <p:cNvPr id="6" name="Slide Number Placeholder 5"/>
          <p:cNvSpPr>
            <a:spLocks noGrp="1"/>
          </p:cNvSpPr>
          <p:nvPr>
            <p:ph type="sldNum" sz="quarter" idx="4"/>
          </p:nvPr>
        </p:nvSpPr>
        <p:spPr>
          <a:xfrm>
            <a:off x="158407" y="164592"/>
            <a:ext cx="636727" cy="322851"/>
          </a:xfrm>
          <a:prstGeom prst="rect">
            <a:avLst/>
          </a:prstGeom>
        </p:spPr>
        <p:txBody>
          <a:bodyPr vert="horz" lIns="91440" tIns="45720" rIns="45720" bIns="45720" rtlCol="0" anchor="ctr"/>
          <a:lstStyle>
            <a:lvl1pPr algn="r">
              <a:defRPr sz="1800">
                <a:solidFill>
                  <a:schemeClr val="tx1">
                    <a:tint val="75000"/>
                  </a:schemeClr>
                </a:solidFill>
              </a:defRPr>
            </a:lvl1pPr>
          </a:lstStyle>
          <a:p>
            <a:fld id="{6D22F896-40B5-4ADD-8801-0D06FADFA095}" type="slidenum">
              <a:rPr lang="en-US" dirty="0"/>
              <a:pPr/>
              <a:t>‹#›</a:t>
            </a:fld>
            <a:endParaRPr lang="en-US"/>
          </a:p>
        </p:txBody>
      </p:sp>
      <p:sp>
        <p:nvSpPr>
          <p:cNvPr id="57" name="Rectangle 56"/>
          <p:cNvSpPr/>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p:titleStyle>
    <p:bodyStyle>
      <a:lvl1pPr marL="344488" indent="-344488" algn="l" defTabSz="914400" rtl="0" eaLnBrk="1" latinLnBrk="0" hangingPunct="1">
        <a:lnSpc>
          <a:spcPct val="120000"/>
        </a:lnSpc>
        <a:spcBef>
          <a:spcPts val="1000"/>
        </a:spcBef>
        <a:spcAft>
          <a:spcPts val="600"/>
        </a:spcAft>
        <a:buClr>
          <a:schemeClr val="accent6"/>
        </a:buClr>
        <a:buSzPct val="90000"/>
        <a:buFont typeface="Wingdings" panose="05000000000000000000" pitchFamily="2" charset="2"/>
        <a:buChar char="§"/>
        <a:defRPr sz="2000" kern="1200">
          <a:solidFill>
            <a:schemeClr val="tx1"/>
          </a:solidFill>
          <a:effectLst/>
          <a:latin typeface="+mn-lt"/>
          <a:ea typeface="+mn-ea"/>
          <a:cs typeface="+mn-cs"/>
        </a:defRPr>
      </a:lvl1pPr>
      <a:lvl2pPr marL="7953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800" kern="1200">
          <a:solidFill>
            <a:schemeClr val="tx1"/>
          </a:solidFill>
          <a:effectLst/>
          <a:latin typeface="+mn-lt"/>
          <a:ea typeface="+mn-ea"/>
          <a:cs typeface="+mn-cs"/>
        </a:defRPr>
      </a:lvl2pPr>
      <a:lvl3pPr marL="12588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600" kern="1200">
          <a:solidFill>
            <a:schemeClr val="tx1"/>
          </a:solidFill>
          <a:effectLst/>
          <a:latin typeface="+mn-lt"/>
          <a:ea typeface="+mn-ea"/>
          <a:cs typeface="+mn-cs"/>
        </a:defRPr>
      </a:lvl3pPr>
      <a:lvl4pPr marL="17097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400" kern="1200">
          <a:solidFill>
            <a:schemeClr val="tx1"/>
          </a:solidFill>
          <a:effectLst/>
          <a:latin typeface="+mn-lt"/>
          <a:ea typeface="+mn-ea"/>
          <a:cs typeface="+mn-cs"/>
        </a:defRPr>
      </a:lvl4pPr>
      <a:lvl5pPr marL="21732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5pPr>
      <a:lvl6pPr marL="2642616"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6pPr>
      <a:lvl7pPr marL="3108960"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7pPr>
      <a:lvl8pPr marL="3575304"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8pPr>
      <a:lvl9pPr marL="404164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3.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D874C0-6684-581A-8435-DDDE28D6B880}"/>
              </a:ext>
            </a:extLst>
          </p:cNvPr>
          <p:cNvSpPr>
            <a:spLocks noGrp="1"/>
          </p:cNvSpPr>
          <p:nvPr>
            <p:ph type="ctrTitle"/>
          </p:nvPr>
        </p:nvSpPr>
        <p:spPr>
          <a:xfrm>
            <a:off x="2898883" y="3439547"/>
            <a:ext cx="5518066" cy="2268559"/>
          </a:xfrm>
        </p:spPr>
        <p:txBody>
          <a:bodyPr>
            <a:normAutofit/>
          </a:bodyPr>
          <a:lstStyle/>
          <a:p>
            <a:r>
              <a:rPr lang="en-US"/>
              <a:t>TEAM 11</a:t>
            </a:r>
          </a:p>
        </p:txBody>
      </p:sp>
      <p:sp>
        <p:nvSpPr>
          <p:cNvPr id="3" name="Subtitle 2">
            <a:extLst>
              <a:ext uri="{FF2B5EF4-FFF2-40B4-BE49-F238E27FC236}">
                <a16:creationId xmlns:a16="http://schemas.microsoft.com/office/drawing/2014/main" id="{071E799F-772A-0FFC-ADEB-0AD862817448}"/>
              </a:ext>
            </a:extLst>
          </p:cNvPr>
          <p:cNvSpPr>
            <a:spLocks noGrp="1"/>
          </p:cNvSpPr>
          <p:nvPr>
            <p:ph type="subTitle" idx="1"/>
          </p:nvPr>
        </p:nvSpPr>
        <p:spPr>
          <a:xfrm>
            <a:off x="2898883" y="2268785"/>
            <a:ext cx="5357600" cy="1160213"/>
          </a:xfrm>
        </p:spPr>
        <p:txBody>
          <a:bodyPr/>
          <a:lstStyle/>
          <a:p>
            <a:r>
              <a:rPr lang="en-US"/>
              <a:t>MSc DATA SCIENCE</a:t>
            </a:r>
          </a:p>
        </p:txBody>
      </p:sp>
      <p:sp>
        <p:nvSpPr>
          <p:cNvPr id="5" name="TextBox 4">
            <a:extLst>
              <a:ext uri="{FF2B5EF4-FFF2-40B4-BE49-F238E27FC236}">
                <a16:creationId xmlns:a16="http://schemas.microsoft.com/office/drawing/2014/main" id="{F9DA1664-29DD-2A66-9B3C-227E88B6FDCE}"/>
              </a:ext>
            </a:extLst>
          </p:cNvPr>
          <p:cNvSpPr txBox="1"/>
          <p:nvPr/>
        </p:nvSpPr>
        <p:spPr>
          <a:xfrm>
            <a:off x="1900077" y="4589211"/>
            <a:ext cx="6356406" cy="1200329"/>
          </a:xfrm>
          <a:prstGeom prst="rect">
            <a:avLst/>
          </a:prstGeom>
          <a:noFill/>
        </p:spPr>
        <p:txBody>
          <a:bodyPr wrap="square" rtlCol="0">
            <a:spAutoFit/>
          </a:bodyPr>
          <a:lstStyle/>
          <a:p>
            <a:pPr algn="r"/>
            <a:r>
              <a:rPr lang="en-US"/>
              <a:t>CHIRAG AGGARWAL</a:t>
            </a:r>
            <a:br>
              <a:rPr lang="en-US"/>
            </a:br>
            <a:r>
              <a:rPr lang="en-US"/>
              <a:t>THRIJWAL K </a:t>
            </a:r>
            <a:br>
              <a:rPr lang="en-US"/>
            </a:br>
            <a:r>
              <a:rPr lang="en-US"/>
              <a:t>SHANKARA NARAYANA N G </a:t>
            </a:r>
            <a:br>
              <a:rPr lang="en-US"/>
            </a:br>
            <a:r>
              <a:rPr lang="en-US"/>
              <a:t>VIAN DSOUZA </a:t>
            </a:r>
          </a:p>
        </p:txBody>
      </p:sp>
    </p:spTree>
    <p:extLst>
      <p:ext uri="{BB962C8B-B14F-4D97-AF65-F5344CB8AC3E}">
        <p14:creationId xmlns:p14="http://schemas.microsoft.com/office/powerpoint/2010/main" val="9996092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0E879D-C140-576E-DDCA-CCCC3127D0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6042C8-3F9B-E74F-C1F3-214B9CF3FDC5}"/>
              </a:ext>
            </a:extLst>
          </p:cNvPr>
          <p:cNvSpPr>
            <a:spLocks noGrp="1"/>
          </p:cNvSpPr>
          <p:nvPr>
            <p:ph type="title"/>
          </p:nvPr>
        </p:nvSpPr>
        <p:spPr>
          <a:xfrm>
            <a:off x="1907630" y="256378"/>
            <a:ext cx="7958331" cy="538824"/>
          </a:xfrm>
        </p:spPr>
        <p:txBody>
          <a:bodyPr>
            <a:normAutofit fontScale="90000"/>
          </a:bodyPr>
          <a:lstStyle/>
          <a:p>
            <a:pPr algn="ctr"/>
            <a:r>
              <a:rPr lang="en-US" dirty="0"/>
              <a:t>HOW IS A CELL LINE SELECTED?</a:t>
            </a:r>
          </a:p>
        </p:txBody>
      </p:sp>
      <p:sp>
        <p:nvSpPr>
          <p:cNvPr id="10" name="TextBox 9">
            <a:extLst>
              <a:ext uri="{FF2B5EF4-FFF2-40B4-BE49-F238E27FC236}">
                <a16:creationId xmlns:a16="http://schemas.microsoft.com/office/drawing/2014/main" id="{3A926C17-5C0D-2327-E0AD-D0E291C61167}"/>
              </a:ext>
            </a:extLst>
          </p:cNvPr>
          <p:cNvSpPr txBox="1"/>
          <p:nvPr/>
        </p:nvSpPr>
        <p:spPr>
          <a:xfrm>
            <a:off x="1062108" y="4161425"/>
            <a:ext cx="10200987" cy="255454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1600" dirty="0">
                <a:ea typeface="+mn-lt"/>
                <a:cs typeface="+mn-lt"/>
              </a:rPr>
              <a:t>A gene originates in DNA and is transcribed into mRNA, then translated into protein a cell line is selected only if evidence of this active journey is confirmed at both the RNA and protein layer, since either step can be silenced before the gene becomes functional</a:t>
            </a:r>
          </a:p>
          <a:p>
            <a:endParaRPr lang="en-US" sz="1600" dirty="0">
              <a:ea typeface="+mn-lt"/>
              <a:cs typeface="+mn-lt"/>
            </a:endParaRPr>
          </a:p>
          <a:p>
            <a:pPr marL="285750" indent="-285750">
              <a:buFont typeface="Arial"/>
              <a:buChar char="•"/>
            </a:pPr>
            <a:r>
              <a:rPr lang="en-US" sz="1600">
                <a:ea typeface="+mn-lt"/>
                <a:cs typeface="+mn-lt"/>
              </a:rPr>
              <a:t>The metabolome reflects the combined output of all active genes and pathways two cell lines expressing the same gene can behave very differently if their underlying metabolic states differ, making metabolic similarity a critical factor in identifying truly equivalent cell lines.</a:t>
            </a:r>
          </a:p>
          <a:p>
            <a:endParaRPr lang="en-US" sz="1600" dirty="0">
              <a:ea typeface="+mn-lt"/>
              <a:cs typeface="+mn-lt"/>
            </a:endParaRPr>
          </a:p>
          <a:p>
            <a:pPr marL="285750" indent="-285750">
              <a:buFont typeface="Arial"/>
              <a:buChar char="•"/>
            </a:pPr>
            <a:r>
              <a:rPr lang="en-US" sz="1600" dirty="0">
                <a:ea typeface="+mn-lt"/>
                <a:cs typeface="+mn-lt"/>
              </a:rPr>
              <a:t>Expression at one biological layer does not guarantee function at the next  which is why cell line selection requires evidence across multiple layers rather than relying on any single measurement alone</a:t>
            </a:r>
            <a:endParaRPr lang="en-US" sz="1600" dirty="0">
              <a:cs typeface="Arial" panose="020B0604020202020204"/>
            </a:endParaRPr>
          </a:p>
        </p:txBody>
      </p:sp>
      <p:pic>
        <p:nvPicPr>
          <p:cNvPr id="5" name="Picture 4" descr="A diagram of a protein&#10;&#10;AI-generated content may be incorrect.">
            <a:extLst>
              <a:ext uri="{FF2B5EF4-FFF2-40B4-BE49-F238E27FC236}">
                <a16:creationId xmlns:a16="http://schemas.microsoft.com/office/drawing/2014/main" id="{A9415457-E38E-69FF-1DCC-18A570F91242}"/>
              </a:ext>
            </a:extLst>
          </p:cNvPr>
          <p:cNvPicPr>
            <a:picLocks noChangeAspect="1"/>
          </p:cNvPicPr>
          <p:nvPr/>
        </p:nvPicPr>
        <p:blipFill>
          <a:blip r:embed="rId2"/>
          <a:stretch>
            <a:fillRect/>
          </a:stretch>
        </p:blipFill>
        <p:spPr>
          <a:xfrm>
            <a:off x="1073830" y="904194"/>
            <a:ext cx="10189482" cy="3148239"/>
          </a:xfrm>
          <a:prstGeom prst="rect">
            <a:avLst/>
          </a:prstGeom>
        </p:spPr>
      </p:pic>
    </p:spTree>
    <p:extLst>
      <p:ext uri="{BB962C8B-B14F-4D97-AF65-F5344CB8AC3E}">
        <p14:creationId xmlns:p14="http://schemas.microsoft.com/office/powerpoint/2010/main" val="24551462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8AF24C-1F8B-02C0-E8FE-2A1B998601E5}"/>
              </a:ext>
            </a:extLst>
          </p:cNvPr>
          <p:cNvSpPr>
            <a:spLocks noGrp="1"/>
          </p:cNvSpPr>
          <p:nvPr>
            <p:ph type="title"/>
          </p:nvPr>
        </p:nvSpPr>
        <p:spPr>
          <a:xfrm>
            <a:off x="1174895" y="154913"/>
            <a:ext cx="9961301" cy="561973"/>
          </a:xfrm>
        </p:spPr>
        <p:txBody>
          <a:bodyPr/>
          <a:lstStyle/>
          <a:p>
            <a:pPr algn="ctr"/>
            <a:r>
              <a:rPr lang="en-US"/>
              <a:t>HOW ARE WE USING THE DATA ?</a:t>
            </a:r>
          </a:p>
        </p:txBody>
      </p:sp>
      <p:sp>
        <p:nvSpPr>
          <p:cNvPr id="3" name="TextBox 2">
            <a:extLst>
              <a:ext uri="{FF2B5EF4-FFF2-40B4-BE49-F238E27FC236}">
                <a16:creationId xmlns:a16="http://schemas.microsoft.com/office/drawing/2014/main" id="{D8BA294B-50B6-B350-EFCF-B02FD97989E8}"/>
              </a:ext>
            </a:extLst>
          </p:cNvPr>
          <p:cNvSpPr txBox="1"/>
          <p:nvPr/>
        </p:nvSpPr>
        <p:spPr>
          <a:xfrm>
            <a:off x="2154336" y="4022240"/>
            <a:ext cx="2801647"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cs typeface="Arial"/>
              </a:rPr>
              <a:t>Core Dataset per layer</a:t>
            </a:r>
            <a:endParaRPr lang="en-US" sz="1600"/>
          </a:p>
        </p:txBody>
      </p:sp>
      <p:pic>
        <p:nvPicPr>
          <p:cNvPr id="7" name="Picture 6" descr="A diagram of a diagram&#10;&#10;AI-generated content may be incorrect.">
            <a:extLst>
              <a:ext uri="{FF2B5EF4-FFF2-40B4-BE49-F238E27FC236}">
                <a16:creationId xmlns:a16="http://schemas.microsoft.com/office/drawing/2014/main" id="{F64DDA35-5F48-75AB-539A-837432EE7D13}"/>
              </a:ext>
            </a:extLst>
          </p:cNvPr>
          <p:cNvPicPr>
            <a:picLocks noChangeAspect="1"/>
          </p:cNvPicPr>
          <p:nvPr/>
        </p:nvPicPr>
        <p:blipFill>
          <a:blip r:embed="rId2"/>
          <a:stretch>
            <a:fillRect/>
          </a:stretch>
        </p:blipFill>
        <p:spPr>
          <a:xfrm>
            <a:off x="1279298" y="877434"/>
            <a:ext cx="4879977" cy="3013075"/>
          </a:xfrm>
          <a:prstGeom prst="rect">
            <a:avLst/>
          </a:prstGeom>
        </p:spPr>
      </p:pic>
      <p:graphicFrame>
        <p:nvGraphicFramePr>
          <p:cNvPr id="10" name="Table 9">
            <a:extLst>
              <a:ext uri="{FF2B5EF4-FFF2-40B4-BE49-F238E27FC236}">
                <a16:creationId xmlns:a16="http://schemas.microsoft.com/office/drawing/2014/main" id="{BCCF7A71-0300-A0F8-C4DF-DE2AA4FC2512}"/>
              </a:ext>
            </a:extLst>
          </p:cNvPr>
          <p:cNvGraphicFramePr>
            <a:graphicFrameLocks noGrp="1"/>
          </p:cNvGraphicFramePr>
          <p:nvPr>
            <p:extLst>
              <p:ext uri="{D42A27DB-BD31-4B8C-83A1-F6EECF244321}">
                <p14:modId xmlns:p14="http://schemas.microsoft.com/office/powerpoint/2010/main" val="2870629095"/>
              </p:ext>
            </p:extLst>
          </p:nvPr>
        </p:nvGraphicFramePr>
        <p:xfrm>
          <a:off x="6480628" y="718457"/>
          <a:ext cx="4661395" cy="3627120"/>
        </p:xfrm>
        <a:graphic>
          <a:graphicData uri="http://schemas.openxmlformats.org/drawingml/2006/table">
            <a:tbl>
              <a:tblPr firstRow="1" bandRow="1">
                <a:tableStyleId>{EB344D84-9AFB-497E-A393-DC336BA19D2E}</a:tableStyleId>
              </a:tblPr>
              <a:tblGrid>
                <a:gridCol w="784961">
                  <a:extLst>
                    <a:ext uri="{9D8B030D-6E8A-4147-A177-3AD203B41FA5}">
                      <a16:colId xmlns:a16="http://schemas.microsoft.com/office/drawing/2014/main" val="2097246086"/>
                    </a:ext>
                  </a:extLst>
                </a:gridCol>
                <a:gridCol w="3876434">
                  <a:extLst>
                    <a:ext uri="{9D8B030D-6E8A-4147-A177-3AD203B41FA5}">
                      <a16:colId xmlns:a16="http://schemas.microsoft.com/office/drawing/2014/main" val="462971781"/>
                    </a:ext>
                  </a:extLst>
                </a:gridCol>
              </a:tblGrid>
              <a:tr h="321587">
                <a:tc>
                  <a:txBody>
                    <a:bodyPr/>
                    <a:lstStyle/>
                    <a:p>
                      <a:pPr algn="ctr"/>
                      <a:r>
                        <a:rPr lang="en-US" sz="1600" err="1"/>
                        <a:t>Slno</a:t>
                      </a:r>
                    </a:p>
                  </a:txBody>
                  <a:tcPr anchor="ctr">
                    <a:solidFill>
                      <a:srgbClr val="0070C0"/>
                    </a:solidFill>
                  </a:tcPr>
                </a:tc>
                <a:tc>
                  <a:txBody>
                    <a:bodyPr/>
                    <a:lstStyle/>
                    <a:p>
                      <a:pPr lvl="0" algn="l">
                        <a:lnSpc>
                          <a:spcPct val="100000"/>
                        </a:lnSpc>
                        <a:spcBef>
                          <a:spcPts val="0"/>
                        </a:spcBef>
                        <a:spcAft>
                          <a:spcPts val="0"/>
                        </a:spcAft>
                        <a:buNone/>
                      </a:pPr>
                      <a:r>
                        <a:rPr lang="en-US" sz="1600" b="1" i="0" u="none" strike="noStrike" noProof="0">
                          <a:solidFill>
                            <a:srgbClr val="FFFFFF"/>
                          </a:solidFill>
                          <a:latin typeface="Arial"/>
                          <a:cs typeface="Arial"/>
                        </a:rPr>
                        <a:t>Validation and combining Datasets</a:t>
                      </a:r>
                    </a:p>
                  </a:txBody>
                  <a:tcPr anchor="ctr">
                    <a:solidFill>
                      <a:srgbClr val="0070C0"/>
                    </a:solidFill>
                  </a:tcPr>
                </a:tc>
                <a:extLst>
                  <a:ext uri="{0D108BD9-81ED-4DB2-BD59-A6C34878D82A}">
                    <a16:rowId xmlns:a16="http://schemas.microsoft.com/office/drawing/2014/main" val="1081233148"/>
                  </a:ext>
                </a:extLst>
              </a:tr>
              <a:tr h="347314">
                <a:tc>
                  <a:txBody>
                    <a:bodyPr/>
                    <a:lstStyle/>
                    <a:p>
                      <a:pPr algn="ctr"/>
                      <a:r>
                        <a:rPr lang="en-US"/>
                        <a:t>1</a:t>
                      </a:r>
                    </a:p>
                  </a:txBody>
                  <a:tcPr anchor="ctr"/>
                </a:tc>
                <a:tc>
                  <a:txBody>
                    <a:bodyPr/>
                    <a:lstStyle/>
                    <a:p>
                      <a:pPr lvl="0" algn="ctr">
                        <a:buNone/>
                      </a:pPr>
                      <a:r>
                        <a:rPr lang="en-US" sz="1800" b="0" i="0" u="none" strike="noStrike" noProof="0">
                          <a:latin typeface="Arial"/>
                          <a:cs typeface="Arial"/>
                        </a:rPr>
                        <a:t>hpa_rna_celline</a:t>
                      </a:r>
                      <a:endParaRPr lang="en-US"/>
                    </a:p>
                  </a:txBody>
                  <a:tcPr anchor="ctr"/>
                </a:tc>
                <a:extLst>
                  <a:ext uri="{0D108BD9-81ED-4DB2-BD59-A6C34878D82A}">
                    <a16:rowId xmlns:a16="http://schemas.microsoft.com/office/drawing/2014/main" val="1525313758"/>
                  </a:ext>
                </a:extLst>
              </a:tr>
              <a:tr h="347314">
                <a:tc>
                  <a:txBody>
                    <a:bodyPr/>
                    <a:lstStyle/>
                    <a:p>
                      <a:pPr algn="ctr"/>
                      <a:r>
                        <a:rPr lang="en-US"/>
                        <a:t>2</a:t>
                      </a:r>
                    </a:p>
                  </a:txBody>
                  <a:tcPr anchor="ctr"/>
                </a:tc>
                <a:tc>
                  <a:txBody>
                    <a:bodyPr/>
                    <a:lstStyle/>
                    <a:p>
                      <a:pPr lvl="0" algn="ctr">
                        <a:buNone/>
                      </a:pPr>
                      <a:r>
                        <a:rPr lang="en-US" sz="1800" b="0" i="0" u="none" strike="noStrike" noProof="0">
                          <a:latin typeface="Arial"/>
                          <a:cs typeface="Arial"/>
                        </a:rPr>
                        <a:t>GEOexpression</a:t>
                      </a:r>
                      <a:endParaRPr lang="en-US"/>
                    </a:p>
                  </a:txBody>
                  <a:tcPr anchor="ctr"/>
                </a:tc>
                <a:extLst>
                  <a:ext uri="{0D108BD9-81ED-4DB2-BD59-A6C34878D82A}">
                    <a16:rowId xmlns:a16="http://schemas.microsoft.com/office/drawing/2014/main" val="2065674964"/>
                  </a:ext>
                </a:extLst>
              </a:tr>
              <a:tr h="347314">
                <a:tc>
                  <a:txBody>
                    <a:bodyPr/>
                    <a:lstStyle/>
                    <a:p>
                      <a:pPr algn="ctr"/>
                      <a:r>
                        <a:rPr lang="en-US"/>
                        <a:t>3</a:t>
                      </a:r>
                    </a:p>
                  </a:txBody>
                  <a:tcPr anchor="ctr"/>
                </a:tc>
                <a:tc>
                  <a:txBody>
                    <a:bodyPr/>
                    <a:lstStyle/>
                    <a:p>
                      <a:pPr lvl="0" algn="ctr">
                        <a:buNone/>
                      </a:pPr>
                      <a:r>
                        <a:rPr lang="en-US" sz="1800" b="0" i="0" u="none" strike="noStrike" noProof="0">
                          <a:latin typeface="Arial"/>
                          <a:cs typeface="Arial"/>
                        </a:rPr>
                        <a:t>OmicsFusionFilteredSupplementary</a:t>
                      </a:r>
                      <a:endParaRPr lang="en-US"/>
                    </a:p>
                  </a:txBody>
                  <a:tcPr anchor="ctr"/>
                </a:tc>
                <a:extLst>
                  <a:ext uri="{0D108BD9-81ED-4DB2-BD59-A6C34878D82A}">
                    <a16:rowId xmlns:a16="http://schemas.microsoft.com/office/drawing/2014/main" val="1521434079"/>
                  </a:ext>
                </a:extLst>
              </a:tr>
              <a:tr h="347314">
                <a:tc>
                  <a:txBody>
                    <a:bodyPr/>
                    <a:lstStyle/>
                    <a:p>
                      <a:pPr algn="ctr"/>
                      <a:r>
                        <a:rPr lang="en-US"/>
                        <a:t>4</a:t>
                      </a:r>
                    </a:p>
                  </a:txBody>
                  <a:tcPr anchor="ctr"/>
                </a:tc>
                <a:tc>
                  <a:txBody>
                    <a:bodyPr/>
                    <a:lstStyle/>
                    <a:p>
                      <a:pPr lvl="0" algn="ctr">
                        <a:buNone/>
                      </a:pPr>
                      <a:r>
                        <a:rPr lang="en-US" sz="1800" b="0" i="0" u="none" strike="noStrike" noProof="0">
                          <a:latin typeface="Arial"/>
                          <a:cs typeface="Arial"/>
                        </a:rPr>
                        <a:t>OmicsSomaticMutationsProfile</a:t>
                      </a:r>
                      <a:endParaRPr lang="en-US"/>
                    </a:p>
                  </a:txBody>
                  <a:tcPr anchor="ctr"/>
                </a:tc>
                <a:extLst>
                  <a:ext uri="{0D108BD9-81ED-4DB2-BD59-A6C34878D82A}">
                    <a16:rowId xmlns:a16="http://schemas.microsoft.com/office/drawing/2014/main" val="88165245"/>
                  </a:ext>
                </a:extLst>
              </a:tr>
              <a:tr h="347314">
                <a:tc>
                  <a:txBody>
                    <a:bodyPr/>
                    <a:lstStyle/>
                    <a:p>
                      <a:pPr algn="ctr"/>
                      <a:r>
                        <a:rPr lang="en-US"/>
                        <a:t>5</a:t>
                      </a:r>
                    </a:p>
                  </a:txBody>
                  <a:tcPr anchor="ctr"/>
                </a:tc>
                <a:tc>
                  <a:txBody>
                    <a:bodyPr/>
                    <a:lstStyle/>
                    <a:p>
                      <a:pPr lvl="0" algn="ctr">
                        <a:buNone/>
                      </a:pPr>
                      <a:r>
                        <a:rPr lang="en-US" sz="1800" b="0" i="0" u="none" strike="noStrike" noProof="0">
                          <a:latin typeface="Arial"/>
                          <a:cs typeface="Arial"/>
                        </a:rPr>
                        <a:t>cellosaurus</a:t>
                      </a:r>
                      <a:endParaRPr lang="en-US"/>
                    </a:p>
                  </a:txBody>
                  <a:tcPr anchor="ctr"/>
                </a:tc>
                <a:extLst>
                  <a:ext uri="{0D108BD9-81ED-4DB2-BD59-A6C34878D82A}">
                    <a16:rowId xmlns:a16="http://schemas.microsoft.com/office/drawing/2014/main" val="391873990"/>
                  </a:ext>
                </a:extLst>
              </a:tr>
              <a:tr h="347314">
                <a:tc>
                  <a:txBody>
                    <a:bodyPr/>
                    <a:lstStyle/>
                    <a:p>
                      <a:pPr algn="ctr"/>
                      <a:r>
                        <a:rPr lang="en-US"/>
                        <a:t>6</a:t>
                      </a:r>
                    </a:p>
                  </a:txBody>
                  <a:tcPr anchor="ctr"/>
                </a:tc>
                <a:tc>
                  <a:txBody>
                    <a:bodyPr/>
                    <a:lstStyle/>
                    <a:p>
                      <a:pPr lvl="0" algn="ctr">
                        <a:buNone/>
                      </a:pPr>
                      <a:r>
                        <a:rPr lang="en-US" sz="1800" b="0" i="0" u="none" strike="noStrike" noProof="0">
                          <a:latin typeface="Arial"/>
                          <a:cs typeface="Arial"/>
                        </a:rPr>
                        <a:t>DepMap_OmicsProfiles</a:t>
                      </a:r>
                      <a:endParaRPr lang="en-US"/>
                    </a:p>
                  </a:txBody>
                  <a:tcPr anchor="ctr"/>
                </a:tc>
                <a:extLst>
                  <a:ext uri="{0D108BD9-81ED-4DB2-BD59-A6C34878D82A}">
                    <a16:rowId xmlns:a16="http://schemas.microsoft.com/office/drawing/2014/main" val="1852161719"/>
                  </a:ext>
                </a:extLst>
              </a:tr>
              <a:tr h="347314">
                <a:tc>
                  <a:txBody>
                    <a:bodyPr/>
                    <a:lstStyle/>
                    <a:p>
                      <a:pPr algn="ctr"/>
                      <a:r>
                        <a:rPr lang="en-US"/>
                        <a:t>7</a:t>
                      </a:r>
                    </a:p>
                  </a:txBody>
                  <a:tcPr anchor="ctr"/>
                </a:tc>
                <a:tc>
                  <a:txBody>
                    <a:bodyPr/>
                    <a:lstStyle/>
                    <a:p>
                      <a:pPr lvl="0" algn="ctr">
                        <a:buNone/>
                      </a:pPr>
                      <a:r>
                        <a:rPr lang="en-US" sz="1800" b="0" i="0" u="none" strike="noStrike" noProof="0">
                          <a:latin typeface="Arial"/>
                          <a:cs typeface="Arial"/>
                        </a:rPr>
                        <a:t>DepMap_sample_info</a:t>
                      </a:r>
                      <a:endParaRPr lang="en-US"/>
                    </a:p>
                  </a:txBody>
                  <a:tcPr anchor="ctr"/>
                </a:tc>
                <a:extLst>
                  <a:ext uri="{0D108BD9-81ED-4DB2-BD59-A6C34878D82A}">
                    <a16:rowId xmlns:a16="http://schemas.microsoft.com/office/drawing/2014/main" val="4247398991"/>
                  </a:ext>
                </a:extLst>
              </a:tr>
              <a:tr h="347314">
                <a:tc>
                  <a:txBody>
                    <a:bodyPr/>
                    <a:lstStyle/>
                    <a:p>
                      <a:pPr lvl="0" algn="ctr">
                        <a:buNone/>
                      </a:pPr>
                      <a:r>
                        <a:rPr lang="en-US"/>
                        <a:t>8</a:t>
                      </a:r>
                    </a:p>
                  </a:txBody>
                  <a:tcPr anchor="ctr"/>
                </a:tc>
                <a:tc>
                  <a:txBody>
                    <a:bodyPr/>
                    <a:lstStyle/>
                    <a:p>
                      <a:pPr lvl="0" algn="ctr">
                        <a:buNone/>
                      </a:pPr>
                      <a:r>
                        <a:rPr lang="en-US" sz="1800" b="0" i="0" u="none" strike="noStrike" noProof="0">
                          <a:latin typeface="Arial"/>
                          <a:cs typeface="Arial"/>
                        </a:rPr>
                        <a:t>GEOInfo</a:t>
                      </a:r>
                      <a:endParaRPr lang="en-US"/>
                    </a:p>
                  </a:txBody>
                  <a:tcPr anchor="ctr"/>
                </a:tc>
                <a:extLst>
                  <a:ext uri="{0D108BD9-81ED-4DB2-BD59-A6C34878D82A}">
                    <a16:rowId xmlns:a16="http://schemas.microsoft.com/office/drawing/2014/main" val="1216021705"/>
                  </a:ext>
                </a:extLst>
              </a:tr>
              <a:tr h="347314">
                <a:tc>
                  <a:txBody>
                    <a:bodyPr/>
                    <a:lstStyle/>
                    <a:p>
                      <a:pPr lvl="0" algn="ctr">
                        <a:buNone/>
                      </a:pPr>
                      <a:r>
                        <a:rPr lang="en-US"/>
                        <a:t>9</a:t>
                      </a:r>
                    </a:p>
                  </a:txBody>
                  <a:tcPr anchor="ctr"/>
                </a:tc>
                <a:tc>
                  <a:txBody>
                    <a:bodyPr/>
                    <a:lstStyle/>
                    <a:p>
                      <a:pPr lvl="0" algn="ctr">
                        <a:buNone/>
                      </a:pPr>
                      <a:r>
                        <a:rPr lang="en-US" sz="1800" b="0" i="0" u="none" strike="noStrike" noProof="0">
                          <a:latin typeface="Arial"/>
                          <a:cs typeface="Arial"/>
                        </a:rPr>
                        <a:t>hpa_rna_celline_description</a:t>
                      </a:r>
                      <a:endParaRPr lang="en-US"/>
                    </a:p>
                  </a:txBody>
                  <a:tcPr anchor="ctr"/>
                </a:tc>
                <a:extLst>
                  <a:ext uri="{0D108BD9-81ED-4DB2-BD59-A6C34878D82A}">
                    <a16:rowId xmlns:a16="http://schemas.microsoft.com/office/drawing/2014/main" val="1921965991"/>
                  </a:ext>
                </a:extLst>
              </a:tr>
            </a:tbl>
          </a:graphicData>
        </a:graphic>
      </p:graphicFrame>
      <p:sp>
        <p:nvSpPr>
          <p:cNvPr id="12" name="TextBox 11">
            <a:extLst>
              <a:ext uri="{FF2B5EF4-FFF2-40B4-BE49-F238E27FC236}">
                <a16:creationId xmlns:a16="http://schemas.microsoft.com/office/drawing/2014/main" id="{E152838A-789B-B82C-EAA4-8538F1D4F35B}"/>
              </a:ext>
            </a:extLst>
          </p:cNvPr>
          <p:cNvSpPr txBox="1"/>
          <p:nvPr/>
        </p:nvSpPr>
        <p:spPr>
          <a:xfrm>
            <a:off x="1221766" y="4620477"/>
            <a:ext cx="9872862" cy="206210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1600">
                <a:ea typeface="+mn-lt"/>
                <a:cs typeface="+mn-lt"/>
              </a:rPr>
              <a:t>Core datasets capture the forward biological flow across genomics, transcriptomics, proteomics, and metabolomics layers</a:t>
            </a:r>
            <a:endParaRPr lang="en-US">
              <a:cs typeface="Arial"/>
            </a:endParaRPr>
          </a:p>
          <a:p>
            <a:pPr marL="285750" indent="-285750">
              <a:buFont typeface="Arial"/>
              <a:buChar char="•"/>
            </a:pPr>
            <a:endParaRPr lang="en-US" sz="1600">
              <a:ea typeface="+mn-lt"/>
              <a:cs typeface="+mn-lt"/>
            </a:endParaRPr>
          </a:p>
          <a:p>
            <a:pPr marL="285750" indent="-285750">
              <a:buFont typeface="Arial"/>
              <a:buChar char="•"/>
            </a:pPr>
            <a:r>
              <a:rPr lang="en-US" sz="1600">
                <a:ea typeface="+mn-lt"/>
                <a:cs typeface="+mn-lt"/>
              </a:rPr>
              <a:t>Supporting datasets enrich, </a:t>
            </a:r>
            <a:r>
              <a:rPr lang="en-US" sz="1600" err="1">
                <a:ea typeface="+mn-lt"/>
                <a:cs typeface="+mn-lt"/>
              </a:rPr>
              <a:t>harmonise</a:t>
            </a:r>
            <a:r>
              <a:rPr lang="en-US" sz="1600">
                <a:ea typeface="+mn-lt"/>
                <a:cs typeface="+mn-lt"/>
              </a:rPr>
              <a:t>, and validate core data ensuring measurements remain consistent and comparable across sources</a:t>
            </a:r>
            <a:endParaRPr lang="en-US">
              <a:ea typeface="+mn-lt"/>
              <a:cs typeface="+mn-lt"/>
            </a:endParaRPr>
          </a:p>
          <a:p>
            <a:pPr marL="285750" indent="-285750">
              <a:buFont typeface="Arial"/>
              <a:buChar char="•"/>
            </a:pPr>
            <a:endParaRPr lang="en-US" sz="1600">
              <a:ea typeface="+mn-lt"/>
              <a:cs typeface="+mn-lt"/>
            </a:endParaRPr>
          </a:p>
          <a:p>
            <a:pPr marL="285750" indent="-285750">
              <a:buFont typeface="Arial"/>
              <a:buChar char="•"/>
            </a:pPr>
            <a:r>
              <a:rPr lang="en-US" sz="1600">
                <a:ea typeface="+mn-lt"/>
                <a:cs typeface="+mn-lt"/>
              </a:rPr>
              <a:t>All datasets are joined on a common cell line identifier forming a unified data matrix where each row is a cell line and each column is an omics feature</a:t>
            </a:r>
            <a:endParaRPr lang="en-US">
              <a:cs typeface="Arial" panose="020B0604020202020204"/>
            </a:endParaRPr>
          </a:p>
        </p:txBody>
      </p:sp>
    </p:spTree>
    <p:extLst>
      <p:ext uri="{BB962C8B-B14F-4D97-AF65-F5344CB8AC3E}">
        <p14:creationId xmlns:p14="http://schemas.microsoft.com/office/powerpoint/2010/main" val="37074835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2"/>
          <a:stretch/>
        </a:blip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155C5824-2BDA-4A02-BED9-0338C8016D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9867" cy="685528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3" name="Picture 72">
            <a:extLst>
              <a:ext uri="{FF2B5EF4-FFF2-40B4-BE49-F238E27FC236}">
                <a16:creationId xmlns:a16="http://schemas.microsoft.com/office/drawing/2014/main" id="{5EAFDFF8-7773-4351-A8F0-4FEB9CE8F8C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74" name="Picture 73">
            <a:extLst>
              <a:ext uri="{FF2B5EF4-FFF2-40B4-BE49-F238E27FC236}">
                <a16:creationId xmlns:a16="http://schemas.microsoft.com/office/drawing/2014/main" id="{C4592FE6-399E-4FA6-9473-D4255C6263B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alphaModFix/>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75" name="Rectangle 74">
            <a:extLst>
              <a:ext uri="{FF2B5EF4-FFF2-40B4-BE49-F238E27FC236}">
                <a16:creationId xmlns:a16="http://schemas.microsoft.com/office/drawing/2014/main" id="{EB9F5F8F-9BE2-44D1-8635-552AE75531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a:extLst>
              <a:ext uri="{FF2B5EF4-FFF2-40B4-BE49-F238E27FC236}">
                <a16:creationId xmlns:a16="http://schemas.microsoft.com/office/drawing/2014/main" id="{3848F896-2D9E-456B-B79E-06687B8CE3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a:extLst>
              <a:ext uri="{FF2B5EF4-FFF2-40B4-BE49-F238E27FC236}">
                <a16:creationId xmlns:a16="http://schemas.microsoft.com/office/drawing/2014/main" id="{99478E1E-6AA0-46B8-9422-9A978C057F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7533" y="0"/>
            <a:ext cx="10378001"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DEAAF83-C636-3081-6703-8AE9B4CFCC79}"/>
              </a:ext>
            </a:extLst>
          </p:cNvPr>
          <p:cNvSpPr>
            <a:spLocks noGrp="1"/>
          </p:cNvSpPr>
          <p:nvPr>
            <p:ph type="title"/>
          </p:nvPr>
        </p:nvSpPr>
        <p:spPr>
          <a:xfrm>
            <a:off x="2122637" y="-4744"/>
            <a:ext cx="8072719" cy="489402"/>
          </a:xfrm>
        </p:spPr>
        <p:txBody>
          <a:bodyPr>
            <a:normAutofit fontScale="90000"/>
          </a:bodyPr>
          <a:lstStyle/>
          <a:p>
            <a:pPr algn="l"/>
            <a:r>
              <a:rPr lang="en-US"/>
              <a:t>WHAT DID WE FIND IN THE DATA?</a:t>
            </a:r>
          </a:p>
        </p:txBody>
      </p:sp>
      <p:pic>
        <p:nvPicPr>
          <p:cNvPr id="8" name="Content Placeholder 7" descr="A graph with a number of missing values&#10;&#10;AI-generated content may be incorrect.">
            <a:extLst>
              <a:ext uri="{FF2B5EF4-FFF2-40B4-BE49-F238E27FC236}">
                <a16:creationId xmlns:a16="http://schemas.microsoft.com/office/drawing/2014/main" id="{588E3694-045B-5DB7-02A6-C4DECCBFE13E}"/>
              </a:ext>
            </a:extLst>
          </p:cNvPr>
          <p:cNvPicPr>
            <a:picLocks noChangeAspect="1"/>
          </p:cNvPicPr>
          <p:nvPr/>
        </p:nvPicPr>
        <p:blipFill>
          <a:blip r:embed="rId5"/>
          <a:stretch>
            <a:fillRect/>
          </a:stretch>
        </p:blipFill>
        <p:spPr>
          <a:xfrm>
            <a:off x="1027928" y="1242076"/>
            <a:ext cx="5609845" cy="2500123"/>
          </a:xfrm>
          <a:prstGeom prst="rect">
            <a:avLst/>
          </a:prstGeom>
          <a:ln>
            <a:gradFill flip="none" rotWithShape="1">
              <a:gsLst>
                <a:gs pos="86000">
                  <a:schemeClr val="accent6">
                    <a:lumMod val="67000"/>
                  </a:schemeClr>
                </a:gs>
                <a:gs pos="20000">
                  <a:schemeClr val="accent6">
                    <a:lumMod val="97000"/>
                    <a:lumOff val="3000"/>
                  </a:schemeClr>
                </a:gs>
                <a:gs pos="100000">
                  <a:schemeClr val="accent6">
                    <a:lumMod val="60000"/>
                    <a:lumOff val="40000"/>
                  </a:schemeClr>
                </a:gs>
              </a:gsLst>
              <a:lin ang="16200000" scaled="1"/>
              <a:tileRect/>
            </a:gradFill>
          </a:ln>
          <a:effectLst>
            <a:innerShdw blurRad="127000">
              <a:prstClr val="black">
                <a:alpha val="90000"/>
              </a:prstClr>
            </a:innerShdw>
          </a:effectLst>
        </p:spPr>
      </p:pic>
      <p:pic>
        <p:nvPicPr>
          <p:cNvPr id="10" name="Picture 9">
            <a:extLst>
              <a:ext uri="{FF2B5EF4-FFF2-40B4-BE49-F238E27FC236}">
                <a16:creationId xmlns:a16="http://schemas.microsoft.com/office/drawing/2014/main" id="{62416B60-5B7A-E390-D317-7D3F4D1EFD15}"/>
              </a:ext>
            </a:extLst>
          </p:cNvPr>
          <p:cNvPicPr>
            <a:picLocks noChangeAspect="1"/>
          </p:cNvPicPr>
          <p:nvPr/>
        </p:nvPicPr>
        <p:blipFill>
          <a:blip r:embed="rId6"/>
          <a:stretch>
            <a:fillRect/>
          </a:stretch>
        </p:blipFill>
        <p:spPr>
          <a:xfrm>
            <a:off x="1949583" y="4260437"/>
            <a:ext cx="7859560" cy="2260510"/>
          </a:xfrm>
          <a:prstGeom prst="rect">
            <a:avLst/>
          </a:prstGeom>
          <a:ln>
            <a:gradFill flip="none" rotWithShape="1">
              <a:gsLst>
                <a:gs pos="86000">
                  <a:schemeClr val="accent6">
                    <a:lumMod val="67000"/>
                  </a:schemeClr>
                </a:gs>
                <a:gs pos="20000">
                  <a:schemeClr val="accent6">
                    <a:lumMod val="97000"/>
                    <a:lumOff val="3000"/>
                  </a:schemeClr>
                </a:gs>
                <a:gs pos="100000">
                  <a:schemeClr val="accent6">
                    <a:lumMod val="60000"/>
                    <a:lumOff val="40000"/>
                  </a:schemeClr>
                </a:gs>
              </a:gsLst>
              <a:lin ang="16200000" scaled="1"/>
              <a:tileRect/>
            </a:gradFill>
          </a:ln>
          <a:effectLst>
            <a:innerShdw blurRad="127000">
              <a:prstClr val="black">
                <a:alpha val="90000"/>
              </a:prstClr>
            </a:innerShdw>
          </a:effectLst>
        </p:spPr>
      </p:pic>
      <p:sp>
        <p:nvSpPr>
          <p:cNvPr id="14" name="Content Placeholder 13">
            <a:extLst>
              <a:ext uri="{FF2B5EF4-FFF2-40B4-BE49-F238E27FC236}">
                <a16:creationId xmlns:a16="http://schemas.microsoft.com/office/drawing/2014/main" id="{CF642B25-B84C-5499-A012-6BB372A5CDDE}"/>
              </a:ext>
            </a:extLst>
          </p:cNvPr>
          <p:cNvSpPr>
            <a:spLocks noGrp="1"/>
          </p:cNvSpPr>
          <p:nvPr>
            <p:ph idx="1"/>
          </p:nvPr>
        </p:nvSpPr>
        <p:spPr>
          <a:xfrm>
            <a:off x="6897835" y="666749"/>
            <a:ext cx="4514549" cy="3655995"/>
          </a:xfrm>
        </p:spPr>
        <p:txBody>
          <a:bodyPr>
            <a:normAutofit fontScale="47500" lnSpcReduction="20000"/>
          </a:bodyPr>
          <a:lstStyle/>
          <a:p>
            <a:pPr marL="344170" indent="-344170"/>
            <a:r>
              <a:rPr lang="en-US">
                <a:ea typeface="+mn-lt"/>
                <a:cs typeface="+mn-lt"/>
              </a:rPr>
              <a:t> Every dataset checked for shape, distributions, missing values and duplicates across all sources</a:t>
            </a:r>
            <a:endParaRPr lang="en-US">
              <a:cs typeface="Arial" panose="020B0604020202020204"/>
            </a:endParaRPr>
          </a:p>
          <a:p>
            <a:pPr marL="344170" indent="-344170"/>
            <a:r>
              <a:rPr lang="en-US">
                <a:ea typeface="+mn-lt"/>
                <a:cs typeface="+mn-lt"/>
              </a:rPr>
              <a:t>Most datasets are individually complete (</a:t>
            </a:r>
            <a:r>
              <a:rPr lang="en-US" err="1">
                <a:ea typeface="+mn-lt"/>
                <a:cs typeface="+mn-lt"/>
              </a:rPr>
              <a:t>DepMap</a:t>
            </a:r>
            <a:r>
              <a:rPr lang="en-US">
                <a:ea typeface="+mn-lt"/>
                <a:cs typeface="+mn-lt"/>
              </a:rPr>
              <a:t> RNA, HPA, metabolomics, miRNA, GEO all ~0%); global signatures 6.6%; proteomics highest at 27.8%; all below the 50% usability threshold.</a:t>
            </a:r>
          </a:p>
          <a:p>
            <a:pPr marL="344170" indent="-344170"/>
            <a:r>
              <a:rPr lang="en-US" err="1">
                <a:ea typeface="+mn-lt"/>
                <a:cs typeface="+mn-lt"/>
              </a:rPr>
              <a:t>DepMap</a:t>
            </a:r>
            <a:r>
              <a:rPr lang="en-US">
                <a:ea typeface="+mn-lt"/>
                <a:cs typeface="+mn-lt"/>
              </a:rPr>
              <a:t> RNA covers all 1,479 cell lines, HPA 1,066, metabolomics 911, and proteomics only 369; so the layers overlap only partially therefore combing will increase the chances of getting higher missing values.</a:t>
            </a:r>
          </a:p>
          <a:p>
            <a:pPr marL="344170" indent="-344170"/>
            <a:r>
              <a:rPr lang="en-US" err="1">
                <a:ea typeface="+mn-lt"/>
                <a:cs typeface="+mn-lt"/>
              </a:rPr>
              <a:t>Deepmap</a:t>
            </a:r>
            <a:r>
              <a:rPr lang="en-US">
                <a:ea typeface="+mn-lt"/>
                <a:cs typeface="+mn-lt"/>
              </a:rPr>
              <a:t> Data set which expressed the RNA values is given by log(TPM+1) which is the standard format to use instead of the raw TPM expression</a:t>
            </a:r>
          </a:p>
          <a:p>
            <a:pPr marL="344170" indent="-344170"/>
            <a:r>
              <a:rPr lang="en-US">
                <a:ea typeface="+mn-lt"/>
                <a:cs typeface="+mn-lt"/>
              </a:rPr>
              <a:t>16 duplicate Profile IDs resolved to 1,479 unique cell lines; identifiers </a:t>
            </a:r>
            <a:r>
              <a:rPr lang="en-US" err="1">
                <a:ea typeface="+mn-lt"/>
                <a:cs typeface="+mn-lt"/>
              </a:rPr>
              <a:t>harmonised</a:t>
            </a:r>
            <a:r>
              <a:rPr lang="en-US">
                <a:ea typeface="+mn-lt"/>
                <a:cs typeface="+mn-lt"/>
              </a:rPr>
              <a:t> across sources (~97% mapped, 41 unmapped).</a:t>
            </a:r>
          </a:p>
          <a:p>
            <a:pPr marL="344170" indent="-344170"/>
            <a:r>
              <a:rPr lang="en-US">
                <a:ea typeface="+mn-lt"/>
                <a:cs typeface="+mn-lt"/>
              </a:rPr>
              <a:t>PCA, Truncated SVD were applied and </a:t>
            </a:r>
            <a:r>
              <a:rPr lang="en-US" err="1">
                <a:ea typeface="+mn-lt"/>
                <a:cs typeface="+mn-lt"/>
              </a:rPr>
              <a:t>visualised</a:t>
            </a:r>
            <a:r>
              <a:rPr lang="en-US">
                <a:ea typeface="+mn-lt"/>
                <a:cs typeface="+mn-lt"/>
              </a:rPr>
              <a:t> to check for structure in the integrated multi-omics data.</a:t>
            </a:r>
          </a:p>
        </p:txBody>
      </p:sp>
      <p:sp>
        <p:nvSpPr>
          <p:cNvPr id="78" name="Rectangle 77">
            <a:extLst>
              <a:ext uri="{FF2B5EF4-FFF2-40B4-BE49-F238E27FC236}">
                <a16:creationId xmlns:a16="http://schemas.microsoft.com/office/drawing/2014/main" id="{F41C1373-9651-4596-9D53-A49C361080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387666" y="-2718"/>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866309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7B217C-C010-011E-036B-7AA117E69D92}"/>
              </a:ext>
            </a:extLst>
          </p:cNvPr>
          <p:cNvSpPr>
            <a:spLocks noGrp="1"/>
          </p:cNvSpPr>
          <p:nvPr>
            <p:ph type="title"/>
          </p:nvPr>
        </p:nvSpPr>
        <p:spPr>
          <a:xfrm>
            <a:off x="1349065" y="220228"/>
            <a:ext cx="9700044" cy="1019172"/>
          </a:xfrm>
        </p:spPr>
        <p:txBody>
          <a:bodyPr>
            <a:normAutofit fontScale="90000"/>
          </a:bodyPr>
          <a:lstStyle/>
          <a:p>
            <a:pPr algn="ctr"/>
            <a:r>
              <a:rPr lang="en-US"/>
              <a:t>CHALLENGES SO FAR AND HOW ARE WE ADDRESSING THEM </a:t>
            </a:r>
          </a:p>
        </p:txBody>
      </p:sp>
      <p:sp>
        <p:nvSpPr>
          <p:cNvPr id="3" name="Content Placeholder 2">
            <a:extLst>
              <a:ext uri="{FF2B5EF4-FFF2-40B4-BE49-F238E27FC236}">
                <a16:creationId xmlns:a16="http://schemas.microsoft.com/office/drawing/2014/main" id="{C80858F8-B946-1274-5813-4A7CA4706334}"/>
              </a:ext>
            </a:extLst>
          </p:cNvPr>
          <p:cNvSpPr>
            <a:spLocks noGrp="1"/>
          </p:cNvSpPr>
          <p:nvPr>
            <p:ph idx="1"/>
          </p:nvPr>
        </p:nvSpPr>
        <p:spPr>
          <a:xfrm>
            <a:off x="1351199" y="1217544"/>
            <a:ext cx="9697911" cy="5391200"/>
          </a:xfrm>
        </p:spPr>
        <p:txBody>
          <a:bodyPr>
            <a:normAutofit/>
          </a:bodyPr>
          <a:lstStyle/>
          <a:p>
            <a:pPr marL="344170" indent="-344170"/>
            <a:r>
              <a:rPr lang="en-US" sz="1700" b="1">
                <a:latin typeface="Calibri"/>
                <a:ea typeface="Calibri"/>
                <a:cs typeface="Calibri"/>
              </a:rPr>
              <a:t>Data Heterogeneity across Sources</a:t>
            </a:r>
            <a:endParaRPr lang="en-US" sz="1700"/>
          </a:p>
          <a:p>
            <a:pPr marL="795020" lvl="1" indent="-337820"/>
            <a:r>
              <a:rPr lang="en-US" sz="1500">
                <a:latin typeface="Calibri"/>
                <a:ea typeface="Calibri"/>
                <a:cs typeface="Calibri"/>
              </a:rPr>
              <a:t>RNA → logarithmic values</a:t>
            </a:r>
            <a:endParaRPr lang="en-US" sz="1500" b="1">
              <a:latin typeface="Calibri"/>
              <a:ea typeface="Calibri"/>
              <a:cs typeface="Calibri"/>
            </a:endParaRPr>
          </a:p>
          <a:p>
            <a:pPr marL="795020" lvl="1" indent="-337820"/>
            <a:r>
              <a:rPr lang="en-US" sz="1500">
                <a:latin typeface="Calibri"/>
                <a:ea typeface="Calibri"/>
                <a:cs typeface="Calibri"/>
              </a:rPr>
              <a:t>Proteomics &amp; Metabolomics → normalized values</a:t>
            </a:r>
            <a:endParaRPr lang="en-US" sz="1500" b="1">
              <a:latin typeface="Calibri"/>
              <a:ea typeface="Calibri"/>
              <a:cs typeface="Calibri"/>
            </a:endParaRPr>
          </a:p>
          <a:p>
            <a:pPr marL="795020" lvl="1" indent="-337820"/>
            <a:r>
              <a:rPr lang="en-US" sz="1500">
                <a:latin typeface="Calibri"/>
                <a:ea typeface="Calibri"/>
                <a:cs typeface="Calibri"/>
              </a:rPr>
              <a:t>Global Signatures → genomic metrics on different scales</a:t>
            </a:r>
            <a:endParaRPr lang="en-US" sz="1500" b="1">
              <a:latin typeface="Calibri"/>
              <a:ea typeface="Calibri"/>
              <a:cs typeface="Calibri"/>
            </a:endParaRPr>
          </a:p>
          <a:p>
            <a:pPr marL="795020" lvl="1" indent="-337820"/>
            <a:r>
              <a:rPr lang="en-US" sz="1500">
                <a:latin typeface="Calibri"/>
                <a:ea typeface="Calibri"/>
                <a:cs typeface="Calibri"/>
              </a:rPr>
              <a:t>To overcome → StandardScaler (z-score) for PCA;  MinMaxScaler [0,1] for main pipeline</a:t>
            </a:r>
            <a:endParaRPr lang="en-US" sz="1500" b="1">
              <a:latin typeface="Calibri"/>
              <a:ea typeface="Calibri"/>
              <a:cs typeface="Calibri"/>
            </a:endParaRPr>
          </a:p>
          <a:p>
            <a:pPr marL="344170" indent="-344170"/>
            <a:r>
              <a:rPr lang="en-US" sz="1700" b="1">
                <a:latin typeface="Calibri"/>
                <a:ea typeface="Calibri"/>
                <a:cs typeface="Calibri"/>
              </a:rPr>
              <a:t>Gene Name &amp; ID Mapping</a:t>
            </a:r>
          </a:p>
          <a:p>
            <a:pPr marL="795020" lvl="1" indent="-337820"/>
            <a:r>
              <a:rPr lang="en-US" sz="1500">
                <a:latin typeface="Calibri"/>
                <a:ea typeface="Calibri"/>
                <a:cs typeface="Calibri"/>
              </a:rPr>
              <a:t>Some columns had only ENSG IDs with no associated gene names</a:t>
            </a:r>
          </a:p>
          <a:p>
            <a:pPr marL="795020" lvl="1" indent="-337820"/>
            <a:r>
              <a:rPr lang="en-US" sz="1500">
                <a:latin typeface="Calibri"/>
                <a:ea typeface="Calibri"/>
                <a:cs typeface="Calibri"/>
              </a:rPr>
              <a:t>22 genes missing → BioMart export resolved 12</a:t>
            </a:r>
          </a:p>
          <a:p>
            <a:pPr marL="795020" lvl="1" indent="-337820"/>
            <a:r>
              <a:rPr lang="en-US" sz="1500">
                <a:latin typeface="Calibri"/>
                <a:ea typeface="Calibri"/>
                <a:cs typeface="Calibri"/>
              </a:rPr>
              <a:t>Gene-to-protein mapping table built to link RNA data to proteomics</a:t>
            </a:r>
          </a:p>
          <a:p>
            <a:pPr marL="344170" indent="-344170"/>
            <a:r>
              <a:rPr lang="en-US" sz="1700" b="1">
                <a:latin typeface="Calibri"/>
                <a:ea typeface="Calibri"/>
                <a:cs typeface="Calibri"/>
              </a:rPr>
              <a:t>Profile ID Duplication in RNA Base Table</a:t>
            </a:r>
          </a:p>
          <a:p>
            <a:pPr marL="795020" lvl="1" indent="-337820"/>
            <a:r>
              <a:rPr lang="en-US" sz="1500">
                <a:latin typeface="Calibri"/>
                <a:ea typeface="Calibri"/>
                <a:cs typeface="Calibri"/>
              </a:rPr>
              <a:t>16 duplicates found across 1,495 Profile IDs</a:t>
            </a:r>
            <a:endParaRPr lang="en-US" sz="1500" b="1">
              <a:latin typeface="Calibri"/>
              <a:ea typeface="Calibri"/>
              <a:cs typeface="Calibri"/>
            </a:endParaRPr>
          </a:p>
          <a:p>
            <a:pPr marL="795020" lvl="1" indent="-337820"/>
            <a:r>
              <a:rPr lang="en-US" sz="1500">
                <a:latin typeface="Calibri"/>
                <a:ea typeface="Calibri"/>
                <a:cs typeface="Calibri"/>
              </a:rPr>
              <a:t>Kept first entry per cell line → 1,479 unique cell lines</a:t>
            </a:r>
            <a:endParaRPr lang="en-US" sz="1500" b="1">
              <a:latin typeface="Calibri"/>
              <a:ea typeface="Calibri"/>
              <a:cs typeface="Calibri"/>
            </a:endParaRPr>
          </a:p>
        </p:txBody>
      </p:sp>
    </p:spTree>
    <p:extLst>
      <p:ext uri="{BB962C8B-B14F-4D97-AF65-F5344CB8AC3E}">
        <p14:creationId xmlns:p14="http://schemas.microsoft.com/office/powerpoint/2010/main" val="3557887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F4881F-C0CA-6A76-B76B-217DB11D26E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52C4002-5233-3AE8-5C2C-9C2D91D8A6A5}"/>
              </a:ext>
            </a:extLst>
          </p:cNvPr>
          <p:cNvSpPr>
            <a:spLocks noGrp="1"/>
          </p:cNvSpPr>
          <p:nvPr>
            <p:ph idx="1"/>
          </p:nvPr>
        </p:nvSpPr>
        <p:spPr>
          <a:xfrm>
            <a:off x="1351200" y="361204"/>
            <a:ext cx="9690653" cy="1690055"/>
          </a:xfrm>
        </p:spPr>
        <p:txBody>
          <a:bodyPr vert="horz" lIns="91440" tIns="45720" rIns="91440" bIns="45720" rtlCol="0" anchor="t">
            <a:normAutofit lnSpcReduction="10000"/>
          </a:bodyPr>
          <a:lstStyle/>
          <a:p>
            <a:pPr marL="344170" indent="-344170"/>
            <a:r>
              <a:rPr lang="en-US" sz="1700" b="1">
                <a:latin typeface="Calibri"/>
                <a:ea typeface="Calibri"/>
                <a:cs typeface="Calibri"/>
              </a:rPr>
              <a:t>Cell Line Name ↔ Model ID Matching</a:t>
            </a:r>
            <a:endParaRPr lang="en-US" sz="1700">
              <a:ea typeface="Calibri"/>
              <a:cs typeface="Arial" panose="020B0604020202020204"/>
            </a:endParaRPr>
          </a:p>
          <a:p>
            <a:pPr marL="795020" lvl="1" indent="-337820"/>
            <a:r>
              <a:rPr lang="en-US" sz="1500">
                <a:latin typeface="Calibri"/>
                <a:ea typeface="Calibri"/>
                <a:cs typeface="Calibri"/>
              </a:rPr>
              <a:t>Cross-reference column in </a:t>
            </a:r>
            <a:r>
              <a:rPr lang="en-US" sz="1500" err="1">
                <a:latin typeface="Calibri"/>
                <a:ea typeface="Calibri"/>
                <a:cs typeface="Calibri"/>
              </a:rPr>
              <a:t>Cellosaurus</a:t>
            </a:r>
            <a:r>
              <a:rPr lang="en-US" sz="1500">
                <a:latin typeface="Calibri"/>
                <a:ea typeface="Calibri"/>
                <a:cs typeface="Calibri"/>
              </a:rPr>
              <a:t> table used</a:t>
            </a:r>
            <a:endParaRPr lang="en-US" sz="1500" b="1">
              <a:latin typeface="Calibri"/>
              <a:ea typeface="Calibri"/>
              <a:cs typeface="Calibri"/>
            </a:endParaRPr>
          </a:p>
          <a:p>
            <a:pPr marL="795020" lvl="1" indent="-337820"/>
            <a:r>
              <a:rPr lang="en-US" sz="1500">
                <a:latin typeface="Calibri"/>
                <a:ea typeface="Calibri"/>
                <a:cs typeface="Calibri"/>
              </a:rPr>
              <a:t>~97% resolved  |  41 cell lines remain unmapped</a:t>
            </a:r>
            <a:endParaRPr lang="en-US" sz="1500" b="1">
              <a:latin typeface="Calibri"/>
              <a:ea typeface="Calibri"/>
              <a:cs typeface="Calibri"/>
            </a:endParaRPr>
          </a:p>
          <a:p>
            <a:pPr marL="795020" lvl="1" indent="-337820"/>
            <a:r>
              <a:rPr lang="en-US" sz="1500">
                <a:latin typeface="Calibri"/>
                <a:ea typeface="Calibri"/>
                <a:cs typeface="Calibri"/>
              </a:rPr>
              <a:t>Master Lookup Table created → used for all dataset merges</a:t>
            </a:r>
            <a:endParaRPr lang="en-US" sz="1500" b="1">
              <a:latin typeface="Calibri"/>
              <a:ea typeface="Calibri"/>
              <a:cs typeface="Calibri"/>
            </a:endParaRPr>
          </a:p>
          <a:p>
            <a:pPr marL="457200" lvl="1" indent="0">
              <a:buNone/>
            </a:pPr>
            <a:endParaRPr lang="en-US">
              <a:cs typeface="Arial" panose="020B0604020202020204"/>
            </a:endParaRPr>
          </a:p>
          <a:p>
            <a:pPr marL="795020" lvl="1" indent="-337820">
              <a:buFont typeface="Courier New" panose="05000000000000000000" pitchFamily="2" charset="2"/>
              <a:buChar char="o"/>
            </a:pPr>
            <a:endParaRPr lang="en-US">
              <a:cs typeface="Arial" panose="020B0604020202020204"/>
            </a:endParaRPr>
          </a:p>
          <a:p>
            <a:pPr marL="344170" indent="-344170"/>
            <a:endParaRPr lang="en-US">
              <a:cs typeface="Arial" panose="020B0604020202020204"/>
            </a:endParaRPr>
          </a:p>
        </p:txBody>
      </p:sp>
      <p:sp>
        <p:nvSpPr>
          <p:cNvPr id="10" name="Content Placeholder 2">
            <a:extLst>
              <a:ext uri="{FF2B5EF4-FFF2-40B4-BE49-F238E27FC236}">
                <a16:creationId xmlns:a16="http://schemas.microsoft.com/office/drawing/2014/main" id="{355FCA58-11B3-AE63-DDA0-90EFA50A7BE3}"/>
              </a:ext>
            </a:extLst>
          </p:cNvPr>
          <p:cNvSpPr txBox="1">
            <a:spLocks/>
          </p:cNvSpPr>
          <p:nvPr/>
        </p:nvSpPr>
        <p:spPr>
          <a:xfrm>
            <a:off x="1329429" y="4896918"/>
            <a:ext cx="9712424" cy="1915025"/>
          </a:xfrm>
          <a:prstGeom prst="rect">
            <a:avLst/>
          </a:prstGeom>
        </p:spPr>
        <p:txBody>
          <a:bodyPr vert="horz" lIns="91440" tIns="45720" rIns="91440" bIns="45720" rtlCol="0" anchor="t">
            <a:normAutofit/>
          </a:bodyPr>
          <a:lstStyle>
            <a:lvl1pPr marL="344488" indent="-344488" algn="l" defTabSz="914400" rtl="0" eaLnBrk="1" latinLnBrk="0" hangingPunct="1">
              <a:lnSpc>
                <a:spcPct val="120000"/>
              </a:lnSpc>
              <a:spcBef>
                <a:spcPts val="1000"/>
              </a:spcBef>
              <a:spcAft>
                <a:spcPts val="600"/>
              </a:spcAft>
              <a:buClr>
                <a:schemeClr val="accent6"/>
              </a:buClr>
              <a:buSzPct val="90000"/>
              <a:buFont typeface="Wingdings" panose="05000000000000000000" pitchFamily="2" charset="2"/>
              <a:buChar char="§"/>
              <a:defRPr sz="2000" kern="1200">
                <a:solidFill>
                  <a:schemeClr val="tx1"/>
                </a:solidFill>
                <a:effectLst/>
                <a:latin typeface="+mn-lt"/>
                <a:ea typeface="+mn-ea"/>
                <a:cs typeface="+mn-cs"/>
              </a:defRPr>
            </a:lvl1pPr>
            <a:lvl2pPr marL="7953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800" kern="1200">
                <a:solidFill>
                  <a:schemeClr val="tx1"/>
                </a:solidFill>
                <a:effectLst/>
                <a:latin typeface="+mn-lt"/>
                <a:ea typeface="+mn-ea"/>
                <a:cs typeface="+mn-cs"/>
              </a:defRPr>
            </a:lvl2pPr>
            <a:lvl3pPr marL="12588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600" kern="1200">
                <a:solidFill>
                  <a:schemeClr val="tx1"/>
                </a:solidFill>
                <a:effectLst/>
                <a:latin typeface="+mn-lt"/>
                <a:ea typeface="+mn-ea"/>
                <a:cs typeface="+mn-cs"/>
              </a:defRPr>
            </a:lvl3pPr>
            <a:lvl4pPr marL="17097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400" kern="1200">
                <a:solidFill>
                  <a:schemeClr val="tx1"/>
                </a:solidFill>
                <a:effectLst/>
                <a:latin typeface="+mn-lt"/>
                <a:ea typeface="+mn-ea"/>
                <a:cs typeface="+mn-cs"/>
              </a:defRPr>
            </a:lvl4pPr>
            <a:lvl5pPr marL="21732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5pPr>
            <a:lvl6pPr marL="2642616"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6pPr>
            <a:lvl7pPr marL="3108960"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7pPr>
            <a:lvl8pPr marL="3575304"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8pPr>
            <a:lvl9pPr marL="404164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9pPr>
          </a:lstStyle>
          <a:p>
            <a:pPr marL="344170" indent="-344170"/>
            <a:r>
              <a:rPr lang="en-US" sz="1700" b="1">
                <a:latin typeface="Calibri"/>
                <a:ea typeface="Calibri"/>
                <a:cs typeface="Calibri"/>
              </a:rPr>
              <a:t>Missing Data across Modalities</a:t>
            </a:r>
            <a:endParaRPr lang="en-US" sz="1700">
              <a:latin typeface="Arial" panose="020B0604020202020204"/>
              <a:ea typeface="Calibri"/>
              <a:cs typeface="Arial" panose="020B0604020202020204"/>
            </a:endParaRPr>
          </a:p>
          <a:p>
            <a:pPr marL="795020" lvl="1" indent="-337820"/>
            <a:r>
              <a:rPr lang="en-US" sz="1500">
                <a:latin typeface="Calibri"/>
                <a:ea typeface="Calibri"/>
                <a:cs typeface="Calibri"/>
              </a:rPr>
              <a:t>75% of cell lines: no proteomics data</a:t>
            </a:r>
            <a:endParaRPr lang="en-US" sz="1500" b="1">
              <a:latin typeface="Calibri"/>
              <a:ea typeface="Calibri"/>
              <a:cs typeface="Calibri"/>
            </a:endParaRPr>
          </a:p>
          <a:p>
            <a:pPr marL="795020" lvl="1" indent="-337820"/>
            <a:r>
              <a:rPr lang="en-US" sz="1500">
                <a:latin typeface="Calibri"/>
                <a:ea typeface="Calibri"/>
                <a:cs typeface="Calibri"/>
              </a:rPr>
              <a:t>38% of cell lines: no metabolomics data</a:t>
            </a:r>
            <a:endParaRPr lang="en-US" sz="1500" b="1">
              <a:latin typeface="Calibri"/>
              <a:ea typeface="Calibri"/>
              <a:cs typeface="Calibri"/>
            </a:endParaRPr>
          </a:p>
          <a:p>
            <a:pPr marL="795020" lvl="1" indent="-337820"/>
            <a:r>
              <a:rPr lang="en-US" sz="1500">
                <a:latin typeface="Calibri"/>
                <a:ea typeface="Calibri"/>
                <a:cs typeface="Calibri"/>
              </a:rPr>
              <a:t>31% of cell lines: no HPA RNA data</a:t>
            </a:r>
            <a:endParaRPr lang="en-US" sz="1500" b="1">
              <a:latin typeface="Calibri"/>
              <a:ea typeface="Calibri"/>
              <a:cs typeface="Calibri"/>
            </a:endParaRPr>
          </a:p>
          <a:p>
            <a:pPr marL="457200" lvl="1" indent="0">
              <a:buNone/>
            </a:pPr>
            <a:endParaRPr lang="en-US">
              <a:latin typeface="Arial" panose="020B0604020202020204"/>
              <a:ea typeface="Calibri"/>
              <a:cs typeface="Arial" panose="020B0604020202020204"/>
            </a:endParaRPr>
          </a:p>
          <a:p>
            <a:pPr marL="795020" lvl="1" indent="-337820">
              <a:buFont typeface="Courier New" panose="05000000000000000000" pitchFamily="2" charset="2"/>
              <a:buChar char="o"/>
            </a:pPr>
            <a:endParaRPr lang="en-US">
              <a:ea typeface="Calibri"/>
              <a:cs typeface="Arial" panose="020B0604020202020204"/>
            </a:endParaRPr>
          </a:p>
          <a:p>
            <a:pPr marL="344170" indent="-344170"/>
            <a:endParaRPr lang="en-US">
              <a:cs typeface="Arial" panose="020B0604020202020204"/>
            </a:endParaRPr>
          </a:p>
        </p:txBody>
      </p:sp>
      <p:graphicFrame>
        <p:nvGraphicFramePr>
          <p:cNvPr id="12" name="Table 11">
            <a:extLst>
              <a:ext uri="{FF2B5EF4-FFF2-40B4-BE49-F238E27FC236}">
                <a16:creationId xmlns:a16="http://schemas.microsoft.com/office/drawing/2014/main" id="{9A293DDC-A5FC-A2F7-9939-E21E712148FC}"/>
              </a:ext>
            </a:extLst>
          </p:cNvPr>
          <p:cNvGraphicFramePr>
            <a:graphicFrameLocks noGrp="1"/>
          </p:cNvGraphicFramePr>
          <p:nvPr>
            <p:extLst>
              <p:ext uri="{D42A27DB-BD31-4B8C-83A1-F6EECF244321}">
                <p14:modId xmlns:p14="http://schemas.microsoft.com/office/powerpoint/2010/main" val="2147599591"/>
              </p:ext>
            </p:extLst>
          </p:nvPr>
        </p:nvGraphicFramePr>
        <p:xfrm>
          <a:off x="1306286" y="2053771"/>
          <a:ext cx="9773647" cy="2602974"/>
        </p:xfrm>
        <a:graphic>
          <a:graphicData uri="http://schemas.openxmlformats.org/drawingml/2006/table">
            <a:tbl>
              <a:tblPr bandRow="1">
                <a:tableStyleId>{073A0DAA-6AF3-43AB-8588-CEC1D06C72B9}</a:tableStyleId>
              </a:tblPr>
              <a:tblGrid>
                <a:gridCol w="967616">
                  <a:extLst>
                    <a:ext uri="{9D8B030D-6E8A-4147-A177-3AD203B41FA5}">
                      <a16:colId xmlns:a16="http://schemas.microsoft.com/office/drawing/2014/main" val="3833343780"/>
                    </a:ext>
                  </a:extLst>
                </a:gridCol>
                <a:gridCol w="907142">
                  <a:extLst>
                    <a:ext uri="{9D8B030D-6E8A-4147-A177-3AD203B41FA5}">
                      <a16:colId xmlns:a16="http://schemas.microsoft.com/office/drawing/2014/main" val="668366124"/>
                    </a:ext>
                  </a:extLst>
                </a:gridCol>
                <a:gridCol w="982738">
                  <a:extLst>
                    <a:ext uri="{9D8B030D-6E8A-4147-A177-3AD203B41FA5}">
                      <a16:colId xmlns:a16="http://schemas.microsoft.com/office/drawing/2014/main" val="3319911857"/>
                    </a:ext>
                  </a:extLst>
                </a:gridCol>
                <a:gridCol w="1254878">
                  <a:extLst>
                    <a:ext uri="{9D8B030D-6E8A-4147-A177-3AD203B41FA5}">
                      <a16:colId xmlns:a16="http://schemas.microsoft.com/office/drawing/2014/main" val="3302431733"/>
                    </a:ext>
                  </a:extLst>
                </a:gridCol>
                <a:gridCol w="1047020">
                  <a:extLst>
                    <a:ext uri="{9D8B030D-6E8A-4147-A177-3AD203B41FA5}">
                      <a16:colId xmlns:a16="http://schemas.microsoft.com/office/drawing/2014/main" val="63176609"/>
                    </a:ext>
                  </a:extLst>
                </a:gridCol>
                <a:gridCol w="1753809">
                  <a:extLst>
                    <a:ext uri="{9D8B030D-6E8A-4147-A177-3AD203B41FA5}">
                      <a16:colId xmlns:a16="http://schemas.microsoft.com/office/drawing/2014/main" val="2875717438"/>
                    </a:ext>
                  </a:extLst>
                </a:gridCol>
                <a:gridCol w="1224642">
                  <a:extLst>
                    <a:ext uri="{9D8B030D-6E8A-4147-A177-3AD203B41FA5}">
                      <a16:colId xmlns:a16="http://schemas.microsoft.com/office/drawing/2014/main" val="755812990"/>
                    </a:ext>
                  </a:extLst>
                </a:gridCol>
                <a:gridCol w="771071">
                  <a:extLst>
                    <a:ext uri="{9D8B030D-6E8A-4147-A177-3AD203B41FA5}">
                      <a16:colId xmlns:a16="http://schemas.microsoft.com/office/drawing/2014/main" val="1628720106"/>
                    </a:ext>
                  </a:extLst>
                </a:gridCol>
                <a:gridCol w="864731">
                  <a:extLst>
                    <a:ext uri="{9D8B030D-6E8A-4147-A177-3AD203B41FA5}">
                      <a16:colId xmlns:a16="http://schemas.microsoft.com/office/drawing/2014/main" val="48622156"/>
                    </a:ext>
                  </a:extLst>
                </a:gridCol>
              </a:tblGrid>
              <a:tr h="260298">
                <a:tc>
                  <a:txBody>
                    <a:bodyPr/>
                    <a:lstStyle/>
                    <a:p>
                      <a:pPr algn="ctr">
                        <a:buNone/>
                      </a:pPr>
                      <a:r>
                        <a:rPr lang="en-US" sz="1300" b="1">
                          <a:effectLst/>
                          <a:latin typeface="Calibri"/>
                          <a:ea typeface="Calibri"/>
                          <a:cs typeface="Calibri"/>
                        </a:rPr>
                        <a:t>ACH ID</a:t>
                      </a:r>
                    </a:p>
                  </a:txBody>
                  <a:tcPr marL="0" marR="0" marT="0" marB="0" anchor="ctr"/>
                </a:tc>
                <a:tc>
                  <a:txBody>
                    <a:bodyPr/>
                    <a:lstStyle/>
                    <a:p>
                      <a:pPr algn="ctr">
                        <a:buNone/>
                      </a:pPr>
                      <a:r>
                        <a:rPr lang="en-US" sz="1300" b="1">
                          <a:effectLst/>
                          <a:latin typeface="Calibri"/>
                          <a:ea typeface="Calibri"/>
                          <a:cs typeface="Calibri"/>
                        </a:rPr>
                        <a:t>PR ID</a:t>
                      </a:r>
                    </a:p>
                  </a:txBody>
                  <a:tcPr marL="0" marR="0" marT="0" marB="0" anchor="ctr"/>
                </a:tc>
                <a:tc>
                  <a:txBody>
                    <a:bodyPr/>
                    <a:lstStyle/>
                    <a:p>
                      <a:pPr algn="ctr">
                        <a:buNone/>
                      </a:pPr>
                      <a:r>
                        <a:rPr lang="en-US" sz="1300" b="1">
                          <a:effectLst/>
                          <a:latin typeface="Calibri"/>
                          <a:ea typeface="Calibri"/>
                          <a:cs typeface="Calibri"/>
                        </a:rPr>
                        <a:t>CVCL ID</a:t>
                      </a:r>
                    </a:p>
                  </a:txBody>
                  <a:tcPr marL="0" marR="0" marT="0" marB="0" anchor="ctr"/>
                </a:tc>
                <a:tc>
                  <a:txBody>
                    <a:bodyPr/>
                    <a:lstStyle/>
                    <a:p>
                      <a:pPr algn="ctr">
                        <a:buNone/>
                      </a:pPr>
                      <a:r>
                        <a:rPr lang="en-US" sz="1300" b="1">
                          <a:effectLst/>
                          <a:latin typeface="Calibri"/>
                          <a:ea typeface="Calibri"/>
                          <a:cs typeface="Calibri"/>
                        </a:rPr>
                        <a:t>CCLE Name</a:t>
                      </a:r>
                    </a:p>
                  </a:txBody>
                  <a:tcPr marL="0" marR="0" marT="0" marB="0" anchor="ctr"/>
                </a:tc>
                <a:tc>
                  <a:txBody>
                    <a:bodyPr/>
                    <a:lstStyle/>
                    <a:p>
                      <a:pPr algn="ctr">
                        <a:buNone/>
                      </a:pPr>
                      <a:r>
                        <a:rPr lang="en-US" sz="1300" b="1">
                          <a:effectLst/>
                          <a:latin typeface="Calibri"/>
                          <a:ea typeface="Calibri"/>
                          <a:cs typeface="Calibri"/>
                        </a:rPr>
                        <a:t>Cell line name</a:t>
                      </a:r>
                    </a:p>
                  </a:txBody>
                  <a:tcPr marL="0" marR="0" marT="0" marB="0" anchor="ctr"/>
                </a:tc>
                <a:tc>
                  <a:txBody>
                    <a:bodyPr/>
                    <a:lstStyle/>
                    <a:p>
                      <a:pPr algn="ctr">
                        <a:buNone/>
                      </a:pPr>
                      <a:r>
                        <a:rPr lang="en-US" sz="1300" b="1">
                          <a:effectLst/>
                          <a:latin typeface="Calibri"/>
                          <a:ea typeface="Calibri"/>
                          <a:cs typeface="Calibri"/>
                        </a:rPr>
                        <a:t>Stripped cell line name</a:t>
                      </a:r>
                    </a:p>
                  </a:txBody>
                  <a:tcPr marL="0" marR="0" marT="0" marB="0" anchor="ctr"/>
                </a:tc>
                <a:tc>
                  <a:txBody>
                    <a:bodyPr/>
                    <a:lstStyle/>
                    <a:p>
                      <a:pPr algn="ctr">
                        <a:buNone/>
                      </a:pPr>
                      <a:r>
                        <a:rPr lang="en-US" sz="1300" b="1">
                          <a:effectLst/>
                          <a:latin typeface="Calibri"/>
                          <a:ea typeface="Calibri"/>
                          <a:cs typeface="Calibri"/>
                        </a:rPr>
                        <a:t>Primary disease</a:t>
                      </a:r>
                    </a:p>
                  </a:txBody>
                  <a:tcPr marL="0" marR="0" marT="0" marB="0" anchor="ctr"/>
                </a:tc>
                <a:tc>
                  <a:txBody>
                    <a:bodyPr/>
                    <a:lstStyle/>
                    <a:p>
                      <a:pPr algn="ctr">
                        <a:buNone/>
                      </a:pPr>
                      <a:r>
                        <a:rPr lang="en-US" sz="1300" b="1">
                          <a:effectLst/>
                          <a:latin typeface="Calibri"/>
                          <a:ea typeface="Calibri"/>
                          <a:cs typeface="Calibri"/>
                        </a:rPr>
                        <a:t>Lineage</a:t>
                      </a:r>
                    </a:p>
                  </a:txBody>
                  <a:tcPr marL="0" marR="0" marT="0" marB="0" anchor="ctr"/>
                </a:tc>
                <a:tc>
                  <a:txBody>
                    <a:bodyPr/>
                    <a:lstStyle/>
                    <a:p>
                      <a:pPr algn="ctr">
                        <a:buNone/>
                      </a:pPr>
                      <a:r>
                        <a:rPr lang="en-US" sz="1300" b="1">
                          <a:effectLst/>
                          <a:latin typeface="Calibri"/>
                          <a:ea typeface="Calibri"/>
                          <a:cs typeface="Calibri"/>
                        </a:rPr>
                        <a:t>Unmapped</a:t>
                      </a:r>
                    </a:p>
                  </a:txBody>
                  <a:tcPr marL="0" marR="0" marT="0" marB="0" anchor="ctr"/>
                </a:tc>
                <a:extLst>
                  <a:ext uri="{0D108BD9-81ED-4DB2-BD59-A6C34878D82A}">
                    <a16:rowId xmlns:a16="http://schemas.microsoft.com/office/drawing/2014/main" val="1848724943"/>
                  </a:ext>
                </a:extLst>
              </a:tr>
              <a:tr h="390446">
                <a:tc>
                  <a:txBody>
                    <a:bodyPr/>
                    <a:lstStyle/>
                    <a:p>
                      <a:pPr algn="ctr">
                        <a:buNone/>
                      </a:pPr>
                      <a:r>
                        <a:rPr lang="en-US" sz="1300">
                          <a:effectLst/>
                          <a:latin typeface="Calibri"/>
                          <a:ea typeface="Calibri"/>
                          <a:cs typeface="Calibri"/>
                        </a:rPr>
                        <a:t>ACH-000520</a:t>
                      </a:r>
                    </a:p>
                  </a:txBody>
                  <a:tcPr marL="0" marR="0" marT="0" marB="0" anchor="ctr"/>
                </a:tc>
                <a:tc>
                  <a:txBody>
                    <a:bodyPr/>
                    <a:lstStyle/>
                    <a:p>
                      <a:pPr algn="ctr">
                        <a:buNone/>
                      </a:pPr>
                      <a:r>
                        <a:rPr lang="en-US" sz="1300">
                          <a:effectLst/>
                          <a:latin typeface="Calibri"/>
                          <a:ea typeface="Calibri"/>
                          <a:cs typeface="Calibri"/>
                        </a:rPr>
                        <a:t>PR-09gmEI</a:t>
                      </a:r>
                    </a:p>
                  </a:txBody>
                  <a:tcPr marL="0" marR="0" marT="0" marB="0" anchor="ctr"/>
                </a:tc>
                <a:tc>
                  <a:txBody>
                    <a:bodyPr/>
                    <a:lstStyle/>
                    <a:p>
                      <a:pPr algn="ctr">
                        <a:buNone/>
                      </a:pPr>
                      <a:r>
                        <a:rPr lang="en-US" sz="1300">
                          <a:effectLst/>
                          <a:latin typeface="Calibri"/>
                          <a:ea typeface="Calibri"/>
                          <a:cs typeface="Calibri"/>
                        </a:rPr>
                        <a:t>CVCL_2291</a:t>
                      </a:r>
                    </a:p>
                  </a:txBody>
                  <a:tcPr marL="0" marR="0" marT="0" marB="0" anchor="ctr"/>
                </a:tc>
                <a:tc>
                  <a:txBody>
                    <a:bodyPr/>
                    <a:lstStyle/>
                    <a:p>
                      <a:pPr algn="ctr">
                        <a:buNone/>
                      </a:pPr>
                      <a:r>
                        <a:rPr lang="en-US" sz="1300">
                          <a:effectLst/>
                          <a:latin typeface="Calibri"/>
                          <a:ea typeface="Calibri"/>
                          <a:cs typeface="Calibri"/>
                        </a:rPr>
                        <a:t>59M_OVARY</a:t>
                      </a:r>
                    </a:p>
                  </a:txBody>
                  <a:tcPr marL="0" marR="0" marT="0" marB="0" anchor="ctr"/>
                </a:tc>
                <a:tc>
                  <a:txBody>
                    <a:bodyPr/>
                    <a:lstStyle/>
                    <a:p>
                      <a:pPr algn="ctr">
                        <a:buNone/>
                      </a:pPr>
                      <a:r>
                        <a:rPr lang="en-US" sz="1300">
                          <a:effectLst/>
                          <a:latin typeface="Calibri"/>
                          <a:ea typeface="Calibri"/>
                          <a:cs typeface="Calibri"/>
                        </a:rPr>
                        <a:t>59M</a:t>
                      </a:r>
                    </a:p>
                  </a:txBody>
                  <a:tcPr marL="0" marR="0" marT="0" marB="0" anchor="ctr"/>
                </a:tc>
                <a:tc>
                  <a:txBody>
                    <a:bodyPr/>
                    <a:lstStyle/>
                    <a:p>
                      <a:pPr algn="ctr">
                        <a:buNone/>
                      </a:pPr>
                      <a:r>
                        <a:rPr lang="en-US" sz="1300">
                          <a:effectLst/>
                          <a:latin typeface="Calibri"/>
                          <a:ea typeface="Calibri"/>
                          <a:cs typeface="Calibri"/>
                        </a:rPr>
                        <a:t>59M</a:t>
                      </a:r>
                    </a:p>
                  </a:txBody>
                  <a:tcPr marL="0" marR="0" marT="0" marB="0" anchor="ctr"/>
                </a:tc>
                <a:tc>
                  <a:txBody>
                    <a:bodyPr/>
                    <a:lstStyle/>
                    <a:p>
                      <a:pPr algn="ctr">
                        <a:buNone/>
                      </a:pPr>
                      <a:r>
                        <a:rPr lang="en-US" sz="1300">
                          <a:effectLst/>
                          <a:latin typeface="Calibri"/>
                          <a:ea typeface="Calibri"/>
                          <a:cs typeface="Calibri"/>
                        </a:rPr>
                        <a:t>Ovarian Cancer</a:t>
                      </a:r>
                    </a:p>
                  </a:txBody>
                  <a:tcPr marL="0" marR="0" marT="0" marB="0" anchor="ctr"/>
                </a:tc>
                <a:tc>
                  <a:txBody>
                    <a:bodyPr/>
                    <a:lstStyle/>
                    <a:p>
                      <a:pPr algn="ctr">
                        <a:buNone/>
                      </a:pPr>
                      <a:r>
                        <a:rPr lang="en-US" sz="1300">
                          <a:effectLst/>
                          <a:latin typeface="Calibri"/>
                          <a:ea typeface="Calibri"/>
                          <a:cs typeface="Calibri"/>
                        </a:rPr>
                        <a:t>ovary</a:t>
                      </a:r>
                    </a:p>
                  </a:txBody>
                  <a:tcPr marL="0" marR="0" marT="0" marB="0" anchor="ctr"/>
                </a:tc>
                <a:tc>
                  <a:txBody>
                    <a:bodyPr/>
                    <a:lstStyle/>
                    <a:p>
                      <a:pPr algn="ctr">
                        <a:buNone/>
                      </a:pPr>
                      <a:r>
                        <a:rPr lang="en-US" sz="1300">
                          <a:effectLst/>
                          <a:latin typeface="Calibri"/>
                          <a:ea typeface="Calibri"/>
                          <a:cs typeface="Calibri"/>
                        </a:rPr>
                        <a:t>FALSE</a:t>
                      </a:r>
                    </a:p>
                  </a:txBody>
                  <a:tcPr marL="0" marR="0" marT="0" marB="0" anchor="ctr"/>
                </a:tc>
                <a:extLst>
                  <a:ext uri="{0D108BD9-81ED-4DB2-BD59-A6C34878D82A}">
                    <a16:rowId xmlns:a16="http://schemas.microsoft.com/office/drawing/2014/main" val="535145862"/>
                  </a:ext>
                </a:extLst>
              </a:tr>
              <a:tr h="390446">
                <a:tc>
                  <a:txBody>
                    <a:bodyPr/>
                    <a:lstStyle/>
                    <a:p>
                      <a:pPr algn="ctr">
                        <a:buNone/>
                      </a:pPr>
                      <a:r>
                        <a:rPr lang="en-US" sz="1300">
                          <a:effectLst/>
                          <a:latin typeface="Calibri"/>
                          <a:ea typeface="Calibri"/>
                          <a:cs typeface="Calibri"/>
                        </a:rPr>
                        <a:t>ACH-000575</a:t>
                      </a:r>
                    </a:p>
                  </a:txBody>
                  <a:tcPr marL="0" marR="0" marT="0" marB="0" anchor="ctr"/>
                </a:tc>
                <a:tc>
                  <a:txBody>
                    <a:bodyPr/>
                    <a:lstStyle/>
                    <a:p>
                      <a:pPr algn="ctr">
                        <a:buNone/>
                      </a:pPr>
                      <a:r>
                        <a:rPr lang="en-US" sz="1300">
                          <a:effectLst/>
                          <a:latin typeface="Calibri"/>
                          <a:ea typeface="Calibri"/>
                          <a:cs typeface="Calibri"/>
                        </a:rPr>
                        <a:t>PR-0B6q0Z</a:t>
                      </a:r>
                    </a:p>
                  </a:txBody>
                  <a:tcPr marL="0" marR="0" marT="0" marB="0" anchor="ctr"/>
                </a:tc>
                <a:tc>
                  <a:txBody>
                    <a:bodyPr/>
                    <a:lstStyle/>
                    <a:p>
                      <a:pPr algn="ctr">
                        <a:buNone/>
                      </a:pPr>
                      <a:r>
                        <a:rPr lang="en-US" sz="1300">
                          <a:effectLst/>
                          <a:latin typeface="Calibri"/>
                          <a:ea typeface="Calibri"/>
                          <a:cs typeface="Calibri"/>
                        </a:rPr>
                        <a:t>CVCL_5134</a:t>
                      </a:r>
                    </a:p>
                  </a:txBody>
                  <a:tcPr marL="0" marR="0" marT="0" marB="0" anchor="ctr"/>
                </a:tc>
                <a:tc>
                  <a:txBody>
                    <a:bodyPr/>
                    <a:lstStyle/>
                    <a:p>
                      <a:pPr algn="ctr">
                        <a:buNone/>
                      </a:pPr>
                      <a:r>
                        <a:rPr lang="en-US" sz="1300">
                          <a:effectLst/>
                          <a:latin typeface="Calibri"/>
                          <a:ea typeface="Calibri"/>
                          <a:cs typeface="Calibri"/>
                        </a:rPr>
                        <a:t>HCC364_LUNG</a:t>
                      </a:r>
                    </a:p>
                  </a:txBody>
                  <a:tcPr marL="0" marR="0" marT="0" marB="0" anchor="ctr"/>
                </a:tc>
                <a:tc>
                  <a:txBody>
                    <a:bodyPr/>
                    <a:lstStyle/>
                    <a:p>
                      <a:pPr algn="ctr">
                        <a:buNone/>
                      </a:pPr>
                      <a:r>
                        <a:rPr lang="en-US" sz="1300">
                          <a:effectLst/>
                          <a:latin typeface="Calibri"/>
                          <a:ea typeface="Calibri"/>
                          <a:cs typeface="Calibri"/>
                        </a:rPr>
                        <a:t>HCC364</a:t>
                      </a:r>
                    </a:p>
                  </a:txBody>
                  <a:tcPr marL="0" marR="0" marT="0" marB="0" anchor="ctr"/>
                </a:tc>
                <a:tc>
                  <a:txBody>
                    <a:bodyPr/>
                    <a:lstStyle/>
                    <a:p>
                      <a:pPr algn="ctr">
                        <a:buNone/>
                      </a:pPr>
                      <a:r>
                        <a:rPr lang="en-US" sz="1300">
                          <a:effectLst/>
                          <a:latin typeface="Calibri"/>
                          <a:ea typeface="Calibri"/>
                          <a:cs typeface="Calibri"/>
                        </a:rPr>
                        <a:t>HCC364</a:t>
                      </a:r>
                    </a:p>
                  </a:txBody>
                  <a:tcPr marL="0" marR="0" marT="0" marB="0" anchor="ctr"/>
                </a:tc>
                <a:tc>
                  <a:txBody>
                    <a:bodyPr/>
                    <a:lstStyle/>
                    <a:p>
                      <a:pPr algn="ctr">
                        <a:buNone/>
                      </a:pPr>
                      <a:r>
                        <a:rPr lang="en-US" sz="1300">
                          <a:effectLst/>
                          <a:latin typeface="Calibri"/>
                          <a:ea typeface="Calibri"/>
                          <a:cs typeface="Calibri"/>
                        </a:rPr>
                        <a:t>Lung Cancer</a:t>
                      </a:r>
                    </a:p>
                  </a:txBody>
                  <a:tcPr marL="0" marR="0" marT="0" marB="0" anchor="ctr"/>
                </a:tc>
                <a:tc>
                  <a:txBody>
                    <a:bodyPr/>
                    <a:lstStyle/>
                    <a:p>
                      <a:pPr algn="ctr">
                        <a:buNone/>
                      </a:pPr>
                      <a:r>
                        <a:rPr lang="en-US" sz="1300">
                          <a:effectLst/>
                          <a:latin typeface="Calibri"/>
                          <a:ea typeface="Calibri"/>
                          <a:cs typeface="Calibri"/>
                        </a:rPr>
                        <a:t>lung</a:t>
                      </a:r>
                    </a:p>
                  </a:txBody>
                  <a:tcPr marL="0" marR="0" marT="0" marB="0" anchor="ctr"/>
                </a:tc>
                <a:tc>
                  <a:txBody>
                    <a:bodyPr/>
                    <a:lstStyle/>
                    <a:p>
                      <a:pPr algn="ctr">
                        <a:buNone/>
                      </a:pPr>
                      <a:r>
                        <a:rPr lang="en-US" sz="1300">
                          <a:effectLst/>
                          <a:latin typeface="Calibri"/>
                          <a:ea typeface="Calibri"/>
                          <a:cs typeface="Calibri"/>
                        </a:rPr>
                        <a:t>FALSE</a:t>
                      </a:r>
                    </a:p>
                  </a:txBody>
                  <a:tcPr marL="0" marR="0" marT="0" marB="0" anchor="ctr"/>
                </a:tc>
                <a:extLst>
                  <a:ext uri="{0D108BD9-81ED-4DB2-BD59-A6C34878D82A}">
                    <a16:rowId xmlns:a16="http://schemas.microsoft.com/office/drawing/2014/main" val="3945801152"/>
                  </a:ext>
                </a:extLst>
              </a:tr>
              <a:tr h="390446">
                <a:tc>
                  <a:txBody>
                    <a:bodyPr/>
                    <a:lstStyle/>
                    <a:p>
                      <a:pPr algn="ctr">
                        <a:buNone/>
                      </a:pPr>
                      <a:r>
                        <a:rPr lang="en-US" sz="1300">
                          <a:effectLst/>
                          <a:latin typeface="Calibri"/>
                          <a:ea typeface="Calibri"/>
                          <a:cs typeface="Calibri"/>
                        </a:rPr>
                        <a:t>ACH-000856</a:t>
                      </a:r>
                    </a:p>
                  </a:txBody>
                  <a:tcPr marL="0" marR="0" marT="0" marB="0" anchor="ctr"/>
                </a:tc>
                <a:tc>
                  <a:txBody>
                    <a:bodyPr/>
                    <a:lstStyle/>
                    <a:p>
                      <a:pPr algn="ctr">
                        <a:buNone/>
                      </a:pPr>
                      <a:r>
                        <a:rPr lang="en-US" sz="1300">
                          <a:effectLst/>
                          <a:latin typeface="Calibri"/>
                          <a:ea typeface="Calibri"/>
                          <a:cs typeface="Calibri"/>
                        </a:rPr>
                        <a:t>PR-0f2vAo</a:t>
                      </a:r>
                    </a:p>
                  </a:txBody>
                  <a:tcPr marL="0" marR="0" marT="0" marB="0" anchor="ctr"/>
                </a:tc>
                <a:tc>
                  <a:txBody>
                    <a:bodyPr/>
                    <a:lstStyle/>
                    <a:p>
                      <a:pPr algn="ctr">
                        <a:buNone/>
                      </a:pPr>
                      <a:r>
                        <a:rPr lang="en-US" sz="1300">
                          <a:effectLst/>
                          <a:latin typeface="Calibri"/>
                          <a:ea typeface="Calibri"/>
                          <a:cs typeface="Calibri"/>
                        </a:rPr>
                        <a:t>CVCL_1110</a:t>
                      </a:r>
                    </a:p>
                  </a:txBody>
                  <a:tcPr marL="0" marR="0" marT="0" marB="0" anchor="ctr"/>
                </a:tc>
                <a:tc>
                  <a:txBody>
                    <a:bodyPr/>
                    <a:lstStyle/>
                    <a:p>
                      <a:pPr algn="ctr">
                        <a:buNone/>
                      </a:pPr>
                      <a:r>
                        <a:rPr lang="en-US" sz="1300">
                          <a:effectLst/>
                          <a:latin typeface="Calibri"/>
                          <a:ea typeface="Calibri"/>
                          <a:cs typeface="Calibri"/>
                        </a:rPr>
                        <a:t>CAL51_BREAST</a:t>
                      </a:r>
                    </a:p>
                  </a:txBody>
                  <a:tcPr marL="0" marR="0" marT="0" marB="0" anchor="ctr"/>
                </a:tc>
                <a:tc>
                  <a:txBody>
                    <a:bodyPr/>
                    <a:lstStyle/>
                    <a:p>
                      <a:pPr algn="ctr">
                        <a:buNone/>
                      </a:pPr>
                      <a:r>
                        <a:rPr lang="en-US" sz="1300">
                          <a:effectLst/>
                          <a:latin typeface="Calibri"/>
                          <a:ea typeface="Calibri"/>
                          <a:cs typeface="Calibri"/>
                        </a:rPr>
                        <a:t>CAL-51</a:t>
                      </a:r>
                    </a:p>
                  </a:txBody>
                  <a:tcPr marL="0" marR="0" marT="0" marB="0" anchor="ctr"/>
                </a:tc>
                <a:tc>
                  <a:txBody>
                    <a:bodyPr/>
                    <a:lstStyle/>
                    <a:p>
                      <a:pPr algn="ctr">
                        <a:buNone/>
                      </a:pPr>
                      <a:r>
                        <a:rPr lang="en-US" sz="1300">
                          <a:effectLst/>
                          <a:latin typeface="Calibri"/>
                          <a:ea typeface="Calibri"/>
                          <a:cs typeface="Calibri"/>
                        </a:rPr>
                        <a:t>CAL51</a:t>
                      </a:r>
                    </a:p>
                  </a:txBody>
                  <a:tcPr marL="0" marR="0" marT="0" marB="0" anchor="ctr"/>
                </a:tc>
                <a:tc>
                  <a:txBody>
                    <a:bodyPr/>
                    <a:lstStyle/>
                    <a:p>
                      <a:pPr algn="ctr">
                        <a:buNone/>
                      </a:pPr>
                      <a:r>
                        <a:rPr lang="en-US" sz="1300">
                          <a:effectLst/>
                          <a:latin typeface="Calibri"/>
                          <a:ea typeface="Calibri"/>
                          <a:cs typeface="Calibri"/>
                        </a:rPr>
                        <a:t>Breast Cancer</a:t>
                      </a:r>
                    </a:p>
                  </a:txBody>
                  <a:tcPr marL="0" marR="0" marT="0" marB="0" anchor="ctr"/>
                </a:tc>
                <a:tc>
                  <a:txBody>
                    <a:bodyPr/>
                    <a:lstStyle/>
                    <a:p>
                      <a:pPr algn="ctr">
                        <a:buNone/>
                      </a:pPr>
                      <a:r>
                        <a:rPr lang="en-US" sz="1300">
                          <a:effectLst/>
                          <a:latin typeface="Calibri"/>
                          <a:ea typeface="Calibri"/>
                          <a:cs typeface="Calibri"/>
                        </a:rPr>
                        <a:t>breast</a:t>
                      </a:r>
                    </a:p>
                  </a:txBody>
                  <a:tcPr marL="0" marR="0" marT="0" marB="0" anchor="ctr"/>
                </a:tc>
                <a:tc>
                  <a:txBody>
                    <a:bodyPr/>
                    <a:lstStyle/>
                    <a:p>
                      <a:pPr algn="ctr">
                        <a:buNone/>
                      </a:pPr>
                      <a:r>
                        <a:rPr lang="en-US" sz="1300">
                          <a:effectLst/>
                          <a:latin typeface="Calibri"/>
                          <a:ea typeface="Calibri"/>
                          <a:cs typeface="Calibri"/>
                        </a:rPr>
                        <a:t>FALSE</a:t>
                      </a:r>
                    </a:p>
                  </a:txBody>
                  <a:tcPr marL="0" marR="0" marT="0" marB="0" anchor="ctr"/>
                </a:tc>
                <a:extLst>
                  <a:ext uri="{0D108BD9-81ED-4DB2-BD59-A6C34878D82A}">
                    <a16:rowId xmlns:a16="http://schemas.microsoft.com/office/drawing/2014/main" val="1986167694"/>
                  </a:ext>
                </a:extLst>
              </a:tr>
              <a:tr h="390446">
                <a:tc>
                  <a:txBody>
                    <a:bodyPr/>
                    <a:lstStyle/>
                    <a:p>
                      <a:pPr algn="ctr">
                        <a:buNone/>
                      </a:pPr>
                      <a:r>
                        <a:rPr lang="en-US" sz="1300">
                          <a:effectLst/>
                          <a:latin typeface="Calibri"/>
                          <a:ea typeface="Calibri"/>
                          <a:cs typeface="Calibri"/>
                        </a:rPr>
                        <a:t>ACH-001335</a:t>
                      </a:r>
                    </a:p>
                  </a:txBody>
                  <a:tcPr marL="0" marR="0" marT="0" marB="0" anchor="ctr"/>
                </a:tc>
                <a:tc>
                  <a:txBody>
                    <a:bodyPr/>
                    <a:lstStyle/>
                    <a:p>
                      <a:pPr algn="ctr">
                        <a:buNone/>
                      </a:pPr>
                      <a:r>
                        <a:rPr lang="en-US" sz="1300">
                          <a:effectLst/>
                          <a:latin typeface="Calibri"/>
                          <a:ea typeface="Calibri"/>
                          <a:cs typeface="Calibri"/>
                        </a:rPr>
                        <a:t>PR-0fum2y</a:t>
                      </a:r>
                    </a:p>
                  </a:txBody>
                  <a:tcPr marL="0" marR="0" marT="0" marB="0" anchor="ctr"/>
                </a:tc>
                <a:tc>
                  <a:txBody>
                    <a:bodyPr/>
                    <a:lstStyle/>
                    <a:p>
                      <a:pPr algn="ctr">
                        <a:buNone/>
                      </a:pPr>
                      <a:r>
                        <a:rPr lang="en-US" sz="1300">
                          <a:effectLst/>
                          <a:latin typeface="Calibri"/>
                          <a:ea typeface="Calibri"/>
                          <a:cs typeface="Calibri"/>
                        </a:rPr>
                        <a:t>CVCL_1095</a:t>
                      </a:r>
                    </a:p>
                  </a:txBody>
                  <a:tcPr marL="0" marR="0" marT="0" marB="0" anchor="ctr"/>
                </a:tc>
                <a:tc>
                  <a:txBody>
                    <a:bodyPr/>
                    <a:lstStyle/>
                    <a:p>
                      <a:pPr algn="ctr">
                        <a:buNone/>
                      </a:pPr>
                      <a:r>
                        <a:rPr lang="en-US" sz="1300">
                          <a:effectLst/>
                          <a:latin typeface="Calibri"/>
                          <a:ea typeface="Calibri"/>
                          <a:cs typeface="Calibri"/>
                        </a:rPr>
                        <a:t>C4II_CERVIX</a:t>
                      </a:r>
                    </a:p>
                  </a:txBody>
                  <a:tcPr marL="0" marR="0" marT="0" marB="0" anchor="ctr"/>
                </a:tc>
                <a:tc>
                  <a:txBody>
                    <a:bodyPr/>
                    <a:lstStyle/>
                    <a:p>
                      <a:pPr algn="ctr">
                        <a:buNone/>
                      </a:pPr>
                      <a:r>
                        <a:rPr lang="en-US" sz="1300">
                          <a:effectLst/>
                          <a:latin typeface="Calibri"/>
                          <a:ea typeface="Calibri"/>
                          <a:cs typeface="Calibri"/>
                        </a:rPr>
                        <a:t>C-4 II</a:t>
                      </a:r>
                    </a:p>
                  </a:txBody>
                  <a:tcPr marL="0" marR="0" marT="0" marB="0" anchor="ctr"/>
                </a:tc>
                <a:tc>
                  <a:txBody>
                    <a:bodyPr/>
                    <a:lstStyle/>
                    <a:p>
                      <a:pPr algn="ctr">
                        <a:buNone/>
                      </a:pPr>
                      <a:r>
                        <a:rPr lang="en-US" sz="1300">
                          <a:effectLst/>
                          <a:latin typeface="Calibri"/>
                          <a:ea typeface="Calibri"/>
                          <a:cs typeface="Calibri"/>
                        </a:rPr>
                        <a:t>C4II</a:t>
                      </a:r>
                    </a:p>
                  </a:txBody>
                  <a:tcPr marL="0" marR="0" marT="0" marB="0" anchor="ctr"/>
                </a:tc>
                <a:tc>
                  <a:txBody>
                    <a:bodyPr/>
                    <a:lstStyle/>
                    <a:p>
                      <a:pPr algn="ctr">
                        <a:buNone/>
                      </a:pPr>
                      <a:r>
                        <a:rPr lang="en-US" sz="1300">
                          <a:effectLst/>
                          <a:latin typeface="Calibri"/>
                          <a:ea typeface="Calibri"/>
                          <a:cs typeface="Calibri"/>
                        </a:rPr>
                        <a:t>Cervical Cancer</a:t>
                      </a:r>
                    </a:p>
                  </a:txBody>
                  <a:tcPr marL="0" marR="0" marT="0" marB="0" anchor="ctr"/>
                </a:tc>
                <a:tc>
                  <a:txBody>
                    <a:bodyPr/>
                    <a:lstStyle/>
                    <a:p>
                      <a:pPr algn="ctr">
                        <a:buNone/>
                      </a:pPr>
                      <a:r>
                        <a:rPr lang="en-US" sz="1300">
                          <a:effectLst/>
                          <a:latin typeface="Calibri"/>
                          <a:ea typeface="Calibri"/>
                          <a:cs typeface="Calibri"/>
                        </a:rPr>
                        <a:t>cervix</a:t>
                      </a:r>
                    </a:p>
                  </a:txBody>
                  <a:tcPr marL="0" marR="0" marT="0" marB="0" anchor="ctr"/>
                </a:tc>
                <a:tc>
                  <a:txBody>
                    <a:bodyPr/>
                    <a:lstStyle/>
                    <a:p>
                      <a:pPr algn="ctr">
                        <a:buNone/>
                      </a:pPr>
                      <a:r>
                        <a:rPr lang="en-US" sz="1300">
                          <a:effectLst/>
                          <a:latin typeface="Calibri"/>
                          <a:ea typeface="Calibri"/>
                          <a:cs typeface="Calibri"/>
                        </a:rPr>
                        <a:t>FALSE</a:t>
                      </a:r>
                    </a:p>
                  </a:txBody>
                  <a:tcPr marL="0" marR="0" marT="0" marB="0" anchor="ctr"/>
                </a:tc>
                <a:extLst>
                  <a:ext uri="{0D108BD9-81ED-4DB2-BD59-A6C34878D82A}">
                    <a16:rowId xmlns:a16="http://schemas.microsoft.com/office/drawing/2014/main" val="261853150"/>
                  </a:ext>
                </a:extLst>
              </a:tr>
              <a:tr h="390446">
                <a:tc>
                  <a:txBody>
                    <a:bodyPr/>
                    <a:lstStyle/>
                    <a:p>
                      <a:pPr algn="ctr">
                        <a:buNone/>
                      </a:pPr>
                      <a:r>
                        <a:rPr lang="en-US" sz="1300">
                          <a:effectLst/>
                          <a:latin typeface="Calibri"/>
                          <a:ea typeface="Calibri"/>
                          <a:cs typeface="Calibri"/>
                        </a:rPr>
                        <a:t>ACH-000411</a:t>
                      </a:r>
                    </a:p>
                  </a:txBody>
                  <a:tcPr marL="0" marR="0" marT="0" marB="0" anchor="ctr"/>
                </a:tc>
                <a:tc>
                  <a:txBody>
                    <a:bodyPr/>
                    <a:lstStyle/>
                    <a:p>
                      <a:pPr algn="ctr">
                        <a:buNone/>
                      </a:pPr>
                      <a:r>
                        <a:rPr lang="en-US" sz="1300">
                          <a:effectLst/>
                          <a:latin typeface="Calibri"/>
                          <a:ea typeface="Calibri"/>
                          <a:cs typeface="Calibri"/>
                        </a:rPr>
                        <a:t>PR-0hvX2B</a:t>
                      </a:r>
                    </a:p>
                  </a:txBody>
                  <a:tcPr marL="0" marR="0" marT="0" marB="0" anchor="ctr"/>
                </a:tc>
                <a:tc>
                  <a:txBody>
                    <a:bodyPr/>
                    <a:lstStyle/>
                    <a:p>
                      <a:pPr algn="ctr">
                        <a:buNone/>
                      </a:pPr>
                      <a:r>
                        <a:rPr lang="en-US" sz="1300">
                          <a:effectLst/>
                          <a:latin typeface="Calibri"/>
                          <a:ea typeface="Calibri"/>
                          <a:cs typeface="Calibri"/>
                        </a:rPr>
                        <a:t>CVCL_1050</a:t>
                      </a:r>
                    </a:p>
                  </a:txBody>
                  <a:tcPr marL="0" marR="0" marT="0" marB="0" anchor="ctr"/>
                </a:tc>
                <a:tc>
                  <a:txBody>
                    <a:bodyPr/>
                    <a:lstStyle/>
                    <a:p>
                      <a:pPr algn="ctr">
                        <a:buNone/>
                      </a:pPr>
                      <a:r>
                        <a:rPr lang="en-US" sz="1300">
                          <a:effectLst/>
                          <a:latin typeface="Calibri"/>
                          <a:ea typeface="Calibri"/>
                          <a:cs typeface="Calibri"/>
                        </a:rPr>
                        <a:t>769P_KIDNEY</a:t>
                      </a:r>
                    </a:p>
                  </a:txBody>
                  <a:tcPr marL="0" marR="0" marT="0" marB="0" anchor="ctr"/>
                </a:tc>
                <a:tc>
                  <a:txBody>
                    <a:bodyPr/>
                    <a:lstStyle/>
                    <a:p>
                      <a:pPr algn="ctr">
                        <a:buNone/>
                      </a:pPr>
                      <a:r>
                        <a:rPr lang="en-US" sz="1300">
                          <a:effectLst/>
                          <a:latin typeface="Calibri"/>
                          <a:ea typeface="Calibri"/>
                          <a:cs typeface="Calibri"/>
                        </a:rPr>
                        <a:t>769-P</a:t>
                      </a:r>
                    </a:p>
                  </a:txBody>
                  <a:tcPr marL="0" marR="0" marT="0" marB="0" anchor="ctr"/>
                </a:tc>
                <a:tc>
                  <a:txBody>
                    <a:bodyPr/>
                    <a:lstStyle/>
                    <a:p>
                      <a:pPr algn="ctr">
                        <a:buNone/>
                      </a:pPr>
                      <a:r>
                        <a:rPr lang="en-US" sz="1300">
                          <a:effectLst/>
                          <a:latin typeface="Calibri"/>
                          <a:ea typeface="Calibri"/>
                          <a:cs typeface="Calibri"/>
                        </a:rPr>
                        <a:t>769P</a:t>
                      </a:r>
                    </a:p>
                  </a:txBody>
                  <a:tcPr marL="0" marR="0" marT="0" marB="0" anchor="ctr"/>
                </a:tc>
                <a:tc>
                  <a:txBody>
                    <a:bodyPr/>
                    <a:lstStyle/>
                    <a:p>
                      <a:pPr algn="ctr">
                        <a:buNone/>
                      </a:pPr>
                      <a:r>
                        <a:rPr lang="en-US" sz="1300">
                          <a:effectLst/>
                          <a:latin typeface="Calibri"/>
                          <a:ea typeface="Calibri"/>
                          <a:cs typeface="Calibri"/>
                        </a:rPr>
                        <a:t>Kidney Cancer</a:t>
                      </a:r>
                    </a:p>
                  </a:txBody>
                  <a:tcPr marL="0" marR="0" marT="0" marB="0" anchor="ctr"/>
                </a:tc>
                <a:tc>
                  <a:txBody>
                    <a:bodyPr/>
                    <a:lstStyle/>
                    <a:p>
                      <a:pPr algn="ctr">
                        <a:buNone/>
                      </a:pPr>
                      <a:r>
                        <a:rPr lang="en-US" sz="1300">
                          <a:effectLst/>
                          <a:latin typeface="Calibri"/>
                          <a:ea typeface="Calibri"/>
                          <a:cs typeface="Calibri"/>
                        </a:rPr>
                        <a:t>kidney</a:t>
                      </a:r>
                    </a:p>
                  </a:txBody>
                  <a:tcPr marL="0" marR="0" marT="0" marB="0" anchor="ctr"/>
                </a:tc>
                <a:tc>
                  <a:txBody>
                    <a:bodyPr/>
                    <a:lstStyle/>
                    <a:p>
                      <a:pPr algn="ctr">
                        <a:buNone/>
                      </a:pPr>
                      <a:r>
                        <a:rPr lang="en-US" sz="1300">
                          <a:effectLst/>
                          <a:latin typeface="Calibri"/>
                          <a:ea typeface="Calibri"/>
                          <a:cs typeface="Calibri"/>
                        </a:rPr>
                        <a:t>FALSE</a:t>
                      </a:r>
                    </a:p>
                  </a:txBody>
                  <a:tcPr marL="0" marR="0" marT="0" marB="0" anchor="ctr"/>
                </a:tc>
                <a:extLst>
                  <a:ext uri="{0D108BD9-81ED-4DB2-BD59-A6C34878D82A}">
                    <a16:rowId xmlns:a16="http://schemas.microsoft.com/office/drawing/2014/main" val="2574308204"/>
                  </a:ext>
                </a:extLst>
              </a:tr>
              <a:tr h="390446">
                <a:tc>
                  <a:txBody>
                    <a:bodyPr/>
                    <a:lstStyle/>
                    <a:p>
                      <a:pPr algn="ctr">
                        <a:buNone/>
                      </a:pPr>
                      <a:r>
                        <a:rPr lang="en-US" sz="1300">
                          <a:effectLst/>
                          <a:latin typeface="Calibri"/>
                          <a:ea typeface="Calibri"/>
                          <a:cs typeface="Calibri"/>
                        </a:rPr>
                        <a:t>ACH-000414</a:t>
                      </a:r>
                    </a:p>
                  </a:txBody>
                  <a:tcPr marL="0" marR="0" marT="0" marB="0" anchor="ctr"/>
                </a:tc>
                <a:tc>
                  <a:txBody>
                    <a:bodyPr/>
                    <a:lstStyle/>
                    <a:p>
                      <a:pPr algn="ctr">
                        <a:buNone/>
                      </a:pPr>
                      <a:r>
                        <a:rPr lang="en-US" sz="1300">
                          <a:effectLst/>
                          <a:latin typeface="Calibri"/>
                          <a:ea typeface="Calibri"/>
                          <a:cs typeface="Calibri"/>
                        </a:rPr>
                        <a:t>PR-0jK5CP</a:t>
                      </a:r>
                    </a:p>
                  </a:txBody>
                  <a:tcPr marL="0" marR="0" marT="0" marB="0" anchor="ctr"/>
                </a:tc>
                <a:tc>
                  <a:txBody>
                    <a:bodyPr/>
                    <a:lstStyle/>
                    <a:p>
                      <a:pPr algn="ctr">
                        <a:buNone/>
                      </a:pPr>
                      <a:r>
                        <a:rPr lang="en-US" sz="1300">
                          <a:effectLst/>
                          <a:latin typeface="Calibri"/>
                          <a:ea typeface="Calibri"/>
                          <a:cs typeface="Calibri"/>
                        </a:rPr>
                        <a:t>CVCL_1508</a:t>
                      </a:r>
                    </a:p>
                  </a:txBody>
                  <a:tcPr marL="0" marR="0" marT="0" marB="0" anchor="ctr"/>
                </a:tc>
                <a:tc>
                  <a:txBody>
                    <a:bodyPr/>
                    <a:lstStyle/>
                    <a:p>
                      <a:pPr algn="ctr">
                        <a:buNone/>
                      </a:pPr>
                      <a:r>
                        <a:rPr lang="en-US" sz="1300">
                          <a:effectLst/>
                          <a:latin typeface="Calibri"/>
                          <a:ea typeface="Calibri"/>
                          <a:cs typeface="Calibri"/>
                        </a:rPr>
                        <a:t>NCIH1944_LUNG</a:t>
                      </a:r>
                    </a:p>
                  </a:txBody>
                  <a:tcPr marL="0" marR="0" marT="0" marB="0" anchor="ctr"/>
                </a:tc>
                <a:tc>
                  <a:txBody>
                    <a:bodyPr/>
                    <a:lstStyle/>
                    <a:p>
                      <a:pPr algn="ctr">
                        <a:buNone/>
                      </a:pPr>
                      <a:r>
                        <a:rPr lang="en-US" sz="1300">
                          <a:effectLst/>
                          <a:latin typeface="Calibri"/>
                          <a:ea typeface="Calibri"/>
                          <a:cs typeface="Calibri"/>
                        </a:rPr>
                        <a:t>NCI-H1944</a:t>
                      </a:r>
                    </a:p>
                  </a:txBody>
                  <a:tcPr marL="0" marR="0" marT="0" marB="0" anchor="ctr"/>
                </a:tc>
                <a:tc>
                  <a:txBody>
                    <a:bodyPr/>
                    <a:lstStyle/>
                    <a:p>
                      <a:pPr algn="ctr">
                        <a:buNone/>
                      </a:pPr>
                      <a:r>
                        <a:rPr lang="en-US" sz="1300">
                          <a:effectLst/>
                          <a:latin typeface="Calibri"/>
                          <a:ea typeface="Calibri"/>
                          <a:cs typeface="Calibri"/>
                        </a:rPr>
                        <a:t>NCIH1944</a:t>
                      </a:r>
                    </a:p>
                  </a:txBody>
                  <a:tcPr marL="0" marR="0" marT="0" marB="0" anchor="ctr"/>
                </a:tc>
                <a:tc>
                  <a:txBody>
                    <a:bodyPr/>
                    <a:lstStyle/>
                    <a:p>
                      <a:pPr algn="ctr">
                        <a:buNone/>
                      </a:pPr>
                      <a:r>
                        <a:rPr lang="en-US" sz="1300">
                          <a:effectLst/>
                          <a:latin typeface="Calibri"/>
                          <a:ea typeface="Calibri"/>
                          <a:cs typeface="Calibri"/>
                        </a:rPr>
                        <a:t>Lung Cancer</a:t>
                      </a:r>
                    </a:p>
                  </a:txBody>
                  <a:tcPr marL="0" marR="0" marT="0" marB="0" anchor="ctr"/>
                </a:tc>
                <a:tc>
                  <a:txBody>
                    <a:bodyPr/>
                    <a:lstStyle/>
                    <a:p>
                      <a:pPr algn="ctr">
                        <a:buNone/>
                      </a:pPr>
                      <a:r>
                        <a:rPr lang="en-US" sz="1300">
                          <a:effectLst/>
                          <a:latin typeface="Calibri"/>
                          <a:ea typeface="Calibri"/>
                          <a:cs typeface="Calibri"/>
                        </a:rPr>
                        <a:t>lung</a:t>
                      </a:r>
                    </a:p>
                  </a:txBody>
                  <a:tcPr marL="0" marR="0" marT="0" marB="0" anchor="ctr"/>
                </a:tc>
                <a:tc>
                  <a:txBody>
                    <a:bodyPr/>
                    <a:lstStyle/>
                    <a:p>
                      <a:pPr algn="ctr">
                        <a:buNone/>
                      </a:pPr>
                      <a:r>
                        <a:rPr lang="en-US" sz="1300">
                          <a:effectLst/>
                          <a:latin typeface="Calibri"/>
                          <a:ea typeface="Calibri"/>
                          <a:cs typeface="Calibri"/>
                        </a:rPr>
                        <a:t>FALSE</a:t>
                      </a:r>
                    </a:p>
                  </a:txBody>
                  <a:tcPr marL="0" marR="0" marT="0" marB="0" anchor="ctr"/>
                </a:tc>
                <a:extLst>
                  <a:ext uri="{0D108BD9-81ED-4DB2-BD59-A6C34878D82A}">
                    <a16:rowId xmlns:a16="http://schemas.microsoft.com/office/drawing/2014/main" val="2716446448"/>
                  </a:ext>
                </a:extLst>
              </a:tr>
            </a:tbl>
          </a:graphicData>
        </a:graphic>
      </p:graphicFrame>
    </p:spTree>
    <p:extLst>
      <p:ext uri="{BB962C8B-B14F-4D97-AF65-F5344CB8AC3E}">
        <p14:creationId xmlns:p14="http://schemas.microsoft.com/office/powerpoint/2010/main" val="6976862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3"/>
          <a:stretch/>
        </a:blipFill>
        <a:effectLst/>
      </p:bgPr>
    </p:bg>
    <p:spTree>
      <p:nvGrpSpPr>
        <p:cNvPr id="1" name=""/>
        <p:cNvGrpSpPr/>
        <p:nvPr/>
      </p:nvGrpSpPr>
      <p:grpSpPr>
        <a:xfrm>
          <a:off x="0" y="0"/>
          <a:ext cx="0" cy="0"/>
          <a:chOff x="0" y="0"/>
          <a:chExt cx="0" cy="0"/>
        </a:xfrm>
      </p:grpSpPr>
      <p:sp useBgFill="1">
        <p:nvSpPr>
          <p:cNvPr id="58" name="Rectangle 57">
            <a:extLst>
              <a:ext uri="{FF2B5EF4-FFF2-40B4-BE49-F238E27FC236}">
                <a16:creationId xmlns:a16="http://schemas.microsoft.com/office/drawing/2014/main" id="{131B3231-1C4D-4AB4-AB8B-D39CCC3938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9867" cy="685528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0" name="Picture 59">
            <a:extLst>
              <a:ext uri="{FF2B5EF4-FFF2-40B4-BE49-F238E27FC236}">
                <a16:creationId xmlns:a16="http://schemas.microsoft.com/office/drawing/2014/main" id="{1A82619F-6BBD-4913-A4EA-27A2A01F2AE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62" name="Picture 61">
            <a:extLst>
              <a:ext uri="{FF2B5EF4-FFF2-40B4-BE49-F238E27FC236}">
                <a16:creationId xmlns:a16="http://schemas.microsoft.com/office/drawing/2014/main" id="{7D32623C-82B3-4C43-98E0-31A4ACA2F7B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5">
            <a:alphaModFix/>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64" name="Rectangle 63">
            <a:extLst>
              <a:ext uri="{FF2B5EF4-FFF2-40B4-BE49-F238E27FC236}">
                <a16:creationId xmlns:a16="http://schemas.microsoft.com/office/drawing/2014/main" id="{A28FAB9D-1EE6-43AC-B8F1-6569A0B8EA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Rectangle 65">
            <a:extLst>
              <a:ext uri="{FF2B5EF4-FFF2-40B4-BE49-F238E27FC236}">
                <a16:creationId xmlns:a16="http://schemas.microsoft.com/office/drawing/2014/main" id="{B4962323-B671-484D-B5A3-CD47543378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ectangle 67">
            <a:extLst>
              <a:ext uri="{FF2B5EF4-FFF2-40B4-BE49-F238E27FC236}">
                <a16:creationId xmlns:a16="http://schemas.microsoft.com/office/drawing/2014/main" id="{181DEBE4-9960-46D9-8D96-FBDE917281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7533" y="0"/>
            <a:ext cx="10378001"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3D0E542-12B9-AD0F-55F2-923B28E34F86}"/>
              </a:ext>
            </a:extLst>
          </p:cNvPr>
          <p:cNvSpPr>
            <a:spLocks noGrp="1"/>
          </p:cNvSpPr>
          <p:nvPr>
            <p:ph type="title"/>
          </p:nvPr>
        </p:nvSpPr>
        <p:spPr>
          <a:xfrm>
            <a:off x="1926216" y="507721"/>
            <a:ext cx="9067307" cy="2043112"/>
          </a:xfrm>
        </p:spPr>
        <p:txBody>
          <a:bodyPr>
            <a:normAutofit fontScale="90000"/>
          </a:bodyPr>
          <a:lstStyle/>
          <a:p>
            <a:pPr algn="l"/>
            <a:r>
              <a:rPr lang="en-US" sz="2400" b="1"/>
              <a:t>PCA on the Data</a:t>
            </a:r>
            <a:br>
              <a:rPr lang="en-US" sz="2400" b="1"/>
            </a:br>
            <a:br>
              <a:rPr lang="en-US" sz="2400"/>
            </a:br>
            <a:r>
              <a:rPr lang="en-US" sz="2400"/>
              <a:t>PCA and </a:t>
            </a:r>
            <a:r>
              <a:rPr lang="en-US" sz="2400" err="1"/>
              <a:t>Trucated</a:t>
            </a:r>
            <a:r>
              <a:rPr lang="en-US" sz="2400"/>
              <a:t> SVD were heavily dominated by the missing data. </a:t>
            </a:r>
            <a:br>
              <a:rPr lang="en-US" sz="2400"/>
            </a:br>
            <a:br>
              <a:rPr lang="en-US" sz="2400"/>
            </a:br>
            <a:br>
              <a:rPr lang="en-US" sz="2400"/>
            </a:br>
            <a:endParaRPr lang="en-US" sz="2100"/>
          </a:p>
        </p:txBody>
      </p:sp>
      <p:sp>
        <p:nvSpPr>
          <p:cNvPr id="3" name="Content Placeholder 2">
            <a:extLst>
              <a:ext uri="{FF2B5EF4-FFF2-40B4-BE49-F238E27FC236}">
                <a16:creationId xmlns:a16="http://schemas.microsoft.com/office/drawing/2014/main" id="{88B95216-5732-03E8-9506-9557DAA1A3F0}"/>
              </a:ext>
            </a:extLst>
          </p:cNvPr>
          <p:cNvSpPr>
            <a:spLocks noGrp="1"/>
          </p:cNvSpPr>
          <p:nvPr>
            <p:ph idx="1"/>
          </p:nvPr>
        </p:nvSpPr>
        <p:spPr>
          <a:xfrm flipV="1">
            <a:off x="1626904" y="5257800"/>
            <a:ext cx="45720" cy="45719"/>
          </a:xfrm>
        </p:spPr>
        <p:txBody>
          <a:bodyPr>
            <a:normAutofit fontScale="25000" lnSpcReduction="20000"/>
          </a:bodyPr>
          <a:lstStyle/>
          <a:p>
            <a:pPr marL="0" indent="0">
              <a:buNone/>
            </a:pPr>
            <a:endParaRPr lang="en-US" sz="1800"/>
          </a:p>
        </p:txBody>
      </p:sp>
      <p:pic>
        <p:nvPicPr>
          <p:cNvPr id="9" name="Picture 8">
            <a:extLst>
              <a:ext uri="{FF2B5EF4-FFF2-40B4-BE49-F238E27FC236}">
                <a16:creationId xmlns:a16="http://schemas.microsoft.com/office/drawing/2014/main" id="{608FC09A-61A9-D5D5-D51C-E432AD6F28B1}"/>
              </a:ext>
            </a:extLst>
          </p:cNvPr>
          <p:cNvPicPr>
            <a:picLocks noChangeAspect="1"/>
          </p:cNvPicPr>
          <p:nvPr/>
        </p:nvPicPr>
        <p:blipFill>
          <a:blip r:embed="rId6"/>
          <a:srcRect r="-4" b="9144"/>
          <a:stretch>
            <a:fillRect/>
          </a:stretch>
        </p:blipFill>
        <p:spPr>
          <a:xfrm>
            <a:off x="6506219" y="2605384"/>
            <a:ext cx="4636987" cy="3422917"/>
          </a:xfrm>
          <a:prstGeom prst="rect">
            <a:avLst/>
          </a:prstGeom>
          <a:ln w="12700">
            <a:solidFill>
              <a:schemeClr val="tx1"/>
            </a:solidFill>
          </a:ln>
        </p:spPr>
      </p:pic>
      <p:pic>
        <p:nvPicPr>
          <p:cNvPr id="11" name="Picture 10">
            <a:extLst>
              <a:ext uri="{FF2B5EF4-FFF2-40B4-BE49-F238E27FC236}">
                <a16:creationId xmlns:a16="http://schemas.microsoft.com/office/drawing/2014/main" id="{AB99A3C5-F915-6ED1-F2DC-933D452673C2}"/>
              </a:ext>
            </a:extLst>
          </p:cNvPr>
          <p:cNvPicPr>
            <a:picLocks noChangeAspect="1"/>
          </p:cNvPicPr>
          <p:nvPr/>
        </p:nvPicPr>
        <p:blipFill>
          <a:blip r:embed="rId7"/>
          <a:srcRect r="-4" b="8887"/>
          <a:stretch>
            <a:fillRect/>
          </a:stretch>
        </p:blipFill>
        <p:spPr>
          <a:xfrm>
            <a:off x="1626904" y="2595709"/>
            <a:ext cx="4636987" cy="3432592"/>
          </a:xfrm>
          <a:prstGeom prst="rect">
            <a:avLst/>
          </a:prstGeom>
          <a:ln w="12700">
            <a:solidFill>
              <a:schemeClr val="tx1"/>
            </a:solidFill>
          </a:ln>
        </p:spPr>
      </p:pic>
      <p:sp>
        <p:nvSpPr>
          <p:cNvPr id="70" name="Rectangle 69">
            <a:extLst>
              <a:ext uri="{FF2B5EF4-FFF2-40B4-BE49-F238E27FC236}">
                <a16:creationId xmlns:a16="http://schemas.microsoft.com/office/drawing/2014/main" id="{2C5CA78E-387F-4DB6-8894-AA38E5EAF6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387666" y="-2718"/>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18687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908629-1994-368C-E047-DB38CD8AAB26}"/>
              </a:ext>
            </a:extLst>
          </p:cNvPr>
          <p:cNvSpPr>
            <a:spLocks noGrp="1"/>
          </p:cNvSpPr>
          <p:nvPr>
            <p:ph type="title"/>
          </p:nvPr>
        </p:nvSpPr>
        <p:spPr/>
        <p:txBody>
          <a:bodyPr>
            <a:normAutofit/>
          </a:bodyPr>
          <a:lstStyle/>
          <a:p>
            <a:pPr algn="l"/>
            <a:r>
              <a:rPr lang="en-US" sz="2000"/>
              <a:t>Balancing automation with biological interpretability</a:t>
            </a:r>
          </a:p>
        </p:txBody>
      </p:sp>
      <p:sp>
        <p:nvSpPr>
          <p:cNvPr id="3" name="Content Placeholder 2">
            <a:extLst>
              <a:ext uri="{FF2B5EF4-FFF2-40B4-BE49-F238E27FC236}">
                <a16:creationId xmlns:a16="http://schemas.microsoft.com/office/drawing/2014/main" id="{1D59C1B1-8BE4-ADFB-102A-7217281B7254}"/>
              </a:ext>
            </a:extLst>
          </p:cNvPr>
          <p:cNvSpPr>
            <a:spLocks noGrp="1"/>
          </p:cNvSpPr>
          <p:nvPr>
            <p:ph idx="1"/>
          </p:nvPr>
        </p:nvSpPr>
        <p:spPr>
          <a:xfrm>
            <a:off x="2197730" y="394766"/>
            <a:ext cx="7796540" cy="4934472"/>
          </a:xfrm>
        </p:spPr>
        <p:txBody>
          <a:bodyPr/>
          <a:lstStyle/>
          <a:p>
            <a:r>
              <a:rPr lang="en-US"/>
              <a:t>Initial exploration included LLM based approaches for ranking cell lines however, LLMs introduce hallucination risk and lack transparent, auditable reasoning over quantitative biological data</a:t>
            </a:r>
          </a:p>
          <a:p>
            <a:r>
              <a:rPr lang="en-US"/>
              <a:t>Trying to find a statistical approach for ranking the cell lines (based on predetermined scoring) to preserve the logic and biological meaning </a:t>
            </a:r>
          </a:p>
          <a:p>
            <a:endParaRPr lang="en-US"/>
          </a:p>
        </p:txBody>
      </p:sp>
    </p:spTree>
    <p:extLst>
      <p:ext uri="{BB962C8B-B14F-4D97-AF65-F5344CB8AC3E}">
        <p14:creationId xmlns:p14="http://schemas.microsoft.com/office/powerpoint/2010/main" val="104590677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adison">
  <a:themeElements>
    <a:clrScheme name="Madison">
      <a:dk1>
        <a:sysClr val="windowText" lastClr="000000"/>
      </a:dk1>
      <a:lt1>
        <a:sysClr val="window" lastClr="FFFFFF"/>
      </a:lt1>
      <a:dk2>
        <a:srgbClr val="1F2D29"/>
      </a:dk2>
      <a:lt2>
        <a:srgbClr val="C5FAEB"/>
      </a:lt2>
      <a:accent1>
        <a:srgbClr val="A1D68B"/>
      </a:accent1>
      <a:accent2>
        <a:srgbClr val="5EC795"/>
      </a:accent2>
      <a:accent3>
        <a:srgbClr val="4DADCF"/>
      </a:accent3>
      <a:accent4>
        <a:srgbClr val="CDB756"/>
      </a:accent4>
      <a:accent5>
        <a:srgbClr val="E29C36"/>
      </a:accent5>
      <a:accent6>
        <a:srgbClr val="8EC0C1"/>
      </a:accent6>
      <a:hlink>
        <a:srgbClr val="6D9D9B"/>
      </a:hlink>
      <a:folHlink>
        <a:srgbClr val="6D8583"/>
      </a:folHlink>
    </a:clrScheme>
    <a:fontScheme name="Madison">
      <a:majorFont>
        <a:latin typeface="Arial" panose="020B0604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dison">
      <a:fillStyleLst>
        <a:solidFill>
          <a:schemeClr val="phClr"/>
        </a:solidFill>
        <a:gradFill rotWithShape="1">
          <a:gsLst>
            <a:gs pos="0">
              <a:schemeClr val="phClr">
                <a:tint val="48000"/>
                <a:alpha val="88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4000"/>
                <a:satMod val="130000"/>
                <a:lumMod val="92000"/>
              </a:schemeClr>
            </a:gs>
            <a:gs pos="100000">
              <a:schemeClr val="phClr">
                <a:shade val="76000"/>
                <a:satMod val="130000"/>
                <a:lumMod val="88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blipFill rotWithShape="1">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Madison" id="{025CB5FB-2DD3-45EE-B6F0-CC461540EB19}" vid="{6AC10936-2DFC-4054-9ADF-B5E2C5F8619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Madison</Template>
  <TotalTime>0</TotalTime>
  <Words>783</Words>
  <Application>Microsoft Office PowerPoint</Application>
  <PresentationFormat>Widescreen</PresentationFormat>
  <Paragraphs>134</Paragraphs>
  <Slides>8</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8</vt:i4>
      </vt:variant>
    </vt:vector>
  </HeadingPairs>
  <TitlesOfParts>
    <vt:vector size="16" baseType="lpstr">
      <vt:lpstr>Aptos</vt:lpstr>
      <vt:lpstr>Arial</vt:lpstr>
      <vt:lpstr>Calibri</vt:lpstr>
      <vt:lpstr>Courier New</vt:lpstr>
      <vt:lpstr>MS Shell Dlg 2</vt:lpstr>
      <vt:lpstr>Wingdings</vt:lpstr>
      <vt:lpstr>Wingdings 3</vt:lpstr>
      <vt:lpstr>Madison</vt:lpstr>
      <vt:lpstr>TEAM 11</vt:lpstr>
      <vt:lpstr>HOW IS A CELL LINE SELECTED?</vt:lpstr>
      <vt:lpstr>HOW ARE WE USING THE DATA ?</vt:lpstr>
      <vt:lpstr>WHAT DID WE FIND IN THE DATA?</vt:lpstr>
      <vt:lpstr>CHALLENGES SO FAR AND HOW ARE WE ADDRESSING THEM </vt:lpstr>
      <vt:lpstr>PowerPoint Presentation</vt:lpstr>
      <vt:lpstr>PCA on the Data  PCA and Trucated SVD were heavily dominated by the missing data.    </vt:lpstr>
      <vt:lpstr>Balancing automation with biological interpretability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Vian Dsouza</dc:creator>
  <cp:lastModifiedBy>Shankara Narayana N G</cp:lastModifiedBy>
  <cp:revision>10</cp:revision>
  <dcterms:created xsi:type="dcterms:W3CDTF">2026-07-01T12:55:11Z</dcterms:created>
  <dcterms:modified xsi:type="dcterms:W3CDTF">2026-07-06T05:30:04Z</dcterms:modified>
</cp:coreProperties>
</file>