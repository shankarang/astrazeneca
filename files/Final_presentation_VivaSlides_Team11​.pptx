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65" r:id="rId3"/>
    <p:sldId id="258" r:id="rId4"/>
    <p:sldId id="259" r:id="rId5"/>
    <p:sldId id="272" r:id="rId6"/>
    <p:sldId id="273" r:id="rId7"/>
    <p:sldId id="262" r:id="rId8"/>
    <p:sldId id="263" r:id="rId9"/>
    <p:sldId id="264" r:id="rId10"/>
    <p:sldId id="266" r:id="rId11"/>
    <p:sldId id="278" r:id="rId12"/>
    <p:sldId id="267" r:id="rId13"/>
    <p:sldId id="268" r:id="rId14"/>
    <p:sldId id="270" r:id="rId15"/>
    <p:sldId id="271" r:id="rId16"/>
    <p:sldId id="275" r:id="rId17"/>
    <p:sldId id="280" r:id="rId18"/>
    <p:sldId id="281" r:id="rId19"/>
    <p:sldId id="279" r:id="rId20"/>
    <p:sldId id="269"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F2F8"/>
    <a:srgbClr val="156082"/>
    <a:srgbClr val="E7EAED"/>
    <a:srgbClr val="CCD2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052" dt="2026-09-14T18:38:28.870"/>
    <p1510:client id="{14015353-3672-06BB-702A-E4168D8DD8D8}" v="348" dt="2026-09-15T12:10:49.911"/>
    <p1510:client id="{6BD2C459-E8D9-B0FE-D3F1-6C482226A5BF}" v="296" dt="2026-09-15T12:23:46.424"/>
    <p1510:client id="{730C4B92-BDE4-3396-7401-DD740D91CDBF}" v="439" dt="2026-09-15T17:03:17.982"/>
    <p1510:client id="{73813180-4AE5-4945-D88C-79DC427BDD2A}" v="583" dt="2026-09-14T16:09:11.148"/>
    <p1510:client id="{E0AAC152-1D3E-374B-A595-534BA7661172}" v="379" dt="2026-09-15T14:12:22.154"/>
    <p1510:client id="{EC077F40-9A38-E874-A1EE-2B37375E4BA3}" v="669" dt="2026-09-15T18:34:08.283"/>
    <p1510:client id="{F1592225-4B1D-009B-BDF3-ED9B8CC750A0}" v="81" dt="2026-09-14T18:15:47.770"/>
    <p1510:client id="{F218BC9D-0F3B-5429-5F35-DB4360A54150}" v="63" dt="2026-09-15T14:56:47.587"/>
    <p1510:client id="{FA5BD5F4-C1CF-476A-978D-A169CA86CF85}" v="534" dt="2026-09-15T09:37:53.0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531F3-9A00-1CE0-8BCA-D9C95B15C7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ABD0CFE-9AE9-0DE2-234D-35A4B7E5CF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3EB345-2452-B40A-C9DC-E0500708BDAC}"/>
              </a:ext>
            </a:extLst>
          </p:cNvPr>
          <p:cNvSpPr>
            <a:spLocks noGrp="1"/>
          </p:cNvSpPr>
          <p:nvPr>
            <p:ph type="dt" sz="half" idx="10"/>
          </p:nvPr>
        </p:nvSpPr>
        <p:spPr/>
        <p:txBody>
          <a:bodyPr/>
          <a:lstStyle/>
          <a:p>
            <a:fld id="{5B9D0C51-1D8C-FC4B-A5E1-D67725A44501}" type="datetimeFigureOut">
              <a:rPr lang="en-US" smtClean="0"/>
              <a:t>9/15/2026</a:t>
            </a:fld>
            <a:endParaRPr lang="en-US"/>
          </a:p>
        </p:txBody>
      </p:sp>
      <p:sp>
        <p:nvSpPr>
          <p:cNvPr id="5" name="Footer Placeholder 4">
            <a:extLst>
              <a:ext uri="{FF2B5EF4-FFF2-40B4-BE49-F238E27FC236}">
                <a16:creationId xmlns:a16="http://schemas.microsoft.com/office/drawing/2014/main" id="{83B0AD81-59F5-605B-7C06-BCD59B5F4E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7CC4C1-7217-D557-1A53-58E185654540}"/>
              </a:ext>
            </a:extLst>
          </p:cNvPr>
          <p:cNvSpPr>
            <a:spLocks noGrp="1"/>
          </p:cNvSpPr>
          <p:nvPr>
            <p:ph type="sldNum" sz="quarter" idx="12"/>
          </p:nvPr>
        </p:nvSpPr>
        <p:spPr/>
        <p:txBody>
          <a:bodyPr/>
          <a:lstStyle/>
          <a:p>
            <a:fld id="{6DFD0D37-CAAA-1240-B878-BF3D17B3678B}" type="slidenum">
              <a:rPr lang="en-US" smtClean="0"/>
              <a:t>‹#›</a:t>
            </a:fld>
            <a:endParaRPr lang="en-US"/>
          </a:p>
        </p:txBody>
      </p:sp>
    </p:spTree>
    <p:extLst>
      <p:ext uri="{BB962C8B-B14F-4D97-AF65-F5344CB8AC3E}">
        <p14:creationId xmlns:p14="http://schemas.microsoft.com/office/powerpoint/2010/main" val="1606772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66822-E103-CBC9-0D15-37C3B6972A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E3D269-CA81-BD3F-5333-0C19662CE7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266D93-1D51-AA68-7600-6A674E98E726}"/>
              </a:ext>
            </a:extLst>
          </p:cNvPr>
          <p:cNvSpPr>
            <a:spLocks noGrp="1"/>
          </p:cNvSpPr>
          <p:nvPr>
            <p:ph type="dt" sz="half" idx="10"/>
          </p:nvPr>
        </p:nvSpPr>
        <p:spPr/>
        <p:txBody>
          <a:bodyPr/>
          <a:lstStyle/>
          <a:p>
            <a:fld id="{5B9D0C51-1D8C-FC4B-A5E1-D67725A44501}" type="datetimeFigureOut">
              <a:rPr lang="en-US" smtClean="0"/>
              <a:t>9/15/2026</a:t>
            </a:fld>
            <a:endParaRPr lang="en-US"/>
          </a:p>
        </p:txBody>
      </p:sp>
      <p:sp>
        <p:nvSpPr>
          <p:cNvPr id="5" name="Footer Placeholder 4">
            <a:extLst>
              <a:ext uri="{FF2B5EF4-FFF2-40B4-BE49-F238E27FC236}">
                <a16:creationId xmlns:a16="http://schemas.microsoft.com/office/drawing/2014/main" id="{CE311AE8-7D5A-08C1-1362-EA4491BD05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F5FD8D-6461-A07E-0CEC-5FEA1B6FB073}"/>
              </a:ext>
            </a:extLst>
          </p:cNvPr>
          <p:cNvSpPr>
            <a:spLocks noGrp="1"/>
          </p:cNvSpPr>
          <p:nvPr>
            <p:ph type="sldNum" sz="quarter" idx="12"/>
          </p:nvPr>
        </p:nvSpPr>
        <p:spPr/>
        <p:txBody>
          <a:bodyPr/>
          <a:lstStyle/>
          <a:p>
            <a:fld id="{6DFD0D37-CAAA-1240-B878-BF3D17B3678B}" type="slidenum">
              <a:rPr lang="en-US" smtClean="0"/>
              <a:t>‹#›</a:t>
            </a:fld>
            <a:endParaRPr lang="en-US"/>
          </a:p>
        </p:txBody>
      </p:sp>
    </p:spTree>
    <p:extLst>
      <p:ext uri="{BB962C8B-B14F-4D97-AF65-F5344CB8AC3E}">
        <p14:creationId xmlns:p14="http://schemas.microsoft.com/office/powerpoint/2010/main" val="3006366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6585F-E91F-EE8A-E5F6-BFEE693C00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E273B5D-38BD-AB2B-732D-675CB7BEC9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F428BA-F185-C1B1-A354-0957EA3C6C2A}"/>
              </a:ext>
            </a:extLst>
          </p:cNvPr>
          <p:cNvSpPr>
            <a:spLocks noGrp="1"/>
          </p:cNvSpPr>
          <p:nvPr>
            <p:ph type="dt" sz="half" idx="10"/>
          </p:nvPr>
        </p:nvSpPr>
        <p:spPr/>
        <p:txBody>
          <a:bodyPr/>
          <a:lstStyle/>
          <a:p>
            <a:fld id="{5B9D0C51-1D8C-FC4B-A5E1-D67725A44501}" type="datetimeFigureOut">
              <a:rPr lang="en-US" smtClean="0"/>
              <a:t>9/15/2026</a:t>
            </a:fld>
            <a:endParaRPr lang="en-US"/>
          </a:p>
        </p:txBody>
      </p:sp>
      <p:sp>
        <p:nvSpPr>
          <p:cNvPr id="5" name="Footer Placeholder 4">
            <a:extLst>
              <a:ext uri="{FF2B5EF4-FFF2-40B4-BE49-F238E27FC236}">
                <a16:creationId xmlns:a16="http://schemas.microsoft.com/office/drawing/2014/main" id="{2094FB22-21D3-57A2-C041-77B5FD5314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45443B-F336-69E7-00B6-61C80AD5D254}"/>
              </a:ext>
            </a:extLst>
          </p:cNvPr>
          <p:cNvSpPr>
            <a:spLocks noGrp="1"/>
          </p:cNvSpPr>
          <p:nvPr>
            <p:ph type="sldNum" sz="quarter" idx="12"/>
          </p:nvPr>
        </p:nvSpPr>
        <p:spPr/>
        <p:txBody>
          <a:bodyPr/>
          <a:lstStyle/>
          <a:p>
            <a:fld id="{6DFD0D37-CAAA-1240-B878-BF3D17B3678B}" type="slidenum">
              <a:rPr lang="en-US" smtClean="0"/>
              <a:t>‹#›</a:t>
            </a:fld>
            <a:endParaRPr lang="en-US"/>
          </a:p>
        </p:txBody>
      </p:sp>
    </p:spTree>
    <p:extLst>
      <p:ext uri="{BB962C8B-B14F-4D97-AF65-F5344CB8AC3E}">
        <p14:creationId xmlns:p14="http://schemas.microsoft.com/office/powerpoint/2010/main" val="246409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C6AF8-7CB9-8403-4596-2BF2632FA9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5203CD-D1C6-C05B-A263-7CBBE0EDE2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9E555B3-06DB-0F29-1D58-E7209677BA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3624169-1514-F823-1AFE-9EAC97242412}"/>
              </a:ext>
            </a:extLst>
          </p:cNvPr>
          <p:cNvSpPr>
            <a:spLocks noGrp="1"/>
          </p:cNvSpPr>
          <p:nvPr>
            <p:ph type="dt" sz="half" idx="10"/>
          </p:nvPr>
        </p:nvSpPr>
        <p:spPr/>
        <p:txBody>
          <a:bodyPr/>
          <a:lstStyle/>
          <a:p>
            <a:fld id="{5B9D0C51-1D8C-FC4B-A5E1-D67725A44501}" type="datetimeFigureOut">
              <a:rPr lang="en-US" smtClean="0"/>
              <a:t>9/15/2026</a:t>
            </a:fld>
            <a:endParaRPr lang="en-US"/>
          </a:p>
        </p:txBody>
      </p:sp>
      <p:sp>
        <p:nvSpPr>
          <p:cNvPr id="6" name="Footer Placeholder 5">
            <a:extLst>
              <a:ext uri="{FF2B5EF4-FFF2-40B4-BE49-F238E27FC236}">
                <a16:creationId xmlns:a16="http://schemas.microsoft.com/office/drawing/2014/main" id="{051A28BC-01F9-5CCB-4128-4B47A62660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3C29A0-6C8C-75AF-72E3-D846846B696F}"/>
              </a:ext>
            </a:extLst>
          </p:cNvPr>
          <p:cNvSpPr>
            <a:spLocks noGrp="1"/>
          </p:cNvSpPr>
          <p:nvPr>
            <p:ph type="sldNum" sz="quarter" idx="12"/>
          </p:nvPr>
        </p:nvSpPr>
        <p:spPr/>
        <p:txBody>
          <a:bodyPr/>
          <a:lstStyle/>
          <a:p>
            <a:fld id="{6DFD0D37-CAAA-1240-B878-BF3D17B3678B}" type="slidenum">
              <a:rPr lang="en-US" smtClean="0"/>
              <a:t>‹#›</a:t>
            </a:fld>
            <a:endParaRPr lang="en-US"/>
          </a:p>
        </p:txBody>
      </p:sp>
    </p:spTree>
    <p:extLst>
      <p:ext uri="{BB962C8B-B14F-4D97-AF65-F5344CB8AC3E}">
        <p14:creationId xmlns:p14="http://schemas.microsoft.com/office/powerpoint/2010/main" val="3604390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5F7E5-53BF-C5D5-71F8-342333112A5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452E0D-3A96-3F1A-1008-160DA6CFEA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373313-6F6C-6A58-1F18-3338C25694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72CB7C-9599-3119-FAC2-E48F081141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75C936-D4EF-2846-94FD-4FF5968068B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4558CD-FF57-42F2-DAB9-DC3089595B7E}"/>
              </a:ext>
            </a:extLst>
          </p:cNvPr>
          <p:cNvSpPr>
            <a:spLocks noGrp="1"/>
          </p:cNvSpPr>
          <p:nvPr>
            <p:ph type="dt" sz="half" idx="10"/>
          </p:nvPr>
        </p:nvSpPr>
        <p:spPr/>
        <p:txBody>
          <a:bodyPr/>
          <a:lstStyle/>
          <a:p>
            <a:fld id="{5B9D0C51-1D8C-FC4B-A5E1-D67725A44501}" type="datetimeFigureOut">
              <a:rPr lang="en-US" smtClean="0"/>
              <a:t>9/15/2026</a:t>
            </a:fld>
            <a:endParaRPr lang="en-US"/>
          </a:p>
        </p:txBody>
      </p:sp>
      <p:sp>
        <p:nvSpPr>
          <p:cNvPr id="8" name="Footer Placeholder 7">
            <a:extLst>
              <a:ext uri="{FF2B5EF4-FFF2-40B4-BE49-F238E27FC236}">
                <a16:creationId xmlns:a16="http://schemas.microsoft.com/office/drawing/2014/main" id="{C38BF85B-E3C8-77B3-C164-166DA448CF6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DDA7B3-5A22-96FC-C151-A4FE6DF1FF2C}"/>
              </a:ext>
            </a:extLst>
          </p:cNvPr>
          <p:cNvSpPr>
            <a:spLocks noGrp="1"/>
          </p:cNvSpPr>
          <p:nvPr>
            <p:ph type="sldNum" sz="quarter" idx="12"/>
          </p:nvPr>
        </p:nvSpPr>
        <p:spPr/>
        <p:txBody>
          <a:bodyPr/>
          <a:lstStyle/>
          <a:p>
            <a:fld id="{6DFD0D37-CAAA-1240-B878-BF3D17B3678B}" type="slidenum">
              <a:rPr lang="en-US" smtClean="0"/>
              <a:t>‹#›</a:t>
            </a:fld>
            <a:endParaRPr lang="en-US"/>
          </a:p>
        </p:txBody>
      </p:sp>
    </p:spTree>
    <p:extLst>
      <p:ext uri="{BB962C8B-B14F-4D97-AF65-F5344CB8AC3E}">
        <p14:creationId xmlns:p14="http://schemas.microsoft.com/office/powerpoint/2010/main" val="2180266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A03EB-3A52-8172-B087-DD40999307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9F686B-8E0B-FBFC-6AF5-A52E46C2FCE4}"/>
              </a:ext>
            </a:extLst>
          </p:cNvPr>
          <p:cNvSpPr>
            <a:spLocks noGrp="1"/>
          </p:cNvSpPr>
          <p:nvPr>
            <p:ph type="dt" sz="half" idx="10"/>
          </p:nvPr>
        </p:nvSpPr>
        <p:spPr/>
        <p:txBody>
          <a:bodyPr/>
          <a:lstStyle/>
          <a:p>
            <a:fld id="{5B9D0C51-1D8C-FC4B-A5E1-D67725A44501}" type="datetimeFigureOut">
              <a:rPr lang="en-US" smtClean="0"/>
              <a:t>9/15/2026</a:t>
            </a:fld>
            <a:endParaRPr lang="en-US"/>
          </a:p>
        </p:txBody>
      </p:sp>
      <p:sp>
        <p:nvSpPr>
          <p:cNvPr id="4" name="Footer Placeholder 3">
            <a:extLst>
              <a:ext uri="{FF2B5EF4-FFF2-40B4-BE49-F238E27FC236}">
                <a16:creationId xmlns:a16="http://schemas.microsoft.com/office/drawing/2014/main" id="{A9CAC97E-4D70-3374-D6B1-B4156DC25F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8AC0EB1-ADFF-DD9A-8940-654B5DDBBCF5}"/>
              </a:ext>
            </a:extLst>
          </p:cNvPr>
          <p:cNvSpPr>
            <a:spLocks noGrp="1"/>
          </p:cNvSpPr>
          <p:nvPr>
            <p:ph type="sldNum" sz="quarter" idx="12"/>
          </p:nvPr>
        </p:nvSpPr>
        <p:spPr/>
        <p:txBody>
          <a:bodyPr/>
          <a:lstStyle/>
          <a:p>
            <a:fld id="{6DFD0D37-CAAA-1240-B878-BF3D17B3678B}" type="slidenum">
              <a:rPr lang="en-US" smtClean="0"/>
              <a:t>‹#›</a:t>
            </a:fld>
            <a:endParaRPr lang="en-US"/>
          </a:p>
        </p:txBody>
      </p:sp>
    </p:spTree>
    <p:extLst>
      <p:ext uri="{BB962C8B-B14F-4D97-AF65-F5344CB8AC3E}">
        <p14:creationId xmlns:p14="http://schemas.microsoft.com/office/powerpoint/2010/main" val="548744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348F52-88B8-ABD4-924D-6640C112B0BB}"/>
              </a:ext>
            </a:extLst>
          </p:cNvPr>
          <p:cNvSpPr>
            <a:spLocks noGrp="1"/>
          </p:cNvSpPr>
          <p:nvPr>
            <p:ph type="dt" sz="half" idx="10"/>
          </p:nvPr>
        </p:nvSpPr>
        <p:spPr/>
        <p:txBody>
          <a:bodyPr/>
          <a:lstStyle/>
          <a:p>
            <a:fld id="{5B9D0C51-1D8C-FC4B-A5E1-D67725A44501}" type="datetimeFigureOut">
              <a:rPr lang="en-US" smtClean="0"/>
              <a:t>9/15/2026</a:t>
            </a:fld>
            <a:endParaRPr lang="en-US"/>
          </a:p>
        </p:txBody>
      </p:sp>
      <p:sp>
        <p:nvSpPr>
          <p:cNvPr id="3" name="Footer Placeholder 2">
            <a:extLst>
              <a:ext uri="{FF2B5EF4-FFF2-40B4-BE49-F238E27FC236}">
                <a16:creationId xmlns:a16="http://schemas.microsoft.com/office/drawing/2014/main" id="{36370552-958A-D6E8-BFA5-E59C693F7A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5012DF-03E9-D11F-B41F-EF4835A1EB8B}"/>
              </a:ext>
            </a:extLst>
          </p:cNvPr>
          <p:cNvSpPr>
            <a:spLocks noGrp="1"/>
          </p:cNvSpPr>
          <p:nvPr>
            <p:ph type="sldNum" sz="quarter" idx="12"/>
          </p:nvPr>
        </p:nvSpPr>
        <p:spPr/>
        <p:txBody>
          <a:bodyPr/>
          <a:lstStyle/>
          <a:p>
            <a:fld id="{6DFD0D37-CAAA-1240-B878-BF3D17B3678B}" type="slidenum">
              <a:rPr lang="en-US" smtClean="0"/>
              <a:t>‹#›</a:t>
            </a:fld>
            <a:endParaRPr lang="en-US"/>
          </a:p>
        </p:txBody>
      </p:sp>
    </p:spTree>
    <p:extLst>
      <p:ext uri="{BB962C8B-B14F-4D97-AF65-F5344CB8AC3E}">
        <p14:creationId xmlns:p14="http://schemas.microsoft.com/office/powerpoint/2010/main" val="188329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66197-A6FA-9385-A9E7-CFB5912A05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DC3046-1AE5-3303-5AD6-B05CAFFE35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53B9C9-7D6B-0EBC-B20F-F239707A67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9623D3-5676-196C-A7C2-E0EFC22A21E7}"/>
              </a:ext>
            </a:extLst>
          </p:cNvPr>
          <p:cNvSpPr>
            <a:spLocks noGrp="1"/>
          </p:cNvSpPr>
          <p:nvPr>
            <p:ph type="dt" sz="half" idx="10"/>
          </p:nvPr>
        </p:nvSpPr>
        <p:spPr/>
        <p:txBody>
          <a:bodyPr/>
          <a:lstStyle/>
          <a:p>
            <a:fld id="{5B9D0C51-1D8C-FC4B-A5E1-D67725A44501}" type="datetimeFigureOut">
              <a:rPr lang="en-US" smtClean="0"/>
              <a:t>9/15/2026</a:t>
            </a:fld>
            <a:endParaRPr lang="en-US"/>
          </a:p>
        </p:txBody>
      </p:sp>
      <p:sp>
        <p:nvSpPr>
          <p:cNvPr id="6" name="Footer Placeholder 5">
            <a:extLst>
              <a:ext uri="{FF2B5EF4-FFF2-40B4-BE49-F238E27FC236}">
                <a16:creationId xmlns:a16="http://schemas.microsoft.com/office/drawing/2014/main" id="{6EF862E3-BC2E-3F84-0F33-6EAFC25A52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37854F-2433-0277-5C8D-35FB78AEA3E5}"/>
              </a:ext>
            </a:extLst>
          </p:cNvPr>
          <p:cNvSpPr>
            <a:spLocks noGrp="1"/>
          </p:cNvSpPr>
          <p:nvPr>
            <p:ph type="sldNum" sz="quarter" idx="12"/>
          </p:nvPr>
        </p:nvSpPr>
        <p:spPr/>
        <p:txBody>
          <a:bodyPr/>
          <a:lstStyle/>
          <a:p>
            <a:fld id="{6DFD0D37-CAAA-1240-B878-BF3D17B3678B}" type="slidenum">
              <a:rPr lang="en-US" smtClean="0"/>
              <a:t>‹#›</a:t>
            </a:fld>
            <a:endParaRPr lang="en-US"/>
          </a:p>
        </p:txBody>
      </p:sp>
    </p:spTree>
    <p:extLst>
      <p:ext uri="{BB962C8B-B14F-4D97-AF65-F5344CB8AC3E}">
        <p14:creationId xmlns:p14="http://schemas.microsoft.com/office/powerpoint/2010/main" val="3980821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12A97-BBAD-C611-A093-6CBEC12D85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2595FC8-9F45-CA31-6095-FB8CBE644A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C6E24E2-95E4-2B4C-B71A-BAF38C6BF3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22A2CA-D789-D912-0930-AE960558BF0F}"/>
              </a:ext>
            </a:extLst>
          </p:cNvPr>
          <p:cNvSpPr>
            <a:spLocks noGrp="1"/>
          </p:cNvSpPr>
          <p:nvPr>
            <p:ph type="dt" sz="half" idx="10"/>
          </p:nvPr>
        </p:nvSpPr>
        <p:spPr/>
        <p:txBody>
          <a:bodyPr/>
          <a:lstStyle/>
          <a:p>
            <a:fld id="{5B9D0C51-1D8C-FC4B-A5E1-D67725A44501}" type="datetimeFigureOut">
              <a:rPr lang="en-US" smtClean="0"/>
              <a:t>9/15/2026</a:t>
            </a:fld>
            <a:endParaRPr lang="en-US"/>
          </a:p>
        </p:txBody>
      </p:sp>
      <p:sp>
        <p:nvSpPr>
          <p:cNvPr id="6" name="Footer Placeholder 5">
            <a:extLst>
              <a:ext uri="{FF2B5EF4-FFF2-40B4-BE49-F238E27FC236}">
                <a16:creationId xmlns:a16="http://schemas.microsoft.com/office/drawing/2014/main" id="{946C8D15-0181-D3F8-CC33-A433C73B05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496BB8-008F-D435-C464-668AD6E435C4}"/>
              </a:ext>
            </a:extLst>
          </p:cNvPr>
          <p:cNvSpPr>
            <a:spLocks noGrp="1"/>
          </p:cNvSpPr>
          <p:nvPr>
            <p:ph type="sldNum" sz="quarter" idx="12"/>
          </p:nvPr>
        </p:nvSpPr>
        <p:spPr/>
        <p:txBody>
          <a:bodyPr/>
          <a:lstStyle/>
          <a:p>
            <a:fld id="{6DFD0D37-CAAA-1240-B878-BF3D17B3678B}" type="slidenum">
              <a:rPr lang="en-US" smtClean="0"/>
              <a:t>‹#›</a:t>
            </a:fld>
            <a:endParaRPr lang="en-US"/>
          </a:p>
        </p:txBody>
      </p:sp>
    </p:spTree>
    <p:extLst>
      <p:ext uri="{BB962C8B-B14F-4D97-AF65-F5344CB8AC3E}">
        <p14:creationId xmlns:p14="http://schemas.microsoft.com/office/powerpoint/2010/main" val="4222709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D946F-4BC9-09C2-2E36-DF9E879756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7527EE4-849F-A7F3-150E-4F2CE95320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10073E-791A-4491-FCFF-3FDEBBDAD558}"/>
              </a:ext>
            </a:extLst>
          </p:cNvPr>
          <p:cNvSpPr>
            <a:spLocks noGrp="1"/>
          </p:cNvSpPr>
          <p:nvPr>
            <p:ph type="dt" sz="half" idx="10"/>
          </p:nvPr>
        </p:nvSpPr>
        <p:spPr/>
        <p:txBody>
          <a:bodyPr/>
          <a:lstStyle/>
          <a:p>
            <a:fld id="{5B9D0C51-1D8C-FC4B-A5E1-D67725A44501}" type="datetimeFigureOut">
              <a:rPr lang="en-US" smtClean="0"/>
              <a:t>9/15/2026</a:t>
            </a:fld>
            <a:endParaRPr lang="en-US"/>
          </a:p>
        </p:txBody>
      </p:sp>
      <p:sp>
        <p:nvSpPr>
          <p:cNvPr id="5" name="Footer Placeholder 4">
            <a:extLst>
              <a:ext uri="{FF2B5EF4-FFF2-40B4-BE49-F238E27FC236}">
                <a16:creationId xmlns:a16="http://schemas.microsoft.com/office/drawing/2014/main" id="{EE03E68E-01B6-5868-87CA-0FB2742035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73C6B9-AA3E-27C4-7F43-3D98228AA106}"/>
              </a:ext>
            </a:extLst>
          </p:cNvPr>
          <p:cNvSpPr>
            <a:spLocks noGrp="1"/>
          </p:cNvSpPr>
          <p:nvPr>
            <p:ph type="sldNum" sz="quarter" idx="12"/>
          </p:nvPr>
        </p:nvSpPr>
        <p:spPr/>
        <p:txBody>
          <a:bodyPr/>
          <a:lstStyle/>
          <a:p>
            <a:fld id="{6DFD0D37-CAAA-1240-B878-BF3D17B3678B}" type="slidenum">
              <a:rPr lang="en-US" smtClean="0"/>
              <a:t>‹#›</a:t>
            </a:fld>
            <a:endParaRPr lang="en-US"/>
          </a:p>
        </p:txBody>
      </p:sp>
    </p:spTree>
    <p:extLst>
      <p:ext uri="{BB962C8B-B14F-4D97-AF65-F5344CB8AC3E}">
        <p14:creationId xmlns:p14="http://schemas.microsoft.com/office/powerpoint/2010/main" val="2975723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998D92-CE57-517F-9A2C-73324E3385B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DC3E9DE-9155-50BF-912A-801DB11E10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E5E0E1-A022-B1E9-0702-48864ED4A519}"/>
              </a:ext>
            </a:extLst>
          </p:cNvPr>
          <p:cNvSpPr>
            <a:spLocks noGrp="1"/>
          </p:cNvSpPr>
          <p:nvPr>
            <p:ph type="dt" sz="half" idx="10"/>
          </p:nvPr>
        </p:nvSpPr>
        <p:spPr/>
        <p:txBody>
          <a:bodyPr/>
          <a:lstStyle/>
          <a:p>
            <a:fld id="{5B9D0C51-1D8C-FC4B-A5E1-D67725A44501}" type="datetimeFigureOut">
              <a:rPr lang="en-US" smtClean="0"/>
              <a:t>9/15/2026</a:t>
            </a:fld>
            <a:endParaRPr lang="en-US"/>
          </a:p>
        </p:txBody>
      </p:sp>
      <p:sp>
        <p:nvSpPr>
          <p:cNvPr id="5" name="Footer Placeholder 4">
            <a:extLst>
              <a:ext uri="{FF2B5EF4-FFF2-40B4-BE49-F238E27FC236}">
                <a16:creationId xmlns:a16="http://schemas.microsoft.com/office/drawing/2014/main" id="{F5EC4F7C-4F53-0D5E-1464-1443B1E462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81EAEB-823E-7B05-62C6-D9AAAE5E66D3}"/>
              </a:ext>
            </a:extLst>
          </p:cNvPr>
          <p:cNvSpPr>
            <a:spLocks noGrp="1"/>
          </p:cNvSpPr>
          <p:nvPr>
            <p:ph type="sldNum" sz="quarter" idx="12"/>
          </p:nvPr>
        </p:nvSpPr>
        <p:spPr/>
        <p:txBody>
          <a:bodyPr/>
          <a:lstStyle/>
          <a:p>
            <a:fld id="{6DFD0D37-CAAA-1240-B878-BF3D17B3678B}" type="slidenum">
              <a:rPr lang="en-US" smtClean="0"/>
              <a:t>‹#›</a:t>
            </a:fld>
            <a:endParaRPr lang="en-US"/>
          </a:p>
        </p:txBody>
      </p:sp>
    </p:spTree>
    <p:extLst>
      <p:ext uri="{BB962C8B-B14F-4D97-AF65-F5344CB8AC3E}">
        <p14:creationId xmlns:p14="http://schemas.microsoft.com/office/powerpoint/2010/main" val="4166029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0D198C-6857-9C71-B34A-E531915682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10C560-94B1-3790-787A-11EE2BDC95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4C3939-D6C6-B4BB-9043-472F1E6006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9D0C51-1D8C-FC4B-A5E1-D67725A44501}" type="datetimeFigureOut">
              <a:rPr lang="en-US" smtClean="0"/>
              <a:t>9/15/2026</a:t>
            </a:fld>
            <a:endParaRPr lang="en-US"/>
          </a:p>
        </p:txBody>
      </p:sp>
      <p:sp>
        <p:nvSpPr>
          <p:cNvPr id="5" name="Footer Placeholder 4">
            <a:extLst>
              <a:ext uri="{FF2B5EF4-FFF2-40B4-BE49-F238E27FC236}">
                <a16:creationId xmlns:a16="http://schemas.microsoft.com/office/drawing/2014/main" id="{F0CBBAAB-82DE-B433-3DDF-DF3F5AD2CC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3175C3E-2E07-6106-DDBC-072FD3F574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FD0D37-CAAA-1240-B878-BF3D17B3678B}" type="slidenum">
              <a:rPr lang="en-US" smtClean="0"/>
              <a:t>‹#›</a:t>
            </a:fld>
            <a:endParaRPr lang="en-US"/>
          </a:p>
        </p:txBody>
      </p:sp>
    </p:spTree>
    <p:extLst>
      <p:ext uri="{BB962C8B-B14F-4D97-AF65-F5344CB8AC3E}">
        <p14:creationId xmlns:p14="http://schemas.microsoft.com/office/powerpoint/2010/main" val="32949462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ECF48D29-F4F1-0401-67B1-7FD75C731EBF}"/>
              </a:ext>
            </a:extLst>
          </p:cNvPr>
          <p:cNvSpPr>
            <a:spLocks noGrp="1"/>
          </p:cNvSpPr>
          <p:nvPr>
            <p:ph idx="1"/>
          </p:nvPr>
        </p:nvSpPr>
        <p:spPr>
          <a:xfrm>
            <a:off x="-202057" y="8424042"/>
            <a:ext cx="5709721" cy="2430864"/>
          </a:xfrm>
        </p:spPr>
        <p:txBody>
          <a:bodyPr anchor="t">
            <a:normAutofit/>
          </a:bodyPr>
          <a:lstStyle/>
          <a:p>
            <a:pPr marL="0" indent="0" algn="ctr">
              <a:buNone/>
            </a:pPr>
            <a:endParaRPr lang="en-US" sz="2000">
              <a:solidFill>
                <a:schemeClr val="tx2"/>
              </a:solidFill>
            </a:endParaRPr>
          </a:p>
        </p:txBody>
      </p:sp>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le 1">
            <a:extLst>
              <a:ext uri="{FF2B5EF4-FFF2-40B4-BE49-F238E27FC236}">
                <a16:creationId xmlns:a16="http://schemas.microsoft.com/office/drawing/2014/main" id="{D30C0A74-64FB-FAFD-9288-4146FFDE98E8}"/>
              </a:ext>
            </a:extLst>
          </p:cNvPr>
          <p:cNvSpPr txBox="1">
            <a:spLocks/>
          </p:cNvSpPr>
          <p:nvPr/>
        </p:nvSpPr>
        <p:spPr>
          <a:xfrm>
            <a:off x="1174745" y="1754372"/>
            <a:ext cx="9842204" cy="334925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a:solidFill>
                  <a:srgbClr val="FF0000"/>
                </a:solidFill>
              </a:rPr>
              <a:t>Building a Recommendation System for Cell Line Selection Using</a:t>
            </a:r>
            <a:br>
              <a:rPr lang="en-US" sz="2800">
                <a:solidFill>
                  <a:srgbClr val="FF0000"/>
                </a:solidFill>
              </a:rPr>
            </a:br>
            <a:r>
              <a:rPr lang="en-US" sz="2800">
                <a:solidFill>
                  <a:srgbClr val="FF0000"/>
                </a:solidFill>
              </a:rPr>
              <a:t>Integration of Biological Datasets</a:t>
            </a:r>
          </a:p>
        </p:txBody>
      </p:sp>
      <p:sp>
        <p:nvSpPr>
          <p:cNvPr id="5" name="Subtitle 2">
            <a:extLst>
              <a:ext uri="{FF2B5EF4-FFF2-40B4-BE49-F238E27FC236}">
                <a16:creationId xmlns:a16="http://schemas.microsoft.com/office/drawing/2014/main" id="{31EAF05D-B6DF-E4E8-FF78-0BAF03259883}"/>
              </a:ext>
            </a:extLst>
          </p:cNvPr>
          <p:cNvSpPr txBox="1">
            <a:spLocks/>
          </p:cNvSpPr>
          <p:nvPr/>
        </p:nvSpPr>
        <p:spPr>
          <a:xfrm>
            <a:off x="1524000" y="1231032"/>
            <a:ext cx="9144000" cy="5103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a:t>TEAM</a:t>
            </a:r>
            <a:r>
              <a:rPr lang="en-US"/>
              <a:t> </a:t>
            </a:r>
            <a:r>
              <a:rPr lang="en-US" b="1"/>
              <a:t>11</a:t>
            </a:r>
          </a:p>
        </p:txBody>
      </p:sp>
      <p:sp>
        <p:nvSpPr>
          <p:cNvPr id="6" name="Subtitle 2">
            <a:extLst>
              <a:ext uri="{FF2B5EF4-FFF2-40B4-BE49-F238E27FC236}">
                <a16:creationId xmlns:a16="http://schemas.microsoft.com/office/drawing/2014/main" id="{E28ED873-9C90-140F-2239-A05705EF8B23}"/>
              </a:ext>
            </a:extLst>
          </p:cNvPr>
          <p:cNvSpPr txBox="1">
            <a:spLocks/>
          </p:cNvSpPr>
          <p:nvPr/>
        </p:nvSpPr>
        <p:spPr>
          <a:xfrm>
            <a:off x="1524000" y="2245070"/>
            <a:ext cx="9144000" cy="51036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a:t>ASTRAZENCA</a:t>
            </a:r>
          </a:p>
        </p:txBody>
      </p:sp>
      <p:sp>
        <p:nvSpPr>
          <p:cNvPr id="7" name="Subtitle 2">
            <a:extLst>
              <a:ext uri="{FF2B5EF4-FFF2-40B4-BE49-F238E27FC236}">
                <a16:creationId xmlns:a16="http://schemas.microsoft.com/office/drawing/2014/main" id="{A79C989B-DA24-3F44-33D5-064C0B6B5C83}"/>
              </a:ext>
            </a:extLst>
          </p:cNvPr>
          <p:cNvSpPr txBox="1">
            <a:spLocks/>
          </p:cNvSpPr>
          <p:nvPr/>
        </p:nvSpPr>
        <p:spPr>
          <a:xfrm>
            <a:off x="-2505740" y="6039293"/>
            <a:ext cx="9144000" cy="51036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Supervisor: Daniel D’Andrea</a:t>
            </a:r>
          </a:p>
        </p:txBody>
      </p:sp>
      <p:sp>
        <p:nvSpPr>
          <p:cNvPr id="9" name="Subtitle 2">
            <a:extLst>
              <a:ext uri="{FF2B5EF4-FFF2-40B4-BE49-F238E27FC236}">
                <a16:creationId xmlns:a16="http://schemas.microsoft.com/office/drawing/2014/main" id="{2F2607C6-C0A2-3BD9-1DF7-1A20EFFE3A52}"/>
              </a:ext>
            </a:extLst>
          </p:cNvPr>
          <p:cNvSpPr txBox="1">
            <a:spLocks/>
          </p:cNvSpPr>
          <p:nvPr/>
        </p:nvSpPr>
        <p:spPr>
          <a:xfrm>
            <a:off x="5507664" y="4965405"/>
            <a:ext cx="6872177" cy="2488019"/>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en-US"/>
              <a:t>Group members: 1) </a:t>
            </a:r>
            <a:r>
              <a:rPr lang="en-US" err="1"/>
              <a:t>Thrijwal</a:t>
            </a:r>
            <a:r>
              <a:rPr lang="en-US"/>
              <a:t> Krishnappa</a:t>
            </a:r>
          </a:p>
          <a:p>
            <a:pPr>
              <a:lnSpc>
                <a:spcPct val="100000"/>
              </a:lnSpc>
            </a:pPr>
            <a:r>
              <a:rPr lang="en-US"/>
              <a:t>                                             2) Shankara Narayana NG</a:t>
            </a:r>
          </a:p>
          <a:p>
            <a:pPr>
              <a:lnSpc>
                <a:spcPct val="100000"/>
              </a:lnSpc>
            </a:pPr>
            <a:r>
              <a:rPr lang="en-US"/>
              <a:t>                              3) Chirag Aggarwal</a:t>
            </a:r>
          </a:p>
          <a:p>
            <a:pPr>
              <a:lnSpc>
                <a:spcPct val="100000"/>
              </a:lnSpc>
            </a:pPr>
            <a:r>
              <a:rPr lang="en-US"/>
              <a:t>                      4) Vian Dsouza</a:t>
            </a:r>
          </a:p>
          <a:p>
            <a:br>
              <a:rPr lang="en-US"/>
            </a:br>
            <a:endParaRPr lang="en-US"/>
          </a:p>
        </p:txBody>
      </p:sp>
    </p:spTree>
    <p:extLst>
      <p:ext uri="{BB962C8B-B14F-4D97-AF65-F5344CB8AC3E}">
        <p14:creationId xmlns:p14="http://schemas.microsoft.com/office/powerpoint/2010/main" val="324500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854B38EE-125E-5F70-F006-E2AA70CEC36E}"/>
              </a:ext>
            </a:extLst>
          </p:cNvPr>
          <p:cNvSpPr>
            <a:spLocks noGrp="1"/>
          </p:cNvSpPr>
          <p:nvPr>
            <p:ph type="title"/>
          </p:nvPr>
        </p:nvSpPr>
        <p:spPr>
          <a:xfrm>
            <a:off x="3768072" y="235371"/>
            <a:ext cx="6472933" cy="1325563"/>
          </a:xfrm>
        </p:spPr>
        <p:txBody>
          <a:bodyPr anchor="b">
            <a:normAutofit/>
          </a:bodyPr>
          <a:lstStyle/>
          <a:p>
            <a:r>
              <a:rPr lang="en-US" sz="3200" b="1">
                <a:latin typeface="Cambria"/>
                <a:ea typeface="Cambria"/>
              </a:rPr>
              <a:t>Problem Statement</a:t>
            </a:r>
            <a:endParaRPr lang="en-US"/>
          </a:p>
          <a:p>
            <a:pPr algn="ctr"/>
            <a:endParaRPr lang="en-US" sz="3600">
              <a:solidFill>
                <a:schemeClr val="tx2"/>
              </a:solidFill>
            </a:endParaRPr>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1AC4896B-47B1-EB22-F5BE-23235189C068}"/>
              </a:ext>
            </a:extLst>
          </p:cNvPr>
          <p:cNvSpPr>
            <a:spLocks noGrp="1"/>
          </p:cNvSpPr>
          <p:nvPr>
            <p:ph idx="1"/>
          </p:nvPr>
        </p:nvSpPr>
        <p:spPr>
          <a:xfrm>
            <a:off x="865461" y="1302617"/>
            <a:ext cx="9833548" cy="515438"/>
          </a:xfrm>
        </p:spPr>
        <p:txBody>
          <a:bodyPr vert="horz" lIns="91440" tIns="45720" rIns="91440" bIns="45720" rtlCol="0" anchor="t">
            <a:noAutofit/>
          </a:bodyPr>
          <a:lstStyle/>
          <a:p>
            <a:r>
              <a:rPr lang="en-US" sz="1600">
                <a:latin typeface="Calibri"/>
                <a:ea typeface="Calibri"/>
                <a:cs typeface="Calibri"/>
              </a:rPr>
              <a:t>Build </a:t>
            </a:r>
            <a:r>
              <a:rPr lang="en-US" sz="1600" err="1">
                <a:latin typeface="Calibri"/>
                <a:ea typeface="Calibri"/>
                <a:cs typeface="Calibri"/>
              </a:rPr>
              <a:t>CellLineSelector</a:t>
            </a:r>
            <a:r>
              <a:rPr lang="en-US" sz="1600">
                <a:latin typeface="Calibri"/>
                <a:ea typeface="Calibri"/>
                <a:cs typeface="Calibri"/>
              </a:rPr>
              <a:t>, a tool that recommends and justifies the best cell lines for a given experiment using public multi-omics evidence in place of ad-hoc and manual selection.</a:t>
            </a:r>
            <a:endParaRPr lang="en-US" sz="1600"/>
          </a:p>
          <a:p>
            <a:pPr marL="0" indent="0">
              <a:buNone/>
            </a:pPr>
            <a:endParaRPr lang="en-US" sz="180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Content Placeholder 2">
            <a:extLst>
              <a:ext uri="{FF2B5EF4-FFF2-40B4-BE49-F238E27FC236}">
                <a16:creationId xmlns:a16="http://schemas.microsoft.com/office/drawing/2014/main" id="{1E254534-4EAB-4A1E-99DF-7F27F3ADA678}"/>
              </a:ext>
            </a:extLst>
          </p:cNvPr>
          <p:cNvSpPr txBox="1">
            <a:spLocks/>
          </p:cNvSpPr>
          <p:nvPr/>
        </p:nvSpPr>
        <p:spPr>
          <a:xfrm>
            <a:off x="1341396" y="1998072"/>
            <a:ext cx="9833548" cy="5154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None/>
            </a:pPr>
            <a:r>
              <a:rPr lang="en-US" sz="1800" b="1">
                <a:latin typeface="Calibri"/>
                <a:ea typeface="Calibri"/>
                <a:cs typeface="Calibri"/>
              </a:rPr>
              <a:t>What was asked</a:t>
            </a:r>
            <a:endParaRPr lang="en-US" sz="1800"/>
          </a:p>
          <a:p>
            <a:pPr marL="0" indent="0">
              <a:buNone/>
            </a:pPr>
            <a:endParaRPr lang="en-US" sz="1800">
              <a:solidFill>
                <a:schemeClr val="tx2"/>
              </a:solidFill>
            </a:endParaRPr>
          </a:p>
        </p:txBody>
      </p:sp>
      <p:sp>
        <p:nvSpPr>
          <p:cNvPr id="9" name="TextBox 8">
            <a:extLst>
              <a:ext uri="{FF2B5EF4-FFF2-40B4-BE49-F238E27FC236}">
                <a16:creationId xmlns:a16="http://schemas.microsoft.com/office/drawing/2014/main" id="{07A3C3A4-501E-F5F3-3113-88611E86E892}"/>
              </a:ext>
            </a:extLst>
          </p:cNvPr>
          <p:cNvSpPr txBox="1"/>
          <p:nvPr/>
        </p:nvSpPr>
        <p:spPr>
          <a:xfrm>
            <a:off x="860888" y="2346626"/>
            <a:ext cx="7079875" cy="23391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ea typeface="+mn-lt"/>
                <a:cs typeface="+mn-lt"/>
              </a:rPr>
              <a:t>•</a:t>
            </a:r>
            <a:r>
              <a:rPr lang="en-GB" sz="1600">
                <a:latin typeface="Calibri"/>
                <a:ea typeface="Calibri"/>
                <a:cs typeface="Calibri"/>
              </a:rPr>
              <a:t>Recommend the most suitable cell lines for a given experiment by integrating public transcriptomic and proteomic datasets.</a:t>
            </a:r>
          </a:p>
          <a:p>
            <a:r>
              <a:rPr lang="en-GB" sz="1600">
                <a:ea typeface="+mn-lt"/>
                <a:cs typeface="+mn-lt"/>
              </a:rPr>
              <a:t>•</a:t>
            </a:r>
            <a:r>
              <a:rPr lang="en-GB" sz="1600">
                <a:latin typeface="Calibri"/>
                <a:ea typeface="Calibri"/>
                <a:cs typeface="Calibri"/>
              </a:rPr>
              <a:t>Identify lines expressing user-defined target genes while allowing exclusion of lines expressing undesirable or confounding genes.</a:t>
            </a:r>
            <a:endParaRPr lang="en-GB" sz="1600"/>
          </a:p>
          <a:p>
            <a:r>
              <a:rPr lang="en-GB" sz="1600">
                <a:ea typeface="+mn-lt"/>
                <a:cs typeface="+mn-lt"/>
              </a:rPr>
              <a:t>•</a:t>
            </a:r>
            <a:r>
              <a:rPr lang="en-GB" sz="1600">
                <a:latin typeface="Calibri"/>
                <a:ea typeface="Calibri"/>
                <a:cs typeface="Calibri"/>
              </a:rPr>
              <a:t>Justify every recommendation with transparent, auditable evidence, pathway activity, lineage, mutation/receptor status flagging data gaps rather than hiding them.</a:t>
            </a:r>
            <a:endParaRPr lang="en-GB" sz="1600"/>
          </a:p>
          <a:p>
            <a:endParaRPr lang="en-GB" sz="1600">
              <a:latin typeface="Calibri"/>
              <a:ea typeface="Calibri"/>
              <a:cs typeface="Calibri"/>
            </a:endParaRPr>
          </a:p>
          <a:p>
            <a:pPr algn="l"/>
            <a:endParaRPr lang="en-GB"/>
          </a:p>
        </p:txBody>
      </p:sp>
      <p:sp>
        <p:nvSpPr>
          <p:cNvPr id="17" name="TextBox 16">
            <a:extLst>
              <a:ext uri="{FF2B5EF4-FFF2-40B4-BE49-F238E27FC236}">
                <a16:creationId xmlns:a16="http://schemas.microsoft.com/office/drawing/2014/main" id="{116F9501-286C-BA65-1D99-6F428B7889F5}"/>
              </a:ext>
            </a:extLst>
          </p:cNvPr>
          <p:cNvSpPr txBox="1"/>
          <p:nvPr/>
        </p:nvSpPr>
        <p:spPr>
          <a:xfrm>
            <a:off x="1342501" y="4210155"/>
            <a:ext cx="385233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latin typeface="Calibri"/>
                <a:ea typeface="Calibri"/>
                <a:cs typeface="Calibri"/>
              </a:rPr>
              <a:t>Two frameworks that were required</a:t>
            </a:r>
          </a:p>
        </p:txBody>
      </p:sp>
      <p:sp>
        <p:nvSpPr>
          <p:cNvPr id="23" name="TextBox 22">
            <a:extLst>
              <a:ext uri="{FF2B5EF4-FFF2-40B4-BE49-F238E27FC236}">
                <a16:creationId xmlns:a16="http://schemas.microsoft.com/office/drawing/2014/main" id="{43148ADD-6376-5654-8BD1-084BDC0A0D4B}"/>
              </a:ext>
            </a:extLst>
          </p:cNvPr>
          <p:cNvSpPr txBox="1"/>
          <p:nvPr/>
        </p:nvSpPr>
        <p:spPr>
          <a:xfrm>
            <a:off x="861702" y="4576596"/>
            <a:ext cx="6806950" cy="23391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ea typeface="+mn-lt"/>
                <a:cs typeface="+mn-lt"/>
              </a:rPr>
              <a:t>•</a:t>
            </a:r>
            <a:r>
              <a:rPr lang="en-GB" sz="1600">
                <a:latin typeface="Calibri"/>
                <a:ea typeface="Calibri"/>
                <a:cs typeface="Calibri"/>
              </a:rPr>
              <a:t>Classical statistical model: data aggregation, missing-data handling, thresholding, quantitative confidence scoring → reproducible, evidence-based rankings</a:t>
            </a:r>
            <a:endParaRPr lang="en-US" sz="1600"/>
          </a:p>
          <a:p>
            <a:r>
              <a:rPr lang="en-GB" sz="1600">
                <a:ea typeface="+mn-lt"/>
                <a:cs typeface="+mn-lt"/>
              </a:rPr>
              <a:t>•</a:t>
            </a:r>
            <a:r>
              <a:rPr lang="en-GB" sz="1600">
                <a:latin typeface="Calibri"/>
                <a:ea typeface="Calibri"/>
                <a:cs typeface="Calibri"/>
              </a:rPr>
              <a:t>Agentic AI model: retrieval-augmented reasoning → structured, interpretable, plain-language justification for each ranking</a:t>
            </a:r>
            <a:endParaRPr lang="en-GB" sz="1600"/>
          </a:p>
          <a:p>
            <a:r>
              <a:rPr lang="en-GB" sz="1600">
                <a:ea typeface="+mn-lt"/>
                <a:cs typeface="+mn-lt"/>
              </a:rPr>
              <a:t>•</a:t>
            </a:r>
            <a:r>
              <a:rPr lang="en-GB" sz="1600">
                <a:latin typeface="Calibri"/>
                <a:ea typeface="Calibri"/>
                <a:cs typeface="Calibri"/>
              </a:rPr>
              <a:t>Delivered as both an API and a user-facing interface, with exportable reports for audit trails</a:t>
            </a:r>
            <a:endParaRPr lang="en-GB" sz="1600"/>
          </a:p>
          <a:p>
            <a:endParaRPr lang="en-GB" sz="1600">
              <a:latin typeface="Calibri"/>
              <a:ea typeface="Calibri"/>
              <a:cs typeface="Calibri"/>
            </a:endParaRPr>
          </a:p>
          <a:p>
            <a:pPr algn="l"/>
            <a:endParaRPr lang="en-GB"/>
          </a:p>
        </p:txBody>
      </p:sp>
      <p:sp>
        <p:nvSpPr>
          <p:cNvPr id="36" name="Rectangle 35">
            <a:extLst>
              <a:ext uri="{FF2B5EF4-FFF2-40B4-BE49-F238E27FC236}">
                <a16:creationId xmlns:a16="http://schemas.microsoft.com/office/drawing/2014/main" id="{DC465188-FE56-2AF8-331C-1196EE1F7D5E}"/>
              </a:ext>
            </a:extLst>
          </p:cNvPr>
          <p:cNvSpPr/>
          <p:nvPr/>
        </p:nvSpPr>
        <p:spPr>
          <a:xfrm>
            <a:off x="7870266" y="2179486"/>
            <a:ext cx="1356184" cy="7720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err="1"/>
              <a:t>DepMAP</a:t>
            </a:r>
            <a:endParaRPr lang="en-GB"/>
          </a:p>
        </p:txBody>
      </p:sp>
      <p:sp>
        <p:nvSpPr>
          <p:cNvPr id="37" name="Rectangle 36">
            <a:extLst>
              <a:ext uri="{FF2B5EF4-FFF2-40B4-BE49-F238E27FC236}">
                <a16:creationId xmlns:a16="http://schemas.microsoft.com/office/drawing/2014/main" id="{1E5B477C-9CC6-6A20-2671-D254D873AA7C}"/>
              </a:ext>
            </a:extLst>
          </p:cNvPr>
          <p:cNvSpPr/>
          <p:nvPr/>
        </p:nvSpPr>
        <p:spPr>
          <a:xfrm>
            <a:off x="9329625" y="2157074"/>
            <a:ext cx="1384488" cy="7944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Human Protein Atlas</a:t>
            </a:r>
          </a:p>
        </p:txBody>
      </p:sp>
      <p:sp>
        <p:nvSpPr>
          <p:cNvPr id="38" name="Rectangle 37">
            <a:extLst>
              <a:ext uri="{FF2B5EF4-FFF2-40B4-BE49-F238E27FC236}">
                <a16:creationId xmlns:a16="http://schemas.microsoft.com/office/drawing/2014/main" id="{2773E959-77AC-604C-F1EF-C357C7402BF6}"/>
              </a:ext>
            </a:extLst>
          </p:cNvPr>
          <p:cNvSpPr/>
          <p:nvPr/>
        </p:nvSpPr>
        <p:spPr>
          <a:xfrm>
            <a:off x="10820158" y="2146976"/>
            <a:ext cx="1237743" cy="795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GEO</a:t>
            </a:r>
          </a:p>
        </p:txBody>
      </p:sp>
      <p:sp>
        <p:nvSpPr>
          <p:cNvPr id="39" name="Rectangle 38">
            <a:extLst>
              <a:ext uri="{FF2B5EF4-FFF2-40B4-BE49-F238E27FC236}">
                <a16:creationId xmlns:a16="http://schemas.microsoft.com/office/drawing/2014/main" id="{F9666BAB-6D4E-83B4-5818-7CA021F7E84D}"/>
              </a:ext>
            </a:extLst>
          </p:cNvPr>
          <p:cNvSpPr/>
          <p:nvPr/>
        </p:nvSpPr>
        <p:spPr>
          <a:xfrm>
            <a:off x="8004708" y="3781534"/>
            <a:ext cx="4029956" cy="6900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err="1"/>
              <a:t>CellLineSelector</a:t>
            </a:r>
          </a:p>
          <a:p>
            <a:pPr algn="ctr"/>
            <a:r>
              <a:rPr lang="en-GB"/>
              <a:t>Classical Stats + Agentic AI</a:t>
            </a:r>
          </a:p>
        </p:txBody>
      </p:sp>
      <p:sp>
        <p:nvSpPr>
          <p:cNvPr id="40" name="Rectangle 39">
            <a:extLst>
              <a:ext uri="{FF2B5EF4-FFF2-40B4-BE49-F238E27FC236}">
                <a16:creationId xmlns:a16="http://schemas.microsoft.com/office/drawing/2014/main" id="{4FBE947D-398C-5472-9D72-A8A91B2F089B}"/>
              </a:ext>
            </a:extLst>
          </p:cNvPr>
          <p:cNvSpPr/>
          <p:nvPr/>
        </p:nvSpPr>
        <p:spPr>
          <a:xfrm>
            <a:off x="7952099" y="5636090"/>
            <a:ext cx="1927926" cy="10100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Ranked lines + confidence scores</a:t>
            </a:r>
          </a:p>
        </p:txBody>
      </p:sp>
      <p:sp>
        <p:nvSpPr>
          <p:cNvPr id="41" name="Rectangle 40">
            <a:extLst>
              <a:ext uri="{FF2B5EF4-FFF2-40B4-BE49-F238E27FC236}">
                <a16:creationId xmlns:a16="http://schemas.microsoft.com/office/drawing/2014/main" id="{FC7C658D-AD7C-21D4-0C9A-BF35CA83FC93}"/>
              </a:ext>
            </a:extLst>
          </p:cNvPr>
          <p:cNvSpPr/>
          <p:nvPr/>
        </p:nvSpPr>
        <p:spPr>
          <a:xfrm>
            <a:off x="10130340" y="5630898"/>
            <a:ext cx="1901728" cy="10204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Plain language rationale per line</a:t>
            </a:r>
          </a:p>
        </p:txBody>
      </p:sp>
      <p:cxnSp>
        <p:nvCxnSpPr>
          <p:cNvPr id="42" name="Straight Arrow Connector 41">
            <a:extLst>
              <a:ext uri="{FF2B5EF4-FFF2-40B4-BE49-F238E27FC236}">
                <a16:creationId xmlns:a16="http://schemas.microsoft.com/office/drawing/2014/main" id="{AA4144ED-1E66-2679-C209-547DB9E1E3CA}"/>
              </a:ext>
            </a:extLst>
          </p:cNvPr>
          <p:cNvCxnSpPr/>
          <p:nvPr/>
        </p:nvCxnSpPr>
        <p:spPr>
          <a:xfrm>
            <a:off x="8556756" y="2953461"/>
            <a:ext cx="441639" cy="8280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E7EE5CF9-7B4A-C060-5EE4-9EB06DF2D59C}"/>
              </a:ext>
            </a:extLst>
          </p:cNvPr>
          <p:cNvCxnSpPr/>
          <p:nvPr/>
        </p:nvCxnSpPr>
        <p:spPr>
          <a:xfrm>
            <a:off x="9992084" y="2953461"/>
            <a:ext cx="13804" cy="8142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8C1FC078-360A-1A7D-6746-B04178E8195F}"/>
              </a:ext>
            </a:extLst>
          </p:cNvPr>
          <p:cNvCxnSpPr/>
          <p:nvPr/>
        </p:nvCxnSpPr>
        <p:spPr>
          <a:xfrm flipH="1">
            <a:off x="11027176" y="2939660"/>
            <a:ext cx="414036" cy="8556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16D1A27D-7C43-93D5-D166-0250D613B25D}"/>
              </a:ext>
            </a:extLst>
          </p:cNvPr>
          <p:cNvCxnSpPr/>
          <p:nvPr/>
        </p:nvCxnSpPr>
        <p:spPr>
          <a:xfrm flipH="1">
            <a:off x="9122607" y="4471595"/>
            <a:ext cx="759067" cy="1186905"/>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7C1C0854-B24F-BB13-7FFF-D5BED7838ACE}"/>
              </a:ext>
            </a:extLst>
          </p:cNvPr>
          <p:cNvCxnSpPr/>
          <p:nvPr/>
        </p:nvCxnSpPr>
        <p:spPr>
          <a:xfrm>
            <a:off x="9881674" y="4485396"/>
            <a:ext cx="1104097" cy="1173103"/>
          </a:xfrm>
          <a:prstGeom prst="straightConnector1">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09694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8FD2795E-D9F4-2AFB-A30B-46778BB0B594}"/>
              </a:ext>
            </a:extLst>
          </p:cNvPr>
          <p:cNvSpPr>
            <a:spLocks noGrp="1"/>
          </p:cNvSpPr>
          <p:nvPr>
            <p:ph type="title"/>
          </p:nvPr>
        </p:nvSpPr>
        <p:spPr>
          <a:xfrm>
            <a:off x="3345410" y="781274"/>
            <a:ext cx="6811407" cy="1230743"/>
          </a:xfrm>
        </p:spPr>
        <p:txBody>
          <a:bodyPr anchor="b">
            <a:normAutofit/>
          </a:bodyPr>
          <a:lstStyle/>
          <a:p>
            <a:r>
              <a:rPr lang="en-US" sz="3000" b="1">
                <a:latin typeface="Cambria"/>
                <a:ea typeface="Cambria"/>
              </a:rPr>
              <a:t>Exploratory Data Analysis</a:t>
            </a:r>
            <a:endParaRPr lang="en-US" sz="3000">
              <a:latin typeface="Cambria"/>
              <a:ea typeface="Cambria"/>
            </a:endParaRPr>
          </a:p>
          <a:p>
            <a:endParaRPr lang="en-US" sz="3000" b="1">
              <a:latin typeface="Cambria"/>
              <a:ea typeface="Cambria"/>
            </a:endParaRPr>
          </a:p>
          <a:p>
            <a:endParaRPr lang="en-US" sz="3000" b="1">
              <a:latin typeface="Cambria"/>
              <a:ea typeface="Cambria"/>
            </a:endParaRPr>
          </a:p>
          <a:p>
            <a:pPr algn="ctr"/>
            <a:endParaRPr lang="en-US" sz="3600">
              <a:solidFill>
                <a:schemeClr val="tx2"/>
              </a:solidFill>
            </a:endParaRP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2552D9D1-5604-B67C-0B44-C51EDA06BA24}"/>
              </a:ext>
            </a:extLst>
          </p:cNvPr>
          <p:cNvSpPr>
            <a:spLocks noGrp="1"/>
          </p:cNvSpPr>
          <p:nvPr>
            <p:ph idx="1"/>
          </p:nvPr>
        </p:nvSpPr>
        <p:spPr>
          <a:xfrm>
            <a:off x="544226" y="945985"/>
            <a:ext cx="9833548" cy="630423"/>
          </a:xfrm>
        </p:spPr>
        <p:txBody>
          <a:bodyPr vert="horz" lIns="91440" tIns="45720" rIns="91440" bIns="45720" rtlCol="0" anchor="t">
            <a:normAutofit/>
          </a:bodyPr>
          <a:lstStyle/>
          <a:p>
            <a:r>
              <a:rPr lang="en-US" sz="1600">
                <a:latin typeface="Calibri"/>
                <a:ea typeface="Calibri"/>
                <a:cs typeface="Calibri"/>
              </a:rPr>
              <a:t>14 raw files, three incompatible naming systems, and four omics layers are unified into one 1,479-line reference table before any scoring happens.</a:t>
            </a:r>
            <a:endParaRPr lang="en-US" sz="1600"/>
          </a:p>
          <a:p>
            <a:endParaRPr lang="en-US" sz="1800">
              <a:solidFill>
                <a:schemeClr val="tx2"/>
              </a:solidFill>
            </a:endParaRP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718DF154-7651-CE16-5FDD-5F4648FE2373}"/>
              </a:ext>
            </a:extLst>
          </p:cNvPr>
          <p:cNvSpPr txBox="1"/>
          <p:nvPr/>
        </p:nvSpPr>
        <p:spPr>
          <a:xfrm>
            <a:off x="788865" y="1581369"/>
            <a:ext cx="5842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a:ea typeface="Calibri"/>
                <a:cs typeface="Calibri"/>
              </a:rPr>
              <a:t>Three ID Systems, One lookup table</a:t>
            </a:r>
            <a:endParaRPr lang="en-US"/>
          </a:p>
          <a:p>
            <a:pPr algn="l"/>
            <a:endParaRPr lang="en-US"/>
          </a:p>
        </p:txBody>
      </p:sp>
      <p:sp>
        <p:nvSpPr>
          <p:cNvPr id="7" name="TextBox 6">
            <a:extLst>
              <a:ext uri="{FF2B5EF4-FFF2-40B4-BE49-F238E27FC236}">
                <a16:creationId xmlns:a16="http://schemas.microsoft.com/office/drawing/2014/main" id="{82F72FCE-2CC4-B931-F59C-10380D66346D}"/>
              </a:ext>
            </a:extLst>
          </p:cNvPr>
          <p:cNvSpPr txBox="1"/>
          <p:nvPr/>
        </p:nvSpPr>
        <p:spPr>
          <a:xfrm>
            <a:off x="809184" y="2133929"/>
            <a:ext cx="510071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mn-lt"/>
                <a:cs typeface="+mn-lt"/>
              </a:rPr>
              <a:t>•</a:t>
            </a:r>
            <a:r>
              <a:rPr lang="en-US" sz="1600" err="1">
                <a:latin typeface="Calibri"/>
                <a:ea typeface="Calibri"/>
                <a:cs typeface="Calibri"/>
              </a:rPr>
              <a:t>DepMap</a:t>
            </a:r>
            <a:r>
              <a:rPr lang="en-US" sz="1600">
                <a:latin typeface="Calibri"/>
                <a:ea typeface="Calibri"/>
                <a:cs typeface="Calibri"/>
              </a:rPr>
              <a:t> ACH-/PR-IDs, HPA cell-line names, and </a:t>
            </a:r>
            <a:r>
              <a:rPr lang="en-US" sz="1600" err="1">
                <a:latin typeface="Calibri"/>
                <a:ea typeface="Calibri"/>
                <a:cs typeface="Calibri"/>
              </a:rPr>
              <a:t>Cellosaurus</a:t>
            </a:r>
            <a:r>
              <a:rPr lang="en-US" sz="1600">
                <a:latin typeface="Calibri"/>
                <a:ea typeface="Calibri"/>
                <a:cs typeface="Calibri"/>
              </a:rPr>
              <a:t> CVCL_ IDs don't share a key, so:</a:t>
            </a:r>
            <a:endParaRPr lang="en-US" sz="1600"/>
          </a:p>
          <a:p>
            <a:r>
              <a:rPr lang="en-US" sz="1600">
                <a:ea typeface="+mn-lt"/>
                <a:cs typeface="+mn-lt"/>
              </a:rPr>
              <a:t>•</a:t>
            </a:r>
            <a:r>
              <a:rPr lang="en-US" sz="1600">
                <a:latin typeface="Calibri"/>
                <a:ea typeface="Calibri"/>
                <a:cs typeface="Calibri"/>
              </a:rPr>
              <a:t>1: sample-info name → 2: CCLE-name prefix → 3: </a:t>
            </a:r>
            <a:r>
              <a:rPr lang="en-US" sz="1600" err="1">
                <a:latin typeface="Calibri"/>
                <a:ea typeface="Calibri"/>
                <a:cs typeface="Calibri"/>
              </a:rPr>
              <a:t>Cellosaurus</a:t>
            </a:r>
            <a:r>
              <a:rPr lang="en-US" sz="1600">
                <a:latin typeface="Calibri"/>
                <a:ea typeface="Calibri"/>
                <a:cs typeface="Calibri"/>
              </a:rPr>
              <a:t> cross-reference → 4: stripped-name match → 5: fallback to the raw ACH-code</a:t>
            </a:r>
            <a:endParaRPr lang="en-US" sz="1600"/>
          </a:p>
          <a:p>
            <a:r>
              <a:rPr lang="en-US" sz="1600">
                <a:ea typeface="+mn-lt"/>
                <a:cs typeface="+mn-lt"/>
              </a:rPr>
              <a:t>•</a:t>
            </a:r>
            <a:r>
              <a:rPr lang="en-US" sz="1600">
                <a:latin typeface="Calibri"/>
                <a:ea typeface="Calibri"/>
                <a:cs typeface="Calibri"/>
              </a:rPr>
              <a:t>80 lines were initially unmapped; the chain resolves all but 41 of them</a:t>
            </a:r>
            <a:endParaRPr lang="en-US" sz="1600"/>
          </a:p>
        </p:txBody>
      </p:sp>
      <p:sp>
        <p:nvSpPr>
          <p:cNvPr id="24" name="TextBox 23">
            <a:extLst>
              <a:ext uri="{FF2B5EF4-FFF2-40B4-BE49-F238E27FC236}">
                <a16:creationId xmlns:a16="http://schemas.microsoft.com/office/drawing/2014/main" id="{53BB2767-9C22-C947-CDEF-1D3D8B39BD7E}"/>
              </a:ext>
            </a:extLst>
          </p:cNvPr>
          <p:cNvSpPr txBox="1"/>
          <p:nvPr/>
        </p:nvSpPr>
        <p:spPr>
          <a:xfrm>
            <a:off x="6288616" y="5712883"/>
            <a:ext cx="514096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Calibri"/>
                <a:ea typeface="Calibri"/>
                <a:cs typeface="Calibri"/>
              </a:rPr>
              <a:t>14 </a:t>
            </a:r>
            <a:r>
              <a:rPr lang="en-US" sz="1600">
                <a:latin typeface="Calibri"/>
                <a:ea typeface="Calibri"/>
                <a:cs typeface="Calibri"/>
              </a:rPr>
              <a:t>raw files   ·   </a:t>
            </a:r>
            <a:r>
              <a:rPr lang="en-US" sz="1600" b="1">
                <a:latin typeface="Calibri"/>
                <a:ea typeface="Calibri"/>
                <a:cs typeface="Calibri"/>
              </a:rPr>
              <a:t>4 </a:t>
            </a:r>
            <a:r>
              <a:rPr lang="en-US" sz="1600">
                <a:latin typeface="Calibri"/>
                <a:ea typeface="Calibri"/>
                <a:cs typeface="Calibri"/>
              </a:rPr>
              <a:t>omics layers   ·   </a:t>
            </a:r>
            <a:r>
              <a:rPr lang="en-US" sz="1600" b="1">
                <a:latin typeface="Calibri"/>
                <a:ea typeface="Calibri"/>
                <a:cs typeface="Calibri"/>
              </a:rPr>
              <a:t>1,479 </a:t>
            </a:r>
            <a:r>
              <a:rPr lang="en-US" sz="1600">
                <a:latin typeface="Calibri"/>
                <a:ea typeface="Calibri"/>
                <a:cs typeface="Calibri"/>
              </a:rPr>
              <a:t>unified lines</a:t>
            </a:r>
            <a:endParaRPr lang="en-US" sz="1600"/>
          </a:p>
          <a:p>
            <a:pPr algn="l"/>
            <a:endParaRPr lang="en-US"/>
          </a:p>
        </p:txBody>
      </p:sp>
      <p:sp>
        <p:nvSpPr>
          <p:cNvPr id="11" name="TextBox 10">
            <a:extLst>
              <a:ext uri="{FF2B5EF4-FFF2-40B4-BE49-F238E27FC236}">
                <a16:creationId xmlns:a16="http://schemas.microsoft.com/office/drawing/2014/main" id="{8806DA58-0F66-2987-456E-7672F2C186BB}"/>
              </a:ext>
            </a:extLst>
          </p:cNvPr>
          <p:cNvSpPr txBox="1"/>
          <p:nvPr/>
        </p:nvSpPr>
        <p:spPr>
          <a:xfrm>
            <a:off x="809281" y="4134844"/>
            <a:ext cx="466481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t>Disease-label coverage</a:t>
            </a:r>
          </a:p>
        </p:txBody>
      </p:sp>
      <p:sp>
        <p:nvSpPr>
          <p:cNvPr id="25" name="TextBox 24">
            <a:extLst>
              <a:ext uri="{FF2B5EF4-FFF2-40B4-BE49-F238E27FC236}">
                <a16:creationId xmlns:a16="http://schemas.microsoft.com/office/drawing/2014/main" id="{DCB74110-DFEE-81F5-22CA-850830E8B0C9}"/>
              </a:ext>
            </a:extLst>
          </p:cNvPr>
          <p:cNvSpPr txBox="1"/>
          <p:nvPr/>
        </p:nvSpPr>
        <p:spPr>
          <a:xfrm>
            <a:off x="784737" y="4671259"/>
            <a:ext cx="5278353"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600">
                <a:ea typeface="+mn-lt"/>
                <a:cs typeface="+mn-lt"/>
              </a:rPr>
              <a:t>•</a:t>
            </a:r>
            <a:r>
              <a:rPr lang="en-GB" sz="1600">
                <a:latin typeface="Calibri"/>
                <a:ea typeface="Calibri"/>
                <a:cs typeface="Calibri"/>
              </a:rPr>
              <a:t>34 disease categories are captured across the 1,479 lines; spanning major lineages such as lung, breast and colorectal cancer</a:t>
            </a:r>
            <a:endParaRPr lang="en-US" sz="1600"/>
          </a:p>
          <a:p>
            <a:r>
              <a:rPr lang="en-GB" sz="1600">
                <a:ea typeface="+mn-lt"/>
                <a:cs typeface="+mn-lt"/>
              </a:rPr>
              <a:t>•</a:t>
            </a:r>
            <a:r>
              <a:rPr lang="en-GB" sz="1600">
                <a:latin typeface="Calibri"/>
                <a:ea typeface="Calibri"/>
                <a:cs typeface="Calibri"/>
              </a:rPr>
              <a:t>67 lines carry no disease label at all: 41 are the anonymous ACH-fallback lines, 26 are named but unassigned</a:t>
            </a:r>
            <a:endParaRPr lang="en-GB" sz="1600"/>
          </a:p>
          <a:p>
            <a:r>
              <a:rPr lang="en-GB" sz="1600">
                <a:ea typeface="+mn-lt"/>
                <a:cs typeface="+mn-lt"/>
              </a:rPr>
              <a:t>•</a:t>
            </a:r>
            <a:r>
              <a:rPr lang="en-GB" sz="1600">
                <a:latin typeface="Calibri"/>
                <a:ea typeface="Calibri"/>
                <a:cs typeface="Calibri"/>
              </a:rPr>
              <a:t>Four omics layers, drawn from 14 raw files, sit behind every one of these 1,479 resolved, labelled lines</a:t>
            </a:r>
            <a:endParaRPr lang="en-GB" sz="1600"/>
          </a:p>
          <a:p>
            <a:pPr algn="l"/>
            <a:endParaRPr lang="en-GB"/>
          </a:p>
        </p:txBody>
      </p:sp>
      <p:sp>
        <p:nvSpPr>
          <p:cNvPr id="4" name="TextBox 3">
            <a:extLst>
              <a:ext uri="{FF2B5EF4-FFF2-40B4-BE49-F238E27FC236}">
                <a16:creationId xmlns:a16="http://schemas.microsoft.com/office/drawing/2014/main" id="{68069B97-BEF0-43F4-D6A5-236191FF6F8C}"/>
              </a:ext>
            </a:extLst>
          </p:cNvPr>
          <p:cNvSpPr txBox="1"/>
          <p:nvPr/>
        </p:nvSpPr>
        <p:spPr>
          <a:xfrm>
            <a:off x="7610366" y="1397586"/>
            <a:ext cx="440258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How the data comes together</a:t>
            </a:r>
          </a:p>
        </p:txBody>
      </p:sp>
      <p:sp>
        <p:nvSpPr>
          <p:cNvPr id="28" name="Rectangle 27">
            <a:extLst>
              <a:ext uri="{FF2B5EF4-FFF2-40B4-BE49-F238E27FC236}">
                <a16:creationId xmlns:a16="http://schemas.microsoft.com/office/drawing/2014/main" id="{C3F73C6A-04BF-35F4-5940-6938113CF6D0}"/>
              </a:ext>
            </a:extLst>
          </p:cNvPr>
          <p:cNvSpPr/>
          <p:nvPr/>
        </p:nvSpPr>
        <p:spPr>
          <a:xfrm>
            <a:off x="5673397" y="2008460"/>
            <a:ext cx="1823465" cy="4630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Transcriptomics</a:t>
            </a:r>
          </a:p>
        </p:txBody>
      </p:sp>
      <p:sp>
        <p:nvSpPr>
          <p:cNvPr id="17" name="Rectangle 16">
            <a:extLst>
              <a:ext uri="{FF2B5EF4-FFF2-40B4-BE49-F238E27FC236}">
                <a16:creationId xmlns:a16="http://schemas.microsoft.com/office/drawing/2014/main" id="{FCFFB091-E1C5-1C7B-6994-EE73462571AC}"/>
              </a:ext>
            </a:extLst>
          </p:cNvPr>
          <p:cNvSpPr/>
          <p:nvPr/>
        </p:nvSpPr>
        <p:spPr>
          <a:xfrm>
            <a:off x="7644809" y="2019206"/>
            <a:ext cx="1314524" cy="4533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Proteomics</a:t>
            </a:r>
          </a:p>
        </p:txBody>
      </p:sp>
      <p:sp>
        <p:nvSpPr>
          <p:cNvPr id="23" name="Rectangle 22">
            <a:extLst>
              <a:ext uri="{FF2B5EF4-FFF2-40B4-BE49-F238E27FC236}">
                <a16:creationId xmlns:a16="http://schemas.microsoft.com/office/drawing/2014/main" id="{78C5AC68-6957-560C-6D1A-3417625D9D29}"/>
              </a:ext>
            </a:extLst>
          </p:cNvPr>
          <p:cNvSpPr/>
          <p:nvPr/>
        </p:nvSpPr>
        <p:spPr>
          <a:xfrm>
            <a:off x="9061082" y="2016328"/>
            <a:ext cx="1658847" cy="4431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Metabolomics</a:t>
            </a:r>
          </a:p>
        </p:txBody>
      </p:sp>
      <p:sp>
        <p:nvSpPr>
          <p:cNvPr id="27" name="Rectangle 26">
            <a:extLst>
              <a:ext uri="{FF2B5EF4-FFF2-40B4-BE49-F238E27FC236}">
                <a16:creationId xmlns:a16="http://schemas.microsoft.com/office/drawing/2014/main" id="{31B0877F-5F23-2115-5F9E-60A256064AF4}"/>
              </a:ext>
            </a:extLst>
          </p:cNvPr>
          <p:cNvSpPr/>
          <p:nvPr/>
        </p:nvSpPr>
        <p:spPr>
          <a:xfrm>
            <a:off x="10836700" y="1911769"/>
            <a:ext cx="1272903" cy="60941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Genomic signatures</a:t>
            </a:r>
          </a:p>
        </p:txBody>
      </p:sp>
      <p:sp>
        <p:nvSpPr>
          <p:cNvPr id="29" name="Rectangle 28">
            <a:extLst>
              <a:ext uri="{FF2B5EF4-FFF2-40B4-BE49-F238E27FC236}">
                <a16:creationId xmlns:a16="http://schemas.microsoft.com/office/drawing/2014/main" id="{5162FFE5-46DC-05A4-8586-E6A954CBF357}"/>
              </a:ext>
            </a:extLst>
          </p:cNvPr>
          <p:cNvSpPr/>
          <p:nvPr/>
        </p:nvSpPr>
        <p:spPr>
          <a:xfrm>
            <a:off x="6285311" y="3771020"/>
            <a:ext cx="5001974" cy="552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3 ID systems(</a:t>
            </a:r>
            <a:r>
              <a:rPr lang="en-US" err="1"/>
              <a:t>DepMap,HPA,Cellosaurus</a:t>
            </a:r>
            <a:r>
              <a:rPr lang="en-US"/>
              <a:t>) reconciled</a:t>
            </a:r>
          </a:p>
        </p:txBody>
      </p:sp>
      <p:sp>
        <p:nvSpPr>
          <p:cNvPr id="30" name="Rectangle 29">
            <a:extLst>
              <a:ext uri="{FF2B5EF4-FFF2-40B4-BE49-F238E27FC236}">
                <a16:creationId xmlns:a16="http://schemas.microsoft.com/office/drawing/2014/main" id="{12E3DDBC-93B4-AE4B-AE86-96E8D1CFFC5C}"/>
              </a:ext>
            </a:extLst>
          </p:cNvPr>
          <p:cNvSpPr/>
          <p:nvPr/>
        </p:nvSpPr>
        <p:spPr>
          <a:xfrm>
            <a:off x="6287602" y="4916521"/>
            <a:ext cx="4996042" cy="4968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Master lookup-1,479 unified cell lines</a:t>
            </a:r>
          </a:p>
        </p:txBody>
      </p:sp>
      <p:cxnSp>
        <p:nvCxnSpPr>
          <p:cNvPr id="31" name="Straight Arrow Connector 30">
            <a:extLst>
              <a:ext uri="{FF2B5EF4-FFF2-40B4-BE49-F238E27FC236}">
                <a16:creationId xmlns:a16="http://schemas.microsoft.com/office/drawing/2014/main" id="{E74B76CC-37EE-B5EC-1DDC-3C51D50A9F08}"/>
              </a:ext>
            </a:extLst>
          </p:cNvPr>
          <p:cNvCxnSpPr/>
          <p:nvPr/>
        </p:nvCxnSpPr>
        <p:spPr>
          <a:xfrm>
            <a:off x="6665989" y="2442816"/>
            <a:ext cx="648657" cy="1352519"/>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A07F5CDF-C0D8-5CFA-3932-693A03A8A312}"/>
              </a:ext>
            </a:extLst>
          </p:cNvPr>
          <p:cNvCxnSpPr/>
          <p:nvPr/>
        </p:nvCxnSpPr>
        <p:spPr>
          <a:xfrm>
            <a:off x="8294534" y="2484219"/>
            <a:ext cx="55204" cy="1352519"/>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FCF2B92A-01B6-CB2D-A863-0AFDCCB00314}"/>
              </a:ext>
            </a:extLst>
          </p:cNvPr>
          <p:cNvCxnSpPr/>
          <p:nvPr/>
        </p:nvCxnSpPr>
        <p:spPr>
          <a:xfrm flipH="1">
            <a:off x="9467638" y="2456617"/>
            <a:ext cx="372632" cy="1324917"/>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7794E456-6282-77BB-83D7-5AE667EC37F5}"/>
              </a:ext>
            </a:extLst>
          </p:cNvPr>
          <p:cNvCxnSpPr/>
          <p:nvPr/>
        </p:nvCxnSpPr>
        <p:spPr>
          <a:xfrm flipH="1">
            <a:off x="10547552" y="2510295"/>
            <a:ext cx="917018" cy="1257437"/>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A968AF84-3E45-BC0F-AC2E-441EFEC7200E}"/>
              </a:ext>
            </a:extLst>
          </p:cNvPr>
          <p:cNvCxnSpPr/>
          <p:nvPr/>
        </p:nvCxnSpPr>
        <p:spPr>
          <a:xfrm>
            <a:off x="8749974" y="4319782"/>
            <a:ext cx="13804" cy="621054"/>
          </a:xfrm>
          <a:prstGeom prst="straightConnector1">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9711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7576D519-8D59-4FB6-EDB1-F69962E132E8}"/>
              </a:ext>
            </a:extLst>
          </p:cNvPr>
          <p:cNvSpPr>
            <a:spLocks noGrp="1"/>
          </p:cNvSpPr>
          <p:nvPr>
            <p:ph idx="1"/>
          </p:nvPr>
        </p:nvSpPr>
        <p:spPr>
          <a:xfrm>
            <a:off x="855117" y="660721"/>
            <a:ext cx="9833548" cy="534976"/>
          </a:xfrm>
        </p:spPr>
        <p:txBody>
          <a:bodyPr vert="horz" lIns="91440" tIns="45720" rIns="91440" bIns="45720" rtlCol="0" anchor="t">
            <a:normAutofit/>
          </a:bodyPr>
          <a:lstStyle/>
          <a:p>
            <a:r>
              <a:rPr lang="en-US" sz="1500">
                <a:latin typeface="Calibri"/>
                <a:ea typeface="Calibri"/>
                <a:cs typeface="Calibri"/>
              </a:rPr>
              <a:t>Data completeness varies sharply across the five profiled sources and that exact pattern, not a preference for one algorithm, is what drives the modelling choices downstream.</a:t>
            </a:r>
            <a:endParaRPr lang="en-US" sz="1800"/>
          </a:p>
          <a:p>
            <a:endParaRPr lang="en-US" sz="180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3815986" cy="2675936"/>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Box 4">
            <a:extLst>
              <a:ext uri="{FF2B5EF4-FFF2-40B4-BE49-F238E27FC236}">
                <a16:creationId xmlns:a16="http://schemas.microsoft.com/office/drawing/2014/main" id="{1F96A9E0-1A84-C4DE-C5A6-3B13E4C6AFFF}"/>
              </a:ext>
            </a:extLst>
          </p:cNvPr>
          <p:cNvSpPr txBox="1"/>
          <p:nvPr/>
        </p:nvSpPr>
        <p:spPr>
          <a:xfrm>
            <a:off x="924485" y="1403225"/>
            <a:ext cx="7239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a:ea typeface="Calibri"/>
                <a:cs typeface="Calibri"/>
              </a:rPr>
              <a:t>COMPLETENESS BY SOURCE</a:t>
            </a:r>
            <a:endParaRPr lang="en-US"/>
          </a:p>
          <a:p>
            <a:pPr algn="l"/>
            <a:endParaRPr lang="en-US"/>
          </a:p>
        </p:txBody>
      </p:sp>
      <p:sp>
        <p:nvSpPr>
          <p:cNvPr id="7" name="TextBox 6">
            <a:extLst>
              <a:ext uri="{FF2B5EF4-FFF2-40B4-BE49-F238E27FC236}">
                <a16:creationId xmlns:a16="http://schemas.microsoft.com/office/drawing/2014/main" id="{11B26D21-A184-A2FF-B85F-93C6AFF81095}"/>
              </a:ext>
            </a:extLst>
          </p:cNvPr>
          <p:cNvSpPr txBox="1"/>
          <p:nvPr/>
        </p:nvSpPr>
        <p:spPr>
          <a:xfrm>
            <a:off x="942539" y="1878230"/>
            <a:ext cx="6434666"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mn-lt"/>
                <a:cs typeface="+mn-lt"/>
              </a:rPr>
              <a:t>•</a:t>
            </a:r>
            <a:r>
              <a:rPr lang="en-US" sz="1600">
                <a:latin typeface="Calibri"/>
                <a:ea typeface="Calibri"/>
                <a:cs typeface="Calibri"/>
              </a:rPr>
              <a:t>Genomic signatures &amp; </a:t>
            </a:r>
            <a:r>
              <a:rPr lang="en-US" sz="1600" err="1">
                <a:latin typeface="Calibri"/>
                <a:ea typeface="Calibri"/>
                <a:cs typeface="Calibri"/>
              </a:rPr>
              <a:t>DepMap</a:t>
            </a:r>
            <a:r>
              <a:rPr lang="en-US" sz="1600">
                <a:latin typeface="Calibri"/>
                <a:ea typeface="Calibri"/>
                <a:cs typeface="Calibri"/>
              </a:rPr>
              <a:t> RNA : 0% missing; these anchor all 1,479 lines</a:t>
            </a:r>
            <a:endParaRPr lang="en-US" sz="1600"/>
          </a:p>
          <a:p>
            <a:r>
              <a:rPr lang="en-US" sz="1600">
                <a:ea typeface="+mn-lt"/>
                <a:cs typeface="+mn-lt"/>
              </a:rPr>
              <a:t>•</a:t>
            </a:r>
            <a:r>
              <a:rPr lang="en-US" sz="1600">
                <a:latin typeface="Calibri"/>
                <a:ea typeface="Calibri"/>
                <a:cs typeface="Calibri"/>
              </a:rPr>
              <a:t>HPA RNA (2nd source) : 29.6% missing, reflecting HPA's narrower profiling scope</a:t>
            </a:r>
            <a:endParaRPr lang="en-US" sz="1600"/>
          </a:p>
          <a:p>
            <a:r>
              <a:rPr lang="en-US" sz="1600">
                <a:ea typeface="+mn-lt"/>
                <a:cs typeface="+mn-lt"/>
              </a:rPr>
              <a:t>•</a:t>
            </a:r>
            <a:r>
              <a:rPr lang="en-US" sz="1600">
                <a:latin typeface="Calibri"/>
                <a:ea typeface="Calibri"/>
                <a:cs typeface="Calibri"/>
              </a:rPr>
              <a:t>Metabolomics : 37.3% missing</a:t>
            </a:r>
            <a:endParaRPr lang="en-US" sz="1600"/>
          </a:p>
          <a:p>
            <a:r>
              <a:rPr lang="en-US" sz="1600">
                <a:ea typeface="+mn-lt"/>
                <a:cs typeface="+mn-lt"/>
              </a:rPr>
              <a:t>•</a:t>
            </a:r>
            <a:r>
              <a:rPr lang="en-US" sz="1600">
                <a:latin typeface="Calibri"/>
                <a:ea typeface="Calibri"/>
                <a:cs typeface="Calibri"/>
              </a:rPr>
              <a:t>Proteomics : 75.1% missing; the sparsest layer, a structural gap from mass-spectrometry coverage, not a data-quality error</a:t>
            </a:r>
            <a:endParaRPr lang="en-US" sz="1600"/>
          </a:p>
          <a:p>
            <a:pPr algn="l"/>
            <a:endParaRPr lang="en-US"/>
          </a:p>
        </p:txBody>
      </p:sp>
      <p:sp>
        <p:nvSpPr>
          <p:cNvPr id="9" name="TextBox 8">
            <a:extLst>
              <a:ext uri="{FF2B5EF4-FFF2-40B4-BE49-F238E27FC236}">
                <a16:creationId xmlns:a16="http://schemas.microsoft.com/office/drawing/2014/main" id="{0537598B-5E81-A759-3FBE-8643BACAFEEE}"/>
              </a:ext>
            </a:extLst>
          </p:cNvPr>
          <p:cNvSpPr txBox="1"/>
          <p:nvPr/>
        </p:nvSpPr>
        <p:spPr>
          <a:xfrm>
            <a:off x="853993" y="3823456"/>
            <a:ext cx="5969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Calibri"/>
                <a:ea typeface="Calibri"/>
                <a:cs typeface="Calibri"/>
              </a:rPr>
              <a:t>WHAT THIS MEANS FOR MODELLING</a:t>
            </a:r>
            <a:endParaRPr lang="en-US"/>
          </a:p>
          <a:p>
            <a:pPr algn="l"/>
            <a:endParaRPr lang="en-US"/>
          </a:p>
        </p:txBody>
      </p:sp>
      <p:sp>
        <p:nvSpPr>
          <p:cNvPr id="11" name="TextBox 10">
            <a:extLst>
              <a:ext uri="{FF2B5EF4-FFF2-40B4-BE49-F238E27FC236}">
                <a16:creationId xmlns:a16="http://schemas.microsoft.com/office/drawing/2014/main" id="{154C5BA7-AD89-483F-C0AC-7027FF5D7DE5}"/>
              </a:ext>
            </a:extLst>
          </p:cNvPr>
          <p:cNvSpPr txBox="1"/>
          <p:nvPr/>
        </p:nvSpPr>
        <p:spPr>
          <a:xfrm>
            <a:off x="938468" y="4224042"/>
            <a:ext cx="6064249"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mn-lt"/>
                <a:cs typeface="+mn-lt"/>
              </a:rPr>
              <a:t>•</a:t>
            </a:r>
            <a:r>
              <a:rPr lang="en-US" sz="1600">
                <a:latin typeface="Calibri"/>
                <a:ea typeface="Calibri"/>
                <a:cs typeface="Calibri"/>
              </a:rPr>
              <a:t>No modality is imputed, every gap is carried through to the Confidence score rather than guessed</a:t>
            </a:r>
            <a:endParaRPr lang="en-US" sz="1600"/>
          </a:p>
          <a:p>
            <a:r>
              <a:rPr lang="en-US" sz="1600">
                <a:ea typeface="+mn-lt"/>
                <a:cs typeface="+mn-lt"/>
              </a:rPr>
              <a:t>•</a:t>
            </a:r>
            <a:r>
              <a:rPr lang="en-US" sz="1600">
                <a:latin typeface="Calibri"/>
                <a:ea typeface="Calibri"/>
                <a:cs typeface="Calibri"/>
              </a:rPr>
              <a:t>This exact 0% → 75.1% missingness pattern is why MOFA was chosen over PCA/SVD, which both require a complete matrix</a:t>
            </a:r>
            <a:endParaRPr lang="en-US" sz="1600"/>
          </a:p>
          <a:p>
            <a:pPr algn="l"/>
            <a:endParaRPr lang="en-US" sz="2000"/>
          </a:p>
        </p:txBody>
      </p:sp>
      <p:sp>
        <p:nvSpPr>
          <p:cNvPr id="17" name="TextBox 16">
            <a:extLst>
              <a:ext uri="{FF2B5EF4-FFF2-40B4-BE49-F238E27FC236}">
                <a16:creationId xmlns:a16="http://schemas.microsoft.com/office/drawing/2014/main" id="{5E737EEE-DEC7-B223-AFA1-4D42C2C0A55D}"/>
              </a:ext>
            </a:extLst>
          </p:cNvPr>
          <p:cNvSpPr txBox="1"/>
          <p:nvPr/>
        </p:nvSpPr>
        <p:spPr>
          <a:xfrm>
            <a:off x="7558176" y="1598083"/>
            <a:ext cx="4048437" cy="5693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300" b="1">
                <a:latin typeface="Calibri"/>
                <a:ea typeface="Calibri"/>
                <a:cs typeface="Calibri"/>
              </a:rPr>
              <a:t>Missing data by source after merging with </a:t>
            </a:r>
            <a:r>
              <a:rPr lang="en-US" sz="1300" b="1" err="1">
                <a:latin typeface="Calibri"/>
                <a:ea typeface="Calibri"/>
                <a:cs typeface="Calibri"/>
              </a:rPr>
              <a:t>DepMap</a:t>
            </a:r>
            <a:r>
              <a:rPr lang="en-US" sz="1300" b="1">
                <a:latin typeface="Calibri"/>
                <a:ea typeface="Calibri"/>
                <a:cs typeface="Calibri"/>
              </a:rPr>
              <a:t> RNA</a:t>
            </a:r>
            <a:endParaRPr lang="en-US"/>
          </a:p>
          <a:p>
            <a:pPr algn="l"/>
            <a:endParaRPr lang="en-US"/>
          </a:p>
        </p:txBody>
      </p:sp>
      <p:pic>
        <p:nvPicPr>
          <p:cNvPr id="24" name="Picture 23">
            <a:extLst>
              <a:ext uri="{FF2B5EF4-FFF2-40B4-BE49-F238E27FC236}">
                <a16:creationId xmlns:a16="http://schemas.microsoft.com/office/drawing/2014/main" id="{C0B889B3-D9A6-0768-4B07-C0006F723E0D}"/>
              </a:ext>
            </a:extLst>
          </p:cNvPr>
          <p:cNvPicPr>
            <a:picLocks noChangeAspect="1"/>
          </p:cNvPicPr>
          <p:nvPr/>
        </p:nvPicPr>
        <p:blipFill>
          <a:blip r:embed="rId2"/>
          <a:stretch>
            <a:fillRect/>
          </a:stretch>
        </p:blipFill>
        <p:spPr>
          <a:xfrm>
            <a:off x="7369052" y="2009042"/>
            <a:ext cx="4399818" cy="3357686"/>
          </a:xfrm>
          <a:prstGeom prst="rect">
            <a:avLst/>
          </a:prstGeom>
        </p:spPr>
      </p:pic>
      <p:sp>
        <p:nvSpPr>
          <p:cNvPr id="25" name="TextBox 24">
            <a:extLst>
              <a:ext uri="{FF2B5EF4-FFF2-40B4-BE49-F238E27FC236}">
                <a16:creationId xmlns:a16="http://schemas.microsoft.com/office/drawing/2014/main" id="{39A744E3-FE2F-52D2-E5A6-C3CAC5AE4AC1}"/>
              </a:ext>
            </a:extLst>
          </p:cNvPr>
          <p:cNvSpPr txBox="1"/>
          <p:nvPr/>
        </p:nvSpPr>
        <p:spPr>
          <a:xfrm>
            <a:off x="7432756" y="5363307"/>
            <a:ext cx="4275666"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i="1">
                <a:latin typeface="Calibri"/>
                <a:ea typeface="Calibri"/>
                <a:cs typeface="Calibri"/>
              </a:rPr>
              <a:t>missing data % across the 1,479 anchor cell lines</a:t>
            </a:r>
          </a:p>
        </p:txBody>
      </p:sp>
      <p:sp>
        <p:nvSpPr>
          <p:cNvPr id="4" name="TextBox 3">
            <a:extLst>
              <a:ext uri="{FF2B5EF4-FFF2-40B4-BE49-F238E27FC236}">
                <a16:creationId xmlns:a16="http://schemas.microsoft.com/office/drawing/2014/main" id="{9C4F2E75-5270-B459-F9A4-677E8D48587E}"/>
              </a:ext>
            </a:extLst>
          </p:cNvPr>
          <p:cNvSpPr txBox="1"/>
          <p:nvPr/>
        </p:nvSpPr>
        <p:spPr>
          <a:xfrm>
            <a:off x="220820" y="5561892"/>
            <a:ext cx="696961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Note:- The missing data is based on comparison to the anchor table. Individually the data is present.</a:t>
            </a:r>
          </a:p>
        </p:txBody>
      </p:sp>
    </p:spTree>
    <p:extLst>
      <p:ext uri="{BB962C8B-B14F-4D97-AF65-F5344CB8AC3E}">
        <p14:creationId xmlns:p14="http://schemas.microsoft.com/office/powerpoint/2010/main" val="3490596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5" name="Rectangle 4">
            <a:extLst>
              <a:ext uri="{FF2B5EF4-FFF2-40B4-BE49-F238E27FC236}">
                <a16:creationId xmlns:a16="http://schemas.microsoft.com/office/drawing/2014/main" id="{396F1068-C226-C3C2-B55A-5AE5CCC6B5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FD68120-1EC3-B308-93AC-2C694B1654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 name="Title 1">
            <a:extLst>
              <a:ext uri="{FF2B5EF4-FFF2-40B4-BE49-F238E27FC236}">
                <a16:creationId xmlns:a16="http://schemas.microsoft.com/office/drawing/2014/main" id="{450D4A06-E320-1CCD-638A-71B0F8B11EC8}"/>
              </a:ext>
            </a:extLst>
          </p:cNvPr>
          <p:cNvSpPr>
            <a:spLocks noGrp="1"/>
          </p:cNvSpPr>
          <p:nvPr>
            <p:ph type="title"/>
          </p:nvPr>
        </p:nvSpPr>
        <p:spPr>
          <a:xfrm>
            <a:off x="3152610" y="910"/>
            <a:ext cx="5681625" cy="1325563"/>
          </a:xfrm>
        </p:spPr>
        <p:txBody>
          <a:bodyPr anchor="b">
            <a:normAutofit/>
          </a:bodyPr>
          <a:lstStyle/>
          <a:p>
            <a:r>
              <a:rPr lang="en-US" sz="3000" b="1">
                <a:latin typeface="Cambria"/>
                <a:ea typeface="Cambria"/>
              </a:rPr>
              <a:t>Data Challenges &amp; Solutions</a:t>
            </a:r>
            <a:endParaRPr lang="en-US"/>
          </a:p>
          <a:p>
            <a:pPr algn="ctr"/>
            <a:endParaRPr lang="en-US" sz="3600">
              <a:solidFill>
                <a:schemeClr val="tx2"/>
              </a:solidFill>
            </a:endParaRPr>
          </a:p>
        </p:txBody>
      </p:sp>
      <p:grpSp>
        <p:nvGrpSpPr>
          <p:cNvPr id="8" name="Group 7">
            <a:extLst>
              <a:ext uri="{FF2B5EF4-FFF2-40B4-BE49-F238E27FC236}">
                <a16:creationId xmlns:a16="http://schemas.microsoft.com/office/drawing/2014/main" id="{775FCE1D-26F7-42F3-0D0E-CB9CDB8DE05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9" name="Freeform: Shape 8">
              <a:extLst>
                <a:ext uri="{FF2B5EF4-FFF2-40B4-BE49-F238E27FC236}">
                  <a16:creationId xmlns:a16="http://schemas.microsoft.com/office/drawing/2014/main" id="{957E77E2-DCBA-DC49-3CD7-08E643234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81E5B50C-F2A0-CEFA-998A-6399FAA223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CA451FEC-D9B2-F324-8D8F-2FFA0378AF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2E8C7917-0C4F-F9B8-5477-2AD12CC6B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Content Placeholder 2">
            <a:extLst>
              <a:ext uri="{FF2B5EF4-FFF2-40B4-BE49-F238E27FC236}">
                <a16:creationId xmlns:a16="http://schemas.microsoft.com/office/drawing/2014/main" id="{66CDD106-2661-417C-91C6-8699239B6648}"/>
              </a:ext>
            </a:extLst>
          </p:cNvPr>
          <p:cNvSpPr txBox="1">
            <a:spLocks/>
          </p:cNvSpPr>
          <p:nvPr/>
        </p:nvSpPr>
        <p:spPr>
          <a:xfrm>
            <a:off x="563764" y="1064133"/>
            <a:ext cx="9833548" cy="53497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500">
                <a:latin typeface="Calibri"/>
                <a:ea typeface="Calibri"/>
                <a:cs typeface="Calibri"/>
              </a:rPr>
              <a:t>Heterogeneous formats, duplicate IDs and missing identifiers — resolved before any modelling</a:t>
            </a:r>
            <a:endParaRPr lang="en-US" sz="1800"/>
          </a:p>
          <a:p>
            <a:endParaRPr lang="en-US" sz="1800">
              <a:solidFill>
                <a:schemeClr val="tx2"/>
              </a:solidFill>
            </a:endParaRPr>
          </a:p>
        </p:txBody>
      </p:sp>
      <p:grpSp>
        <p:nvGrpSpPr>
          <p:cNvPr id="15" name="Group 14">
            <a:extLst>
              <a:ext uri="{FF2B5EF4-FFF2-40B4-BE49-F238E27FC236}">
                <a16:creationId xmlns:a16="http://schemas.microsoft.com/office/drawing/2014/main" id="{43EDFF6F-5A36-9A02-11C1-BF969A6B887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6" name="Freeform: Shape 15">
              <a:extLst>
                <a:ext uri="{FF2B5EF4-FFF2-40B4-BE49-F238E27FC236}">
                  <a16:creationId xmlns:a16="http://schemas.microsoft.com/office/drawing/2014/main" id="{B0E8E9D6-9E83-E762-B4BD-D7F1248171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1407A61-5BC3-30D7-9F6E-DC01A70456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3E23216-9804-BB3D-E717-4AF13930CF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34384218-95E2-854E-BCD9-E8EC80310A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SH1">
            <a:extLst>
              <a:ext uri="{FF2B5EF4-FFF2-40B4-BE49-F238E27FC236}">
                <a16:creationId xmlns:a16="http://schemas.microsoft.com/office/drawing/2014/main" id="{1D022EA0-1DC4-3835-3D32-B284477CCA7E}"/>
              </a:ext>
            </a:extLst>
          </p:cNvPr>
          <p:cNvSpPr/>
          <p:nvPr/>
        </p:nvSpPr>
        <p:spPr>
          <a:xfrm>
            <a:off x="256032" y="1371600"/>
            <a:ext cx="5961888" cy="310896"/>
          </a:xfrm>
          <a:prstGeom prst="rect">
            <a:avLst/>
          </a:prstGeom>
          <a:solidFill>
            <a:srgbClr val="156082"/>
          </a:solidFill>
          <a:ln>
            <a:noFill/>
          </a:ln>
        </p:spPr>
        <p:txBody>
          <a:bodyPr wrap="square" rtlCol="0" anchor="ctr"/>
          <a:lstStyle/>
          <a:p>
            <a:pPr>
              <a:buNone/>
            </a:pPr>
            <a:r>
              <a:rPr lang="en-GB" sz="1000" b="1">
                <a:solidFill>
                  <a:srgbClr val="FFFFFF"/>
                </a:solidFill>
              </a:rPr>
              <a:t>Data Heterogeneity &amp; Normalization</a:t>
            </a:r>
          </a:p>
        </p:txBody>
      </p:sp>
      <p:sp>
        <p:nvSpPr>
          <p:cNvPr id="41" name="SH2">
            <a:extLst>
              <a:ext uri="{FF2B5EF4-FFF2-40B4-BE49-F238E27FC236}">
                <a16:creationId xmlns:a16="http://schemas.microsoft.com/office/drawing/2014/main" id="{682053C2-0189-5637-3EED-1776B350C736}"/>
              </a:ext>
            </a:extLst>
          </p:cNvPr>
          <p:cNvSpPr/>
          <p:nvPr/>
        </p:nvSpPr>
        <p:spPr>
          <a:xfrm>
            <a:off x="269011" y="3566631"/>
            <a:ext cx="5961888" cy="310896"/>
          </a:xfrm>
          <a:prstGeom prst="rect">
            <a:avLst/>
          </a:prstGeom>
          <a:solidFill>
            <a:srgbClr val="0E2841"/>
          </a:solidFill>
          <a:ln>
            <a:noFill/>
          </a:ln>
        </p:spPr>
        <p:txBody>
          <a:bodyPr wrap="square" rtlCol="0" anchor="ctr"/>
          <a:lstStyle/>
          <a:p>
            <a:pPr>
              <a:buNone/>
            </a:pPr>
            <a:r>
              <a:rPr lang="en-GB" sz="1000" b="1">
                <a:solidFill>
                  <a:srgbClr val="FFFFFF"/>
                </a:solidFill>
              </a:rPr>
              <a:t>Two-Phase Normalization - Why Kept Separate</a:t>
            </a:r>
          </a:p>
        </p:txBody>
      </p:sp>
      <p:sp>
        <p:nvSpPr>
          <p:cNvPr id="42" name="Card1Bg">
            <a:extLst>
              <a:ext uri="{FF2B5EF4-FFF2-40B4-BE49-F238E27FC236}">
                <a16:creationId xmlns:a16="http://schemas.microsoft.com/office/drawing/2014/main" id="{691EE611-2F8A-821D-33B3-182B62E9DCC3}"/>
              </a:ext>
            </a:extLst>
          </p:cNvPr>
          <p:cNvSpPr/>
          <p:nvPr/>
        </p:nvSpPr>
        <p:spPr>
          <a:xfrm>
            <a:off x="256032" y="3995396"/>
            <a:ext cx="2944368" cy="2313963"/>
          </a:xfrm>
          <a:prstGeom prst="rect">
            <a:avLst/>
          </a:prstGeom>
          <a:solidFill>
            <a:srgbClr val="E8F2F8"/>
          </a:solidFill>
          <a:ln>
            <a:noFill/>
          </a:ln>
        </p:spPr>
        <p:txBody>
          <a:bodyPr/>
          <a:lstStyle/>
          <a:p>
            <a:endParaRPr/>
          </a:p>
        </p:txBody>
      </p:sp>
      <p:sp>
        <p:nvSpPr>
          <p:cNvPr id="43" name="Card2Bg">
            <a:extLst>
              <a:ext uri="{FF2B5EF4-FFF2-40B4-BE49-F238E27FC236}">
                <a16:creationId xmlns:a16="http://schemas.microsoft.com/office/drawing/2014/main" id="{A01C11F6-FE28-9560-458E-2B241B8D254C}"/>
              </a:ext>
            </a:extLst>
          </p:cNvPr>
          <p:cNvSpPr/>
          <p:nvPr/>
        </p:nvSpPr>
        <p:spPr>
          <a:xfrm>
            <a:off x="3266472" y="3995396"/>
            <a:ext cx="2944368" cy="2313964"/>
          </a:xfrm>
          <a:prstGeom prst="rect">
            <a:avLst/>
          </a:prstGeom>
          <a:solidFill>
            <a:srgbClr val="E8F2F8"/>
          </a:solidFill>
          <a:ln>
            <a:noFill/>
          </a:ln>
        </p:spPr>
        <p:txBody>
          <a:bodyPr/>
          <a:lstStyle/>
          <a:p>
            <a:endParaRPr/>
          </a:p>
        </p:txBody>
      </p:sp>
      <p:sp>
        <p:nvSpPr>
          <p:cNvPr id="44" name="Card1">
            <a:extLst>
              <a:ext uri="{FF2B5EF4-FFF2-40B4-BE49-F238E27FC236}">
                <a16:creationId xmlns:a16="http://schemas.microsoft.com/office/drawing/2014/main" id="{FAE88CCF-7CD4-F891-7174-C0FEAF7EC4FB}"/>
              </a:ext>
            </a:extLst>
          </p:cNvPr>
          <p:cNvSpPr txBox="1"/>
          <p:nvPr/>
        </p:nvSpPr>
        <p:spPr>
          <a:xfrm>
            <a:off x="347472" y="4070554"/>
            <a:ext cx="2798063" cy="2183941"/>
          </a:xfrm>
          <a:prstGeom prst="rect">
            <a:avLst/>
          </a:prstGeom>
          <a:noFill/>
          <a:ln>
            <a:noFill/>
          </a:ln>
        </p:spPr>
        <p:txBody>
          <a:bodyPr wrap="square" lIns="91440" tIns="45720" rIns="91440" bIns="45720" rtlCol="0" anchor="t"/>
          <a:lstStyle/>
          <a:p>
            <a:pPr>
              <a:spcAft>
                <a:spcPts val="50"/>
              </a:spcAft>
              <a:buNone/>
            </a:pPr>
            <a:r>
              <a:rPr lang="en-GB" sz="1100" b="1">
                <a:solidFill>
                  <a:srgbClr val="156082"/>
                </a:solidFill>
              </a:rPr>
              <a:t>Z-score  (Preprocessing only)</a:t>
            </a:r>
          </a:p>
          <a:p>
            <a:pPr>
              <a:buNone/>
            </a:pPr>
            <a:r>
              <a:rPr lang="en-GB" sz="500"/>
              <a:t> </a:t>
            </a:r>
          </a:p>
          <a:p>
            <a:pPr>
              <a:spcAft>
                <a:spcPts val="50"/>
              </a:spcAft>
              <a:buNone/>
            </a:pPr>
            <a:r>
              <a:rPr lang="en-GB" sz="950" b="0" err="1">
                <a:solidFill>
                  <a:srgbClr val="333333"/>
                </a:solidFill>
              </a:rPr>
              <a:t>Centers</a:t>
            </a:r>
            <a:r>
              <a:rPr lang="en-GB" sz="950" b="0">
                <a:solidFill>
                  <a:srgbClr val="333333"/>
                </a:solidFill>
              </a:rPr>
              <a:t> each feature around zero - required because MOFA assumes zero-</a:t>
            </a:r>
            <a:r>
              <a:rPr lang="en-GB" sz="950" b="0" err="1">
                <a:solidFill>
                  <a:srgbClr val="333333"/>
                </a:solidFill>
              </a:rPr>
              <a:t>centered</a:t>
            </a:r>
            <a:r>
              <a:rPr lang="en-GB" sz="950" b="0">
                <a:solidFill>
                  <a:srgbClr val="333333"/>
                </a:solidFill>
              </a:rPr>
              <a:t> input.</a:t>
            </a:r>
          </a:p>
          <a:p>
            <a:pPr>
              <a:buNone/>
            </a:pPr>
            <a:r>
              <a:rPr lang="en-GB" sz="350"/>
              <a:t> </a:t>
            </a:r>
          </a:p>
          <a:p>
            <a:pPr>
              <a:spcAft>
                <a:spcPts val="50"/>
              </a:spcAft>
              <a:buNone/>
            </a:pPr>
            <a:r>
              <a:rPr lang="en-GB" sz="950" b="0">
                <a:solidFill>
                  <a:srgbClr val="333333"/>
                </a:solidFill>
              </a:rPr>
              <a:t>Applied to raw values before latent factor learning.</a:t>
            </a:r>
          </a:p>
          <a:p>
            <a:pPr>
              <a:buNone/>
            </a:pPr>
            <a:r>
              <a:rPr lang="en-GB" sz="500"/>
              <a:t> </a:t>
            </a:r>
          </a:p>
          <a:p>
            <a:pPr>
              <a:spcAft>
                <a:spcPts val="50"/>
              </a:spcAft>
              <a:buNone/>
            </a:pPr>
            <a:r>
              <a:rPr lang="en-GB" sz="900" b="0">
                <a:solidFill>
                  <a:srgbClr val="666666"/>
                </a:solidFill>
              </a:rPr>
              <a:t>Zero-</a:t>
            </a:r>
            <a:r>
              <a:rPr lang="en-GB" sz="900" b="0" err="1">
                <a:solidFill>
                  <a:srgbClr val="666666"/>
                </a:solidFill>
              </a:rPr>
              <a:t>centering</a:t>
            </a:r>
            <a:r>
              <a:rPr lang="en-GB" sz="900" b="0">
                <a:solidFill>
                  <a:srgbClr val="666666"/>
                </a:solidFill>
              </a:rPr>
              <a:t> is a hard MOFA requirement; without it, the first latent factor simply captures the mean.</a:t>
            </a:r>
          </a:p>
        </p:txBody>
      </p:sp>
      <p:sp>
        <p:nvSpPr>
          <p:cNvPr id="45" name="Card2">
            <a:extLst>
              <a:ext uri="{FF2B5EF4-FFF2-40B4-BE49-F238E27FC236}">
                <a16:creationId xmlns:a16="http://schemas.microsoft.com/office/drawing/2014/main" id="{04C0E5C2-3C06-2AC5-A5F2-EDFF32D64618}"/>
              </a:ext>
            </a:extLst>
          </p:cNvPr>
          <p:cNvSpPr txBox="1"/>
          <p:nvPr/>
        </p:nvSpPr>
        <p:spPr>
          <a:xfrm>
            <a:off x="3310128" y="4070554"/>
            <a:ext cx="2798063" cy="2183942"/>
          </a:xfrm>
          <a:prstGeom prst="rect">
            <a:avLst/>
          </a:prstGeom>
          <a:noFill/>
          <a:ln>
            <a:noFill/>
          </a:ln>
        </p:spPr>
        <p:txBody>
          <a:bodyPr wrap="square" lIns="91440" tIns="45720" rIns="91440" bIns="45720" rtlCol="0" anchor="t"/>
          <a:lstStyle/>
          <a:p>
            <a:pPr>
              <a:spcAft>
                <a:spcPts val="50"/>
              </a:spcAft>
              <a:buNone/>
            </a:pPr>
            <a:r>
              <a:rPr lang="en-GB" sz="1100" b="1" err="1">
                <a:solidFill>
                  <a:srgbClr val="156082"/>
                </a:solidFill>
              </a:rPr>
              <a:t>MinMax</a:t>
            </a:r>
            <a:r>
              <a:rPr lang="en-GB" sz="1100" b="1">
                <a:solidFill>
                  <a:srgbClr val="156082"/>
                </a:solidFill>
              </a:rPr>
              <a:t> [0,1]  (Scoring only)</a:t>
            </a:r>
          </a:p>
          <a:p>
            <a:pPr>
              <a:buNone/>
            </a:pPr>
            <a:r>
              <a:rPr lang="en-GB" sz="500"/>
              <a:t> </a:t>
            </a:r>
          </a:p>
          <a:p>
            <a:pPr>
              <a:spcAft>
                <a:spcPts val="50"/>
              </a:spcAft>
              <a:buNone/>
            </a:pPr>
            <a:r>
              <a:rPr lang="en-GB" sz="950" b="0">
                <a:solidFill>
                  <a:srgbClr val="333333"/>
                </a:solidFill>
              </a:rPr>
              <a:t>Bounds every value to [0,1] so the multiplicative scoring formula is always valid.</a:t>
            </a:r>
          </a:p>
          <a:p>
            <a:pPr>
              <a:buNone/>
            </a:pPr>
            <a:r>
              <a:rPr lang="en-GB" sz="350"/>
              <a:t> </a:t>
            </a:r>
          </a:p>
          <a:p>
            <a:pPr>
              <a:spcAft>
                <a:spcPts val="50"/>
              </a:spcAft>
              <a:buNone/>
            </a:pPr>
            <a:r>
              <a:rPr lang="en-GB" sz="950" b="0">
                <a:solidFill>
                  <a:srgbClr val="333333"/>
                </a:solidFill>
              </a:rPr>
              <a:t>Applied independently to each gene across all 1,479 cell lines.</a:t>
            </a:r>
          </a:p>
          <a:p>
            <a:pPr>
              <a:buNone/>
            </a:pPr>
            <a:r>
              <a:rPr lang="en-GB" sz="500"/>
              <a:t> </a:t>
            </a:r>
          </a:p>
          <a:p>
            <a:pPr>
              <a:spcAft>
                <a:spcPts val="50"/>
              </a:spcAft>
              <a:buNone/>
            </a:pPr>
            <a:r>
              <a:rPr lang="en-GB" sz="900" b="0">
                <a:solidFill>
                  <a:srgbClr val="666666"/>
                </a:solidFill>
              </a:rPr>
              <a:t>Keeps each gene's relative variation intact while making scores directly comparable.</a:t>
            </a:r>
          </a:p>
        </p:txBody>
      </p:sp>
      <p:sp>
        <p:nvSpPr>
          <p:cNvPr id="46" name="SH3">
            <a:extLst>
              <a:ext uri="{FF2B5EF4-FFF2-40B4-BE49-F238E27FC236}">
                <a16:creationId xmlns:a16="http://schemas.microsoft.com/office/drawing/2014/main" id="{E303AD3D-473F-21A1-9899-6CC109974B37}"/>
              </a:ext>
            </a:extLst>
          </p:cNvPr>
          <p:cNvSpPr/>
          <p:nvPr/>
        </p:nvSpPr>
        <p:spPr>
          <a:xfrm>
            <a:off x="6419088" y="1371600"/>
            <a:ext cx="5513832" cy="310896"/>
          </a:xfrm>
          <a:prstGeom prst="rect">
            <a:avLst/>
          </a:prstGeom>
          <a:solidFill>
            <a:srgbClr val="156082"/>
          </a:solidFill>
          <a:ln>
            <a:noFill/>
          </a:ln>
        </p:spPr>
        <p:txBody>
          <a:bodyPr wrap="square" rtlCol="0" anchor="ctr"/>
          <a:lstStyle/>
          <a:p>
            <a:pPr>
              <a:buNone/>
            </a:pPr>
            <a:r>
              <a:rPr lang="en-GB" sz="1000" b="1">
                <a:solidFill>
                  <a:srgbClr val="FFFFFF"/>
                </a:solidFill>
              </a:rPr>
              <a:t>Gene Name &amp; </a:t>
            </a:r>
            <a:r>
              <a:rPr lang="en-GB" sz="1000" b="1" err="1">
                <a:solidFill>
                  <a:srgbClr val="FFFFFF"/>
                </a:solidFill>
              </a:rPr>
              <a:t>Ensembl</a:t>
            </a:r>
            <a:r>
              <a:rPr lang="en-GB" sz="1000" b="1">
                <a:solidFill>
                  <a:srgbClr val="FFFFFF"/>
                </a:solidFill>
              </a:rPr>
              <a:t> ID Mapping</a:t>
            </a:r>
          </a:p>
        </p:txBody>
      </p:sp>
      <p:sp>
        <p:nvSpPr>
          <p:cNvPr id="47" name="C3">
            <a:extLst>
              <a:ext uri="{FF2B5EF4-FFF2-40B4-BE49-F238E27FC236}">
                <a16:creationId xmlns:a16="http://schemas.microsoft.com/office/drawing/2014/main" id="{82D7B575-D2FC-4BE6-DE99-92FE64CEACEF}"/>
              </a:ext>
            </a:extLst>
          </p:cNvPr>
          <p:cNvSpPr txBox="1"/>
          <p:nvPr/>
        </p:nvSpPr>
        <p:spPr>
          <a:xfrm>
            <a:off x="6417564" y="1772658"/>
            <a:ext cx="5487923" cy="1363734"/>
          </a:xfrm>
          <a:prstGeom prst="rect">
            <a:avLst/>
          </a:prstGeom>
          <a:noFill/>
          <a:ln>
            <a:noFill/>
          </a:ln>
        </p:spPr>
        <p:txBody>
          <a:bodyPr wrap="square" lIns="91440" tIns="45720" rIns="91440" bIns="45720" rtlCol="0" anchor="t"/>
          <a:lstStyle/>
          <a:p>
            <a:pPr>
              <a:spcAft>
                <a:spcPts val="48"/>
              </a:spcAft>
              <a:buChar char="•"/>
            </a:pPr>
            <a:r>
              <a:rPr lang="en-GB" sz="950" b="1"/>
              <a:t>Problem: </a:t>
            </a:r>
            <a:r>
              <a:rPr lang="en-GB" sz="950" b="0"/>
              <a:t>several columns contained ENSG IDs only - no gene symbols</a:t>
            </a:r>
          </a:p>
          <a:p>
            <a:pPr>
              <a:spcAft>
                <a:spcPts val="48"/>
              </a:spcAft>
              <a:buChar char="•"/>
            </a:pPr>
            <a:r>
              <a:rPr lang="en-GB" sz="950" b="1"/>
              <a:t>22 genes </a:t>
            </a:r>
            <a:r>
              <a:rPr lang="en-GB" sz="950" b="0"/>
              <a:t>could not be resolved from the dataset alone</a:t>
            </a:r>
          </a:p>
          <a:p>
            <a:pPr>
              <a:spcAft>
                <a:spcPts val="48"/>
              </a:spcAft>
              <a:buChar char="•"/>
            </a:pPr>
            <a:r>
              <a:rPr lang="en-GB" sz="950" b="1" err="1"/>
              <a:t>BioMart</a:t>
            </a:r>
            <a:r>
              <a:rPr lang="en-GB" sz="950" b="1"/>
              <a:t> export </a:t>
            </a:r>
            <a:r>
              <a:rPr lang="en-GB" sz="950" b="0"/>
              <a:t>resolved 12 of the 22 missing mappings</a:t>
            </a:r>
          </a:p>
          <a:p>
            <a:pPr>
              <a:spcAft>
                <a:spcPts val="48"/>
              </a:spcAft>
              <a:buChar char="•"/>
            </a:pPr>
            <a:r>
              <a:rPr lang="en-GB" sz="950" b="1"/>
              <a:t>Gene-to-protein mapping table: </a:t>
            </a:r>
            <a:r>
              <a:rPr lang="en-GB" sz="950" b="0"/>
              <a:t>links RNA ENSG IDs to proteomics </a:t>
            </a:r>
            <a:r>
              <a:rPr lang="en-GB" sz="950" b="0" err="1"/>
              <a:t>UniProt</a:t>
            </a:r>
            <a:r>
              <a:rPr lang="en-GB" sz="950" b="0"/>
              <a:t> IDs</a:t>
            </a:r>
          </a:p>
        </p:txBody>
      </p:sp>
      <p:sp>
        <p:nvSpPr>
          <p:cNvPr id="48" name="SH4">
            <a:extLst>
              <a:ext uri="{FF2B5EF4-FFF2-40B4-BE49-F238E27FC236}">
                <a16:creationId xmlns:a16="http://schemas.microsoft.com/office/drawing/2014/main" id="{BC6FC4FB-7DE1-A1B6-3BD0-80D1A365591A}"/>
              </a:ext>
            </a:extLst>
          </p:cNvPr>
          <p:cNvSpPr/>
          <p:nvPr/>
        </p:nvSpPr>
        <p:spPr>
          <a:xfrm>
            <a:off x="6419088" y="3566161"/>
            <a:ext cx="5513832" cy="310896"/>
          </a:xfrm>
          <a:prstGeom prst="rect">
            <a:avLst/>
          </a:prstGeom>
          <a:solidFill>
            <a:srgbClr val="0E2841"/>
          </a:solidFill>
          <a:ln>
            <a:noFill/>
          </a:ln>
        </p:spPr>
        <p:txBody>
          <a:bodyPr wrap="square" rtlCol="0" anchor="ctr"/>
          <a:lstStyle/>
          <a:p>
            <a:pPr>
              <a:buNone/>
            </a:pPr>
            <a:r>
              <a:rPr lang="en-GB" sz="1000" b="1">
                <a:solidFill>
                  <a:srgbClr val="FFFFFF"/>
                </a:solidFill>
              </a:rPr>
              <a:t>Profile ID Deduplication  (RNA base table)</a:t>
            </a:r>
          </a:p>
        </p:txBody>
      </p:sp>
      <p:sp>
        <p:nvSpPr>
          <p:cNvPr id="49" name="C4">
            <a:extLst>
              <a:ext uri="{FF2B5EF4-FFF2-40B4-BE49-F238E27FC236}">
                <a16:creationId xmlns:a16="http://schemas.microsoft.com/office/drawing/2014/main" id="{7879EF08-B449-E5FA-6262-59DE062400BF}"/>
              </a:ext>
            </a:extLst>
          </p:cNvPr>
          <p:cNvSpPr txBox="1"/>
          <p:nvPr/>
        </p:nvSpPr>
        <p:spPr>
          <a:xfrm>
            <a:off x="6419088" y="3995396"/>
            <a:ext cx="5486399" cy="895365"/>
          </a:xfrm>
          <a:prstGeom prst="rect">
            <a:avLst/>
          </a:prstGeom>
          <a:noFill/>
          <a:ln>
            <a:noFill/>
          </a:ln>
        </p:spPr>
        <p:txBody>
          <a:bodyPr wrap="square" lIns="91440" tIns="45720" rIns="91440" bIns="45720" rtlCol="0" anchor="t"/>
          <a:lstStyle/>
          <a:p>
            <a:pPr>
              <a:spcAft>
                <a:spcPts val="55"/>
              </a:spcAft>
              <a:buChar char="•"/>
            </a:pPr>
            <a:r>
              <a:rPr lang="en-GB" sz="950" b="1"/>
              <a:t>1,495 Profile IDs </a:t>
            </a:r>
            <a:r>
              <a:rPr lang="en-GB" sz="950" b="0"/>
              <a:t>found in </a:t>
            </a:r>
            <a:r>
              <a:rPr lang="en-GB" sz="950" b="0" err="1"/>
              <a:t>DepMap</a:t>
            </a:r>
            <a:r>
              <a:rPr lang="en-GB" sz="950" b="0"/>
              <a:t> RNA base table</a:t>
            </a:r>
          </a:p>
          <a:p>
            <a:pPr>
              <a:spcAft>
                <a:spcPts val="55"/>
              </a:spcAft>
              <a:buChar char="•"/>
            </a:pPr>
            <a:r>
              <a:rPr lang="en-GB" sz="950" b="1"/>
              <a:t>16 duplicate IDs </a:t>
            </a:r>
            <a:r>
              <a:rPr lang="en-GB" sz="950" b="0"/>
              <a:t>identified and removed (first entry kept per cell line)</a:t>
            </a:r>
          </a:p>
          <a:p>
            <a:pPr>
              <a:spcAft>
                <a:spcPts val="55"/>
              </a:spcAft>
              <a:buChar char="•"/>
            </a:pPr>
            <a:r>
              <a:rPr lang="en-GB" sz="950" b="1"/>
              <a:t>1,479 unique cell lines </a:t>
            </a:r>
            <a:r>
              <a:rPr lang="en-GB" sz="950" b="0"/>
              <a:t>confirmed as the anchor set for all modalities</a:t>
            </a:r>
          </a:p>
        </p:txBody>
      </p:sp>
      <p:sp>
        <p:nvSpPr>
          <p:cNvPr id="50" name="WhyBg">
            <a:extLst>
              <a:ext uri="{FF2B5EF4-FFF2-40B4-BE49-F238E27FC236}">
                <a16:creationId xmlns:a16="http://schemas.microsoft.com/office/drawing/2014/main" id="{F036DDBD-DB9D-5CE9-34B2-43B4CC5C45F8}"/>
              </a:ext>
            </a:extLst>
          </p:cNvPr>
          <p:cNvSpPr/>
          <p:nvPr/>
        </p:nvSpPr>
        <p:spPr>
          <a:xfrm>
            <a:off x="6419088" y="4945626"/>
            <a:ext cx="5513832" cy="1363734"/>
          </a:xfrm>
          <a:prstGeom prst="rect">
            <a:avLst/>
          </a:prstGeom>
          <a:solidFill>
            <a:srgbClr val="E8F2F8"/>
          </a:solidFill>
          <a:ln>
            <a:noFill/>
          </a:ln>
        </p:spPr>
        <p:txBody>
          <a:bodyPr/>
          <a:lstStyle/>
          <a:p>
            <a:endParaRPr/>
          </a:p>
        </p:txBody>
      </p:sp>
      <p:sp>
        <p:nvSpPr>
          <p:cNvPr id="51" name="WhyTxt">
            <a:extLst>
              <a:ext uri="{FF2B5EF4-FFF2-40B4-BE49-F238E27FC236}">
                <a16:creationId xmlns:a16="http://schemas.microsoft.com/office/drawing/2014/main" id="{D3D5CA34-9D34-D974-0475-183607133192}"/>
              </a:ext>
            </a:extLst>
          </p:cNvPr>
          <p:cNvSpPr txBox="1"/>
          <p:nvPr/>
        </p:nvSpPr>
        <p:spPr>
          <a:xfrm>
            <a:off x="6528816" y="5122606"/>
            <a:ext cx="5349240" cy="1131889"/>
          </a:xfrm>
          <a:prstGeom prst="rect">
            <a:avLst/>
          </a:prstGeom>
          <a:noFill/>
          <a:ln>
            <a:noFill/>
          </a:ln>
        </p:spPr>
        <p:txBody>
          <a:bodyPr wrap="square" lIns="91440" tIns="45720" rIns="91440" bIns="45720" rtlCol="0" anchor="t"/>
          <a:lstStyle/>
          <a:p>
            <a:pPr>
              <a:spcAft>
                <a:spcPts val="50"/>
              </a:spcAft>
              <a:buNone/>
            </a:pPr>
            <a:r>
              <a:rPr lang="en-GB" sz="950" b="1">
                <a:solidFill>
                  <a:srgbClr val="156082"/>
                </a:solidFill>
              </a:rPr>
              <a:t>Why this matters: </a:t>
            </a:r>
            <a:r>
              <a:rPr lang="en-GB" sz="950" b="0">
                <a:solidFill>
                  <a:srgbClr val="333333"/>
                </a:solidFill>
              </a:rPr>
              <a:t>every downstream step — MOFA factor learning, cosine similarity, and the scoring formula — depends on a single consistent cell line namespace. </a:t>
            </a:r>
            <a:r>
              <a:rPr lang="en-GB" sz="950">
                <a:solidFill>
                  <a:srgbClr val="333333"/>
                </a:solidFill>
              </a:rPr>
              <a:t>These</a:t>
            </a:r>
            <a:r>
              <a:rPr lang="en-GB" sz="950" b="0">
                <a:solidFill>
                  <a:srgbClr val="333333"/>
                </a:solidFill>
              </a:rPr>
              <a:t> preprocessing steps establish that namespace before any data enters the model.</a:t>
            </a:r>
          </a:p>
        </p:txBody>
      </p:sp>
      <p:graphicFrame>
        <p:nvGraphicFramePr>
          <p:cNvPr id="53" name="Content Placeholder 3">
            <a:extLst>
              <a:ext uri="{FF2B5EF4-FFF2-40B4-BE49-F238E27FC236}">
                <a16:creationId xmlns:a16="http://schemas.microsoft.com/office/drawing/2014/main" id="{30938BEC-9110-55C6-AEAF-38B873BA4140}"/>
              </a:ext>
            </a:extLst>
          </p:cNvPr>
          <p:cNvGraphicFramePr>
            <a:graphicFrameLocks/>
          </p:cNvGraphicFramePr>
          <p:nvPr>
            <p:extLst>
              <p:ext uri="{D42A27DB-BD31-4B8C-83A1-F6EECF244321}">
                <p14:modId xmlns:p14="http://schemas.microsoft.com/office/powerpoint/2010/main" val="4278177200"/>
              </p:ext>
            </p:extLst>
          </p:nvPr>
        </p:nvGraphicFramePr>
        <p:xfrm>
          <a:off x="255728" y="1759903"/>
          <a:ext cx="5955112" cy="1691640"/>
        </p:xfrm>
        <a:graphic>
          <a:graphicData uri="http://schemas.openxmlformats.org/drawingml/2006/table">
            <a:tbl>
              <a:tblPr firstRow="1" bandRow="1">
                <a:tableStyleId>{073A0DAA-6AF3-43AB-8588-CEC1D06C72B9}</a:tableStyleId>
              </a:tblPr>
              <a:tblGrid>
                <a:gridCol w="1577738">
                  <a:extLst>
                    <a:ext uri="{9D8B030D-6E8A-4147-A177-3AD203B41FA5}">
                      <a16:colId xmlns:a16="http://schemas.microsoft.com/office/drawing/2014/main" val="1133177716"/>
                    </a:ext>
                  </a:extLst>
                </a:gridCol>
                <a:gridCol w="1714878">
                  <a:extLst>
                    <a:ext uri="{9D8B030D-6E8A-4147-A177-3AD203B41FA5}">
                      <a16:colId xmlns:a16="http://schemas.microsoft.com/office/drawing/2014/main" val="3110674792"/>
                    </a:ext>
                  </a:extLst>
                </a:gridCol>
                <a:gridCol w="1301202">
                  <a:extLst>
                    <a:ext uri="{9D8B030D-6E8A-4147-A177-3AD203B41FA5}">
                      <a16:colId xmlns:a16="http://schemas.microsoft.com/office/drawing/2014/main" val="4002016603"/>
                    </a:ext>
                  </a:extLst>
                </a:gridCol>
                <a:gridCol w="1361294">
                  <a:extLst>
                    <a:ext uri="{9D8B030D-6E8A-4147-A177-3AD203B41FA5}">
                      <a16:colId xmlns:a16="http://schemas.microsoft.com/office/drawing/2014/main" val="2352722545"/>
                    </a:ext>
                  </a:extLst>
                </a:gridCol>
              </a:tblGrid>
              <a:tr h="181724">
                <a:tc>
                  <a:txBody>
                    <a:bodyPr/>
                    <a:lstStyle/>
                    <a:p>
                      <a:r>
                        <a:rPr lang="en-US" sz="900"/>
                        <a:t>Source</a:t>
                      </a:r>
                    </a:p>
                  </a:txBody>
                  <a:tcPr/>
                </a:tc>
                <a:tc>
                  <a:txBody>
                    <a:bodyPr/>
                    <a:lstStyle/>
                    <a:p>
                      <a:r>
                        <a:rPr lang="en-US" sz="900"/>
                        <a:t>Raw Format</a:t>
                      </a:r>
                    </a:p>
                  </a:txBody>
                  <a:tcPr/>
                </a:tc>
                <a:tc>
                  <a:txBody>
                    <a:bodyPr/>
                    <a:lstStyle/>
                    <a:p>
                      <a:r>
                        <a:rPr lang="en-US" sz="900"/>
                        <a:t>For Preprocessing</a:t>
                      </a:r>
                    </a:p>
                  </a:txBody>
                  <a:tcPr/>
                </a:tc>
                <a:tc>
                  <a:txBody>
                    <a:bodyPr/>
                    <a:lstStyle/>
                    <a:p>
                      <a:r>
                        <a:rPr lang="en-US" sz="900"/>
                        <a:t>For Scoring</a:t>
                      </a:r>
                    </a:p>
                  </a:txBody>
                  <a:tcPr/>
                </a:tc>
                <a:extLst>
                  <a:ext uri="{0D108BD9-81ED-4DB2-BD59-A6C34878D82A}">
                    <a16:rowId xmlns:a16="http://schemas.microsoft.com/office/drawing/2014/main" val="2492835162"/>
                  </a:ext>
                </a:extLst>
              </a:tr>
              <a:tr h="290758">
                <a:tc>
                  <a:txBody>
                    <a:bodyPr/>
                    <a:lstStyle/>
                    <a:p>
                      <a:r>
                        <a:rPr lang="en-US" sz="900"/>
                        <a:t>RNA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0">
                          <a:solidFill>
                            <a:srgbClr val="333333"/>
                          </a:solidFill>
                        </a:rPr>
                        <a:t>log₂(TPM+1) values</a:t>
                      </a:r>
                    </a:p>
                    <a:p>
                      <a:endParaRPr lang="en-US" sz="900"/>
                    </a:p>
                  </a:txBody>
                  <a:tcPr/>
                </a:tc>
                <a:tc>
                  <a:txBody>
                    <a:bodyPr/>
                    <a:lstStyle/>
                    <a:p>
                      <a:r>
                        <a:rPr lang="en-GB" sz="900" b="0">
                          <a:solidFill>
                            <a:srgbClr val="333333"/>
                          </a:solidFill>
                        </a:rPr>
                        <a:t>z-score</a:t>
                      </a:r>
                      <a:endParaRPr lang="en-US" sz="9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0">
                          <a:solidFill>
                            <a:srgbClr val="333333"/>
                          </a:solidFill>
                        </a:rPr>
                        <a:t>MinMax [0,1]</a:t>
                      </a:r>
                    </a:p>
                    <a:p>
                      <a:endParaRPr lang="en-US" sz="900"/>
                    </a:p>
                  </a:txBody>
                  <a:tcPr/>
                </a:tc>
                <a:extLst>
                  <a:ext uri="{0D108BD9-81ED-4DB2-BD59-A6C34878D82A}">
                    <a16:rowId xmlns:a16="http://schemas.microsoft.com/office/drawing/2014/main" val="2792041856"/>
                  </a:ext>
                </a:extLst>
              </a:tr>
              <a:tr h="290758">
                <a:tc>
                  <a:txBody>
                    <a:bodyPr/>
                    <a:lstStyle/>
                    <a:p>
                      <a:r>
                        <a:rPr lang="en-US" sz="900"/>
                        <a:t>Proteomics</a:t>
                      </a:r>
                    </a:p>
                  </a:txBody>
                  <a:tcPr/>
                </a:tc>
                <a:tc>
                  <a:txBody>
                    <a:bodyPr/>
                    <a:lstStyle/>
                    <a:p>
                      <a:r>
                        <a:rPr lang="en-GB" sz="900" b="0">
                          <a:solidFill>
                            <a:srgbClr val="333333"/>
                          </a:solidFill>
                        </a:rPr>
                        <a:t>MS-normalised</a:t>
                      </a:r>
                      <a:endParaRPr lang="en-US" sz="900"/>
                    </a:p>
                  </a:txBody>
                  <a:tcPr/>
                </a:tc>
                <a:tc>
                  <a:txBody>
                    <a:bodyPr/>
                    <a:lstStyle/>
                    <a:p>
                      <a:r>
                        <a:rPr lang="en-GB" sz="900" b="0">
                          <a:solidFill>
                            <a:srgbClr val="333333"/>
                          </a:solidFill>
                        </a:rPr>
                        <a:t>z-score</a:t>
                      </a:r>
                      <a:endParaRPr lang="en-US" sz="9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0">
                          <a:solidFill>
                            <a:srgbClr val="333333"/>
                          </a:solidFill>
                        </a:rPr>
                        <a:t>MinMax [0,1]</a:t>
                      </a:r>
                    </a:p>
                    <a:p>
                      <a:endParaRPr lang="en-US" sz="900"/>
                    </a:p>
                  </a:txBody>
                  <a:tcPr/>
                </a:tc>
                <a:extLst>
                  <a:ext uri="{0D108BD9-81ED-4DB2-BD59-A6C34878D82A}">
                    <a16:rowId xmlns:a16="http://schemas.microsoft.com/office/drawing/2014/main" val="3948379460"/>
                  </a:ext>
                </a:extLst>
              </a:tr>
              <a:tr h="290758">
                <a:tc>
                  <a:txBody>
                    <a:bodyPr/>
                    <a:lstStyle/>
                    <a:p>
                      <a:r>
                        <a:rPr lang="en-US" sz="900"/>
                        <a:t>Metabolomics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0">
                          <a:solidFill>
                            <a:srgbClr val="333333"/>
                          </a:solidFill>
                        </a:rPr>
                        <a:t>Normalised values</a:t>
                      </a:r>
                    </a:p>
                    <a:p>
                      <a:endParaRPr lang="en-US" sz="900"/>
                    </a:p>
                  </a:txBody>
                  <a:tcPr/>
                </a:tc>
                <a:tc>
                  <a:txBody>
                    <a:bodyPr/>
                    <a:lstStyle/>
                    <a:p>
                      <a:r>
                        <a:rPr lang="en-GB" sz="900" b="0">
                          <a:solidFill>
                            <a:srgbClr val="333333"/>
                          </a:solidFill>
                        </a:rPr>
                        <a:t>z-score</a:t>
                      </a:r>
                      <a:endParaRPr lang="en-US" sz="9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0">
                          <a:solidFill>
                            <a:srgbClr val="333333"/>
                          </a:solidFill>
                        </a:rPr>
                        <a:t>MinMax [0,1]</a:t>
                      </a:r>
                    </a:p>
                    <a:p>
                      <a:endParaRPr lang="en-US" sz="900"/>
                    </a:p>
                  </a:txBody>
                  <a:tcPr/>
                </a:tc>
                <a:extLst>
                  <a:ext uri="{0D108BD9-81ED-4DB2-BD59-A6C34878D82A}">
                    <a16:rowId xmlns:a16="http://schemas.microsoft.com/office/drawing/2014/main" val="1350807159"/>
                  </a:ext>
                </a:extLst>
              </a:tr>
              <a:tr h="290758">
                <a:tc>
                  <a:txBody>
                    <a:bodyPr/>
                    <a:lstStyle/>
                    <a:p>
                      <a:r>
                        <a:rPr lang="en-US" sz="900"/>
                        <a:t>Global Signatures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0">
                          <a:solidFill>
                            <a:srgbClr val="333333"/>
                          </a:solidFill>
                        </a:rPr>
                        <a:t>Various scales</a:t>
                      </a:r>
                    </a:p>
                    <a:p>
                      <a:endParaRPr lang="en-US" sz="900"/>
                    </a:p>
                  </a:txBody>
                  <a:tcPr/>
                </a:tc>
                <a:tc>
                  <a:txBody>
                    <a:bodyPr/>
                    <a:lstStyle/>
                    <a:p>
                      <a:r>
                        <a:rPr lang="en-GB" sz="900" b="0">
                          <a:solidFill>
                            <a:srgbClr val="333333"/>
                          </a:solidFill>
                        </a:rPr>
                        <a:t>z-score</a:t>
                      </a:r>
                      <a:endParaRPr lang="en-US" sz="9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0">
                          <a:solidFill>
                            <a:srgbClr val="333333"/>
                          </a:solidFill>
                        </a:rPr>
                        <a:t>MinMax [0,1]</a:t>
                      </a:r>
                    </a:p>
                    <a:p>
                      <a:endParaRPr lang="en-US" sz="900"/>
                    </a:p>
                  </a:txBody>
                  <a:tcPr/>
                </a:tc>
                <a:extLst>
                  <a:ext uri="{0D108BD9-81ED-4DB2-BD59-A6C34878D82A}">
                    <a16:rowId xmlns:a16="http://schemas.microsoft.com/office/drawing/2014/main" val="2789094503"/>
                  </a:ext>
                </a:extLst>
              </a:tr>
            </a:tbl>
          </a:graphicData>
        </a:graphic>
      </p:graphicFrame>
    </p:spTree>
    <p:extLst>
      <p:ext uri="{BB962C8B-B14F-4D97-AF65-F5344CB8AC3E}">
        <p14:creationId xmlns:p14="http://schemas.microsoft.com/office/powerpoint/2010/main" val="1800538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4" name="Rectangle 3">
            <a:extLst>
              <a:ext uri="{FF2B5EF4-FFF2-40B4-BE49-F238E27FC236}">
                <a16:creationId xmlns:a16="http://schemas.microsoft.com/office/drawing/2014/main" id="{C05A0DA6-B97C-54AA-5E1B-42A83F177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E1829F8-1945-0357-CBE0-FA79C7E4C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 name="Title 1">
            <a:extLst>
              <a:ext uri="{FF2B5EF4-FFF2-40B4-BE49-F238E27FC236}">
                <a16:creationId xmlns:a16="http://schemas.microsoft.com/office/drawing/2014/main" id="{B8153165-F16D-8257-891D-74646CE91006}"/>
              </a:ext>
            </a:extLst>
          </p:cNvPr>
          <p:cNvSpPr>
            <a:spLocks noGrp="1"/>
          </p:cNvSpPr>
          <p:nvPr>
            <p:ph type="title"/>
          </p:nvPr>
        </p:nvSpPr>
        <p:spPr>
          <a:xfrm>
            <a:off x="3152610" y="910"/>
            <a:ext cx="5681625" cy="1325563"/>
          </a:xfrm>
        </p:spPr>
        <p:txBody>
          <a:bodyPr anchor="b">
            <a:normAutofit/>
          </a:bodyPr>
          <a:lstStyle/>
          <a:p>
            <a:r>
              <a:rPr lang="en-US" sz="3000" b="1">
                <a:latin typeface="Cambria"/>
                <a:ea typeface="Cambria"/>
              </a:rPr>
              <a:t>Identifier Harmonization</a:t>
            </a:r>
            <a:endParaRPr lang="en-US"/>
          </a:p>
          <a:p>
            <a:pPr algn="ctr"/>
            <a:endParaRPr lang="en-US" sz="3600">
              <a:solidFill>
                <a:schemeClr val="tx2"/>
              </a:solidFill>
            </a:endParaRPr>
          </a:p>
        </p:txBody>
      </p:sp>
      <p:grpSp>
        <p:nvGrpSpPr>
          <p:cNvPr id="8" name="Group 7">
            <a:extLst>
              <a:ext uri="{FF2B5EF4-FFF2-40B4-BE49-F238E27FC236}">
                <a16:creationId xmlns:a16="http://schemas.microsoft.com/office/drawing/2014/main" id="{D0363AB9-DB0D-7872-AF9E-09CADE17D90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9" name="Freeform: Shape 8">
              <a:extLst>
                <a:ext uri="{FF2B5EF4-FFF2-40B4-BE49-F238E27FC236}">
                  <a16:creationId xmlns:a16="http://schemas.microsoft.com/office/drawing/2014/main" id="{E0379C27-DA94-7450-32E2-62CBC72D3E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6EF6F5C-8E60-D40F-2F03-575F51402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3FF7F5A9-0B96-14C9-15B0-DBE8788B4B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03FB137F-E802-EB4C-7446-70402D1138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Content Placeholder 2">
            <a:extLst>
              <a:ext uri="{FF2B5EF4-FFF2-40B4-BE49-F238E27FC236}">
                <a16:creationId xmlns:a16="http://schemas.microsoft.com/office/drawing/2014/main" id="{62373342-B2C2-FA7E-E0EE-3ECD736C3D77}"/>
              </a:ext>
            </a:extLst>
          </p:cNvPr>
          <p:cNvSpPr>
            <a:spLocks noGrp="1"/>
          </p:cNvSpPr>
          <p:nvPr>
            <p:ph idx="1"/>
          </p:nvPr>
        </p:nvSpPr>
        <p:spPr>
          <a:xfrm>
            <a:off x="563764" y="1064133"/>
            <a:ext cx="9833548" cy="534976"/>
          </a:xfrm>
        </p:spPr>
        <p:txBody>
          <a:bodyPr vert="horz" lIns="91440" tIns="45720" rIns="91440" bIns="45720" rtlCol="0" anchor="t">
            <a:normAutofit/>
          </a:bodyPr>
          <a:lstStyle/>
          <a:p>
            <a:r>
              <a:rPr lang="en-US" sz="1500">
                <a:latin typeface="Calibri"/>
                <a:ea typeface="Calibri"/>
                <a:cs typeface="Calibri"/>
              </a:rPr>
              <a:t>Resolving three independent naming systems into one master lookup table across 1,479 cell lines</a:t>
            </a:r>
            <a:endParaRPr lang="en-US" sz="1800"/>
          </a:p>
          <a:p>
            <a:endParaRPr lang="en-US" sz="1800">
              <a:solidFill>
                <a:schemeClr val="tx2"/>
              </a:solidFill>
            </a:endParaRPr>
          </a:p>
        </p:txBody>
      </p:sp>
      <p:grpSp>
        <p:nvGrpSpPr>
          <p:cNvPr id="15" name="Group 14">
            <a:extLst>
              <a:ext uri="{FF2B5EF4-FFF2-40B4-BE49-F238E27FC236}">
                <a16:creationId xmlns:a16="http://schemas.microsoft.com/office/drawing/2014/main" id="{A4925E65-BC26-201B-FBAA-83DB5803831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6" name="Freeform: Shape 15">
              <a:extLst>
                <a:ext uri="{FF2B5EF4-FFF2-40B4-BE49-F238E27FC236}">
                  <a16:creationId xmlns:a16="http://schemas.microsoft.com/office/drawing/2014/main" id="{2B8AD00B-5910-403C-591E-8ABCABAFD8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A24BFC60-A1AD-DF58-8167-A1312A8FE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4B5AD4BC-DD8C-6F4F-AF82-6ED9FD0BD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7ABECEDA-239E-AEA2-1FDC-8514739417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SH5">
            <a:extLst>
              <a:ext uri="{FF2B5EF4-FFF2-40B4-BE49-F238E27FC236}">
                <a16:creationId xmlns:a16="http://schemas.microsoft.com/office/drawing/2014/main" id="{C00E7F32-C6FE-7514-F7F6-B9745E9809AD}"/>
              </a:ext>
            </a:extLst>
          </p:cNvPr>
          <p:cNvSpPr/>
          <p:nvPr/>
        </p:nvSpPr>
        <p:spPr>
          <a:xfrm>
            <a:off x="256032" y="1371600"/>
            <a:ext cx="6927342" cy="310896"/>
          </a:xfrm>
          <a:prstGeom prst="rect">
            <a:avLst/>
          </a:prstGeom>
          <a:solidFill>
            <a:srgbClr val="156082"/>
          </a:solidFill>
          <a:ln>
            <a:noFill/>
          </a:ln>
        </p:spPr>
        <p:txBody>
          <a:bodyPr wrap="square" rtlCol="0" anchor="ctr"/>
          <a:lstStyle/>
          <a:p>
            <a:pPr>
              <a:buNone/>
            </a:pPr>
            <a:r>
              <a:rPr lang="en-GB" sz="1000" b="1">
                <a:solidFill>
                  <a:srgbClr val="FFFFFF"/>
                </a:solidFill>
              </a:rPr>
              <a:t>Cell Line Name &amp; Model ID Matching</a:t>
            </a:r>
          </a:p>
        </p:txBody>
      </p:sp>
      <p:sp>
        <p:nvSpPr>
          <p:cNvPr id="21" name="C4">
            <a:extLst>
              <a:ext uri="{FF2B5EF4-FFF2-40B4-BE49-F238E27FC236}">
                <a16:creationId xmlns:a16="http://schemas.microsoft.com/office/drawing/2014/main" id="{C3D1A265-762F-CA7F-1AEB-2933396E6354}"/>
              </a:ext>
            </a:extLst>
          </p:cNvPr>
          <p:cNvSpPr txBox="1"/>
          <p:nvPr/>
        </p:nvSpPr>
        <p:spPr>
          <a:xfrm>
            <a:off x="338328" y="1709928"/>
            <a:ext cx="6845041" cy="548640"/>
          </a:xfrm>
          <a:prstGeom prst="rect">
            <a:avLst/>
          </a:prstGeom>
          <a:noFill/>
          <a:ln>
            <a:noFill/>
          </a:ln>
        </p:spPr>
        <p:txBody>
          <a:bodyPr wrap="square" lIns="91440" tIns="45720" rIns="91440" bIns="45720" rtlCol="0" anchor="t"/>
          <a:lstStyle/>
          <a:p>
            <a:pPr>
              <a:spcAft>
                <a:spcPts val="38"/>
              </a:spcAft>
              <a:buChar char="•"/>
            </a:pPr>
            <a:r>
              <a:rPr lang="en-GB" sz="950" b="1">
                <a:solidFill>
                  <a:srgbClr val="0E2841"/>
                </a:solidFill>
              </a:rPr>
              <a:t>3 naming systems: </a:t>
            </a:r>
            <a:r>
              <a:rPr lang="en-GB" sz="950" b="0" err="1">
                <a:solidFill>
                  <a:srgbClr val="333333"/>
                </a:solidFill>
              </a:rPr>
              <a:t>DepMap</a:t>
            </a:r>
            <a:r>
              <a:rPr lang="en-GB" sz="950" b="0">
                <a:solidFill>
                  <a:srgbClr val="333333"/>
                </a:solidFill>
              </a:rPr>
              <a:t> ACH-IDs/PR-IDs ; </a:t>
            </a:r>
            <a:r>
              <a:rPr lang="en-GB" sz="950" b="0" err="1">
                <a:solidFill>
                  <a:srgbClr val="333333"/>
                </a:solidFill>
              </a:rPr>
              <a:t>Cellosaurus</a:t>
            </a:r>
            <a:r>
              <a:rPr lang="en-GB" sz="950" b="0">
                <a:solidFill>
                  <a:srgbClr val="333333"/>
                </a:solidFill>
              </a:rPr>
              <a:t> CVCL IDs ; Cell Line Names</a:t>
            </a:r>
          </a:p>
          <a:p>
            <a:pPr>
              <a:spcAft>
                <a:spcPts val="38"/>
              </a:spcAft>
              <a:buChar char="•"/>
            </a:pPr>
            <a:r>
              <a:rPr lang="en-GB" sz="950" b="1" err="1">
                <a:solidFill>
                  <a:srgbClr val="156082"/>
                </a:solidFill>
              </a:rPr>
              <a:t>Cellosaurus</a:t>
            </a:r>
            <a:r>
              <a:rPr lang="en-GB" sz="950" b="1">
                <a:solidFill>
                  <a:srgbClr val="156082"/>
                </a:solidFill>
              </a:rPr>
              <a:t> cross-reference </a:t>
            </a:r>
            <a:r>
              <a:rPr lang="en-GB" sz="950" b="0">
                <a:solidFill>
                  <a:srgbClr val="333333"/>
                </a:solidFill>
              </a:rPr>
              <a:t>used as primary bridge between all three systems</a:t>
            </a:r>
            <a:r>
              <a:rPr lang="en-GB" sz="950">
                <a:solidFill>
                  <a:srgbClr val="333333"/>
                </a:solidFill>
              </a:rPr>
              <a:t> for unmapped cases</a:t>
            </a:r>
            <a:endParaRPr lang="en-GB" sz="950" b="0">
              <a:solidFill>
                <a:srgbClr val="333333"/>
              </a:solidFill>
            </a:endParaRPr>
          </a:p>
        </p:txBody>
      </p:sp>
      <p:sp>
        <p:nvSpPr>
          <p:cNvPr id="22" name="ChainBg">
            <a:extLst>
              <a:ext uri="{FF2B5EF4-FFF2-40B4-BE49-F238E27FC236}">
                <a16:creationId xmlns:a16="http://schemas.microsoft.com/office/drawing/2014/main" id="{1EBFFE27-7A1F-EB1C-1D48-1180BE2C4AD5}"/>
              </a:ext>
            </a:extLst>
          </p:cNvPr>
          <p:cNvSpPr/>
          <p:nvPr/>
        </p:nvSpPr>
        <p:spPr>
          <a:xfrm>
            <a:off x="256031" y="2244607"/>
            <a:ext cx="6927337" cy="1024128"/>
          </a:xfrm>
          <a:prstGeom prst="rect">
            <a:avLst/>
          </a:prstGeom>
          <a:solidFill>
            <a:srgbClr val="E8F2F8"/>
          </a:solidFill>
          <a:ln>
            <a:noFill/>
          </a:ln>
        </p:spPr>
        <p:txBody>
          <a:bodyPr/>
          <a:lstStyle/>
          <a:p>
            <a:endParaRPr/>
          </a:p>
        </p:txBody>
      </p:sp>
      <p:sp>
        <p:nvSpPr>
          <p:cNvPr id="23" name="ChainTitle">
            <a:extLst>
              <a:ext uri="{FF2B5EF4-FFF2-40B4-BE49-F238E27FC236}">
                <a16:creationId xmlns:a16="http://schemas.microsoft.com/office/drawing/2014/main" id="{DEACE717-E682-9850-CFE6-23CA7B5AD5FA}"/>
              </a:ext>
            </a:extLst>
          </p:cNvPr>
          <p:cNvSpPr txBox="1"/>
          <p:nvPr/>
        </p:nvSpPr>
        <p:spPr>
          <a:xfrm>
            <a:off x="347472" y="2272039"/>
            <a:ext cx="5824727" cy="256032"/>
          </a:xfrm>
          <a:prstGeom prst="rect">
            <a:avLst/>
          </a:prstGeom>
          <a:noFill/>
          <a:ln>
            <a:noFill/>
          </a:ln>
        </p:spPr>
        <p:txBody>
          <a:bodyPr wrap="square" rtlCol="0" anchor="t"/>
          <a:lstStyle/>
          <a:p>
            <a:pPr>
              <a:spcAft>
                <a:spcPts val="50"/>
              </a:spcAft>
              <a:buNone/>
            </a:pPr>
            <a:r>
              <a:rPr lang="en-GB" sz="1030" b="1">
                <a:solidFill>
                  <a:srgbClr val="156082"/>
                </a:solidFill>
              </a:rPr>
              <a:t>5-Step Priority Resolution Chain:</a:t>
            </a:r>
          </a:p>
        </p:txBody>
      </p:sp>
      <p:sp>
        <p:nvSpPr>
          <p:cNvPr id="24" name="ChainSteps">
            <a:extLst>
              <a:ext uri="{FF2B5EF4-FFF2-40B4-BE49-F238E27FC236}">
                <a16:creationId xmlns:a16="http://schemas.microsoft.com/office/drawing/2014/main" id="{73B583B3-AE70-C367-C963-77B062A77AE2}"/>
              </a:ext>
            </a:extLst>
          </p:cNvPr>
          <p:cNvSpPr txBox="1"/>
          <p:nvPr/>
        </p:nvSpPr>
        <p:spPr>
          <a:xfrm>
            <a:off x="347472" y="2546359"/>
            <a:ext cx="6761988" cy="502920"/>
          </a:xfrm>
          <a:prstGeom prst="rect">
            <a:avLst/>
          </a:prstGeom>
          <a:noFill/>
          <a:ln>
            <a:noFill/>
          </a:ln>
        </p:spPr>
        <p:txBody>
          <a:bodyPr wrap="square" lIns="91440" tIns="45720" rIns="91440" bIns="45720" rtlCol="0" anchor="t"/>
          <a:lstStyle/>
          <a:p>
            <a:pPr>
              <a:spcAft>
                <a:spcPts val="50"/>
              </a:spcAft>
              <a:buNone/>
            </a:pPr>
            <a:r>
              <a:rPr lang="en-GB" sz="900" b="0">
                <a:solidFill>
                  <a:srgbClr val="333333"/>
                </a:solidFill>
              </a:rPr>
              <a:t>1. sample-info name  →  2. CCLE-name prefix  →  3. </a:t>
            </a:r>
            <a:r>
              <a:rPr lang="en-GB" sz="900" b="0" err="1">
                <a:solidFill>
                  <a:srgbClr val="333333"/>
                </a:solidFill>
              </a:rPr>
              <a:t>Cellosaurus</a:t>
            </a:r>
            <a:r>
              <a:rPr lang="en-GB" sz="900" b="0">
                <a:solidFill>
                  <a:srgbClr val="333333"/>
                </a:solidFill>
              </a:rPr>
              <a:t> cross-reference  →  4. stripped-name  →  5. ACH-code fallback</a:t>
            </a:r>
          </a:p>
          <a:p>
            <a:pPr>
              <a:buNone/>
            </a:pPr>
            <a:r>
              <a:rPr lang="en-GB" sz="250"/>
              <a:t> </a:t>
            </a:r>
          </a:p>
          <a:p>
            <a:pPr>
              <a:spcAft>
                <a:spcPts val="50"/>
              </a:spcAft>
              <a:buNone/>
            </a:pPr>
            <a:r>
              <a:rPr lang="en-GB" sz="950" b="1"/>
              <a:t>~97% resolved  |  </a:t>
            </a:r>
            <a:r>
              <a:rPr lang="en-GB" sz="950" b="0"/>
              <a:t>41 remain as ACH-codes  |  </a:t>
            </a:r>
            <a:r>
              <a:rPr lang="en-GB" sz="950" b="1"/>
              <a:t>Master Lookup Table used for all merges</a:t>
            </a:r>
          </a:p>
        </p:txBody>
      </p:sp>
      <p:sp>
        <p:nvSpPr>
          <p:cNvPr id="55" name="InsightBg">
            <a:extLst>
              <a:ext uri="{FF2B5EF4-FFF2-40B4-BE49-F238E27FC236}">
                <a16:creationId xmlns:a16="http://schemas.microsoft.com/office/drawing/2014/main" id="{D94D0767-5221-633E-ECB7-33F3FC023350}"/>
              </a:ext>
            </a:extLst>
          </p:cNvPr>
          <p:cNvSpPr/>
          <p:nvPr/>
        </p:nvSpPr>
        <p:spPr>
          <a:xfrm>
            <a:off x="256031" y="5422391"/>
            <a:ext cx="6925814" cy="354674"/>
          </a:xfrm>
          <a:prstGeom prst="rect">
            <a:avLst/>
          </a:prstGeom>
          <a:solidFill>
            <a:srgbClr val="F2F5F8"/>
          </a:solidFill>
          <a:ln>
            <a:noFill/>
          </a:ln>
        </p:spPr>
        <p:txBody>
          <a:bodyPr/>
          <a:lstStyle/>
          <a:p>
            <a:endParaRPr/>
          </a:p>
        </p:txBody>
      </p:sp>
      <p:sp>
        <p:nvSpPr>
          <p:cNvPr id="56" name="InsightTxt">
            <a:extLst>
              <a:ext uri="{FF2B5EF4-FFF2-40B4-BE49-F238E27FC236}">
                <a16:creationId xmlns:a16="http://schemas.microsoft.com/office/drawing/2014/main" id="{3BC3B12E-6ECD-8C9C-DBEE-87A91AA18080}"/>
              </a:ext>
            </a:extLst>
          </p:cNvPr>
          <p:cNvSpPr txBox="1"/>
          <p:nvPr/>
        </p:nvSpPr>
        <p:spPr>
          <a:xfrm>
            <a:off x="365758" y="5422391"/>
            <a:ext cx="6667501" cy="336385"/>
          </a:xfrm>
          <a:prstGeom prst="rect">
            <a:avLst/>
          </a:prstGeom>
          <a:noFill/>
          <a:ln>
            <a:noFill/>
          </a:ln>
        </p:spPr>
        <p:txBody>
          <a:bodyPr wrap="square" rtlCol="0" anchor="t"/>
          <a:lstStyle/>
          <a:p>
            <a:pPr>
              <a:spcAft>
                <a:spcPts val="50"/>
              </a:spcAft>
              <a:buNone/>
            </a:pPr>
            <a:r>
              <a:rPr lang="en-GB" sz="960" b="1">
                <a:solidFill>
                  <a:srgbClr val="156082"/>
                </a:solidFill>
              </a:rPr>
              <a:t>Key outcome: </a:t>
            </a:r>
            <a:r>
              <a:rPr lang="en-GB" sz="960" b="0">
                <a:solidFill>
                  <a:srgbClr val="333333"/>
                </a:solidFill>
              </a:rPr>
              <a:t>all source files now reference the same 1,479 cell line IDs, enabling clean joins across every omics layer without information loss.</a:t>
            </a:r>
          </a:p>
        </p:txBody>
      </p:sp>
      <p:sp>
        <p:nvSpPr>
          <p:cNvPr id="57" name="Stat2">
            <a:extLst>
              <a:ext uri="{FF2B5EF4-FFF2-40B4-BE49-F238E27FC236}">
                <a16:creationId xmlns:a16="http://schemas.microsoft.com/office/drawing/2014/main" id="{234FB825-D3D4-A183-B662-F3A6EC30B86D}"/>
              </a:ext>
            </a:extLst>
          </p:cNvPr>
          <p:cNvSpPr/>
          <p:nvPr/>
        </p:nvSpPr>
        <p:spPr>
          <a:xfrm>
            <a:off x="256032" y="5864404"/>
            <a:ext cx="6925816" cy="274320"/>
          </a:xfrm>
          <a:prstGeom prst="rect">
            <a:avLst/>
          </a:prstGeom>
          <a:solidFill>
            <a:srgbClr val="E8F2F8"/>
          </a:solidFill>
          <a:ln>
            <a:noFill/>
          </a:ln>
        </p:spPr>
        <p:txBody>
          <a:bodyPr wrap="square" rtlCol="0" anchor="ctr"/>
          <a:lstStyle/>
          <a:p>
            <a:pPr>
              <a:buNone/>
            </a:pPr>
            <a:r>
              <a:rPr lang="en-GB" sz="930" b="1">
                <a:solidFill>
                  <a:srgbClr val="0E2841"/>
                </a:solidFill>
              </a:rPr>
              <a:t>1,479 unified cell lines  ;  3 naming systems resolved  ;  1 Master Lookup Table</a:t>
            </a:r>
          </a:p>
        </p:txBody>
      </p:sp>
      <p:sp>
        <p:nvSpPr>
          <p:cNvPr id="58" name="SH6">
            <a:extLst>
              <a:ext uri="{FF2B5EF4-FFF2-40B4-BE49-F238E27FC236}">
                <a16:creationId xmlns:a16="http://schemas.microsoft.com/office/drawing/2014/main" id="{2906BF45-075E-6729-5334-23067E82BD0F}"/>
              </a:ext>
            </a:extLst>
          </p:cNvPr>
          <p:cNvSpPr/>
          <p:nvPr/>
        </p:nvSpPr>
        <p:spPr>
          <a:xfrm>
            <a:off x="7440930" y="1371600"/>
            <a:ext cx="4491990" cy="310896"/>
          </a:xfrm>
          <a:prstGeom prst="rect">
            <a:avLst/>
          </a:prstGeom>
          <a:solidFill>
            <a:srgbClr val="0E2841"/>
          </a:solidFill>
          <a:ln>
            <a:noFill/>
          </a:ln>
        </p:spPr>
        <p:txBody>
          <a:bodyPr wrap="square" lIns="91440" tIns="45720" rIns="91440" bIns="45720" rtlCol="0" anchor="ctr"/>
          <a:lstStyle/>
          <a:p>
            <a:r>
              <a:rPr lang="en-GB" sz="1000" b="1">
                <a:solidFill>
                  <a:srgbClr val="FFFFFF"/>
                </a:solidFill>
              </a:rPr>
              <a:t>Missing Data across Modalities after merging on the </a:t>
            </a:r>
            <a:r>
              <a:rPr lang="en-GB" sz="1000" b="1" err="1">
                <a:solidFill>
                  <a:srgbClr val="FFFFFF"/>
                </a:solidFill>
              </a:rPr>
              <a:t>DepMap</a:t>
            </a:r>
            <a:r>
              <a:rPr lang="en-GB" sz="1000" b="1">
                <a:solidFill>
                  <a:srgbClr val="FFFFFF"/>
                </a:solidFill>
              </a:rPr>
              <a:t> RNA table</a:t>
            </a:r>
          </a:p>
        </p:txBody>
      </p:sp>
      <p:sp>
        <p:nvSpPr>
          <p:cNvPr id="59" name="C5">
            <a:extLst>
              <a:ext uri="{FF2B5EF4-FFF2-40B4-BE49-F238E27FC236}">
                <a16:creationId xmlns:a16="http://schemas.microsoft.com/office/drawing/2014/main" id="{718B7F99-2A28-F29C-2D80-35A9AAA7AFAF}"/>
              </a:ext>
            </a:extLst>
          </p:cNvPr>
          <p:cNvSpPr txBox="1"/>
          <p:nvPr/>
        </p:nvSpPr>
        <p:spPr>
          <a:xfrm>
            <a:off x="7440929" y="1709928"/>
            <a:ext cx="4464557" cy="274320"/>
          </a:xfrm>
          <a:prstGeom prst="rect">
            <a:avLst/>
          </a:prstGeom>
          <a:noFill/>
          <a:ln>
            <a:noFill/>
          </a:ln>
        </p:spPr>
        <p:txBody>
          <a:bodyPr wrap="square" lIns="91440" tIns="45720" rIns="91440" bIns="45720" rtlCol="0" anchor="t"/>
          <a:lstStyle/>
          <a:p>
            <a:pPr>
              <a:spcAft>
                <a:spcPts val="50"/>
              </a:spcAft>
            </a:pPr>
            <a:r>
              <a:rPr lang="en-GB" sz="950" b="1">
                <a:solidFill>
                  <a:srgbClr val="333333"/>
                </a:solidFill>
              </a:rPr>
              <a:t>This missingness is not based on the individual datasets</a:t>
            </a:r>
            <a:endParaRPr lang="en-US"/>
          </a:p>
        </p:txBody>
      </p:sp>
      <p:sp>
        <p:nvSpPr>
          <p:cNvPr id="60" name="MB0">
            <a:extLst>
              <a:ext uri="{FF2B5EF4-FFF2-40B4-BE49-F238E27FC236}">
                <a16:creationId xmlns:a16="http://schemas.microsoft.com/office/drawing/2014/main" id="{80887E65-4B81-4A4B-BD87-D9DD103D3140}"/>
              </a:ext>
            </a:extLst>
          </p:cNvPr>
          <p:cNvSpPr/>
          <p:nvPr/>
        </p:nvSpPr>
        <p:spPr>
          <a:xfrm>
            <a:off x="7440928" y="2048256"/>
            <a:ext cx="4491991" cy="822960"/>
          </a:xfrm>
          <a:prstGeom prst="rect">
            <a:avLst/>
          </a:prstGeom>
          <a:solidFill>
            <a:srgbClr val="EBF5EB"/>
          </a:solidFill>
          <a:ln>
            <a:noFill/>
          </a:ln>
        </p:spPr>
        <p:txBody>
          <a:bodyPr/>
          <a:lstStyle/>
          <a:p>
            <a:endParaRPr/>
          </a:p>
        </p:txBody>
      </p:sp>
      <p:sp>
        <p:nvSpPr>
          <p:cNvPr id="61" name="MP0">
            <a:extLst>
              <a:ext uri="{FF2B5EF4-FFF2-40B4-BE49-F238E27FC236}">
                <a16:creationId xmlns:a16="http://schemas.microsoft.com/office/drawing/2014/main" id="{AA116E3C-33FA-479C-D833-177B05C5BCF5}"/>
              </a:ext>
            </a:extLst>
          </p:cNvPr>
          <p:cNvSpPr txBox="1"/>
          <p:nvPr/>
        </p:nvSpPr>
        <p:spPr>
          <a:xfrm>
            <a:off x="7536180" y="2139696"/>
            <a:ext cx="915920" cy="685800"/>
          </a:xfrm>
          <a:prstGeom prst="rect">
            <a:avLst/>
          </a:prstGeom>
          <a:noFill/>
          <a:ln>
            <a:noFill/>
          </a:ln>
        </p:spPr>
        <p:txBody>
          <a:bodyPr wrap="square" lIns="91440" tIns="45720" rIns="91440" bIns="45720" rtlCol="0" anchor="ctr"/>
          <a:lstStyle/>
          <a:p>
            <a:pPr>
              <a:spcAft>
                <a:spcPts val="50"/>
              </a:spcAft>
              <a:buNone/>
            </a:pPr>
            <a:r>
              <a:rPr lang="en-GB" sz="1800" b="1">
                <a:solidFill>
                  <a:schemeClr val="tx2"/>
                </a:solidFill>
              </a:rPr>
              <a:t>0%</a:t>
            </a:r>
          </a:p>
        </p:txBody>
      </p:sp>
      <p:sp>
        <p:nvSpPr>
          <p:cNvPr id="62" name="MN0">
            <a:extLst>
              <a:ext uri="{FF2B5EF4-FFF2-40B4-BE49-F238E27FC236}">
                <a16:creationId xmlns:a16="http://schemas.microsoft.com/office/drawing/2014/main" id="{B4D7A24B-F929-5522-C17F-D3E8D9BC0C05}"/>
              </a:ext>
            </a:extLst>
          </p:cNvPr>
          <p:cNvSpPr txBox="1"/>
          <p:nvPr/>
        </p:nvSpPr>
        <p:spPr>
          <a:xfrm>
            <a:off x="8709659" y="2130552"/>
            <a:ext cx="3150107" cy="292608"/>
          </a:xfrm>
          <a:prstGeom prst="rect">
            <a:avLst/>
          </a:prstGeom>
          <a:noFill/>
          <a:ln>
            <a:noFill/>
          </a:ln>
        </p:spPr>
        <p:txBody>
          <a:bodyPr wrap="square" rtlCol="0" anchor="t"/>
          <a:lstStyle/>
          <a:p>
            <a:pPr>
              <a:spcAft>
                <a:spcPts val="50"/>
              </a:spcAft>
              <a:buNone/>
            </a:pPr>
            <a:r>
              <a:rPr lang="en-GB" sz="1100" b="1">
                <a:solidFill>
                  <a:srgbClr val="0E2841"/>
                </a:solidFill>
              </a:rPr>
              <a:t>DepMap RNA</a:t>
            </a:r>
          </a:p>
        </p:txBody>
      </p:sp>
      <p:sp>
        <p:nvSpPr>
          <p:cNvPr id="63" name="MD0">
            <a:extLst>
              <a:ext uri="{FF2B5EF4-FFF2-40B4-BE49-F238E27FC236}">
                <a16:creationId xmlns:a16="http://schemas.microsoft.com/office/drawing/2014/main" id="{B1206EE9-FFFD-3018-C922-002B1C09841B}"/>
              </a:ext>
            </a:extLst>
          </p:cNvPr>
          <p:cNvSpPr txBox="1"/>
          <p:nvPr/>
        </p:nvSpPr>
        <p:spPr>
          <a:xfrm>
            <a:off x="8709659" y="2432304"/>
            <a:ext cx="3150108" cy="402336"/>
          </a:xfrm>
          <a:prstGeom prst="rect">
            <a:avLst/>
          </a:prstGeom>
          <a:noFill/>
          <a:ln>
            <a:noFill/>
          </a:ln>
        </p:spPr>
        <p:txBody>
          <a:bodyPr wrap="square" lIns="91440" tIns="45720" rIns="91440" bIns="45720" rtlCol="0" anchor="t"/>
          <a:lstStyle/>
          <a:p>
            <a:pPr>
              <a:spcAft>
                <a:spcPts val="50"/>
              </a:spcAft>
              <a:buNone/>
            </a:pPr>
            <a:r>
              <a:rPr lang="en-GB" sz="900" b="0">
                <a:solidFill>
                  <a:srgbClr val="666666"/>
                </a:solidFill>
              </a:rPr>
              <a:t>anchor - 0% missing</a:t>
            </a:r>
          </a:p>
        </p:txBody>
      </p:sp>
      <p:sp>
        <p:nvSpPr>
          <p:cNvPr id="64" name="MB1">
            <a:extLst>
              <a:ext uri="{FF2B5EF4-FFF2-40B4-BE49-F238E27FC236}">
                <a16:creationId xmlns:a16="http://schemas.microsoft.com/office/drawing/2014/main" id="{3888898A-C681-1B4A-6E24-E00613AD48D9}"/>
              </a:ext>
            </a:extLst>
          </p:cNvPr>
          <p:cNvSpPr/>
          <p:nvPr/>
        </p:nvSpPr>
        <p:spPr>
          <a:xfrm>
            <a:off x="7440928" y="2916936"/>
            <a:ext cx="4491992" cy="822960"/>
          </a:xfrm>
          <a:prstGeom prst="rect">
            <a:avLst/>
          </a:prstGeom>
          <a:solidFill>
            <a:srgbClr val="E8F2F8"/>
          </a:solidFill>
          <a:ln>
            <a:noFill/>
          </a:ln>
        </p:spPr>
        <p:txBody>
          <a:bodyPr/>
          <a:lstStyle/>
          <a:p>
            <a:endParaRPr/>
          </a:p>
        </p:txBody>
      </p:sp>
      <p:sp>
        <p:nvSpPr>
          <p:cNvPr id="65" name="MP1">
            <a:extLst>
              <a:ext uri="{FF2B5EF4-FFF2-40B4-BE49-F238E27FC236}">
                <a16:creationId xmlns:a16="http://schemas.microsoft.com/office/drawing/2014/main" id="{66669E66-402D-53BE-0AFE-5047DC2E0666}"/>
              </a:ext>
            </a:extLst>
          </p:cNvPr>
          <p:cNvSpPr txBox="1"/>
          <p:nvPr/>
        </p:nvSpPr>
        <p:spPr>
          <a:xfrm>
            <a:off x="7536179" y="3008376"/>
            <a:ext cx="915921" cy="685800"/>
          </a:xfrm>
          <a:prstGeom prst="rect">
            <a:avLst/>
          </a:prstGeom>
          <a:noFill/>
          <a:ln>
            <a:noFill/>
          </a:ln>
        </p:spPr>
        <p:txBody>
          <a:bodyPr wrap="square" lIns="91440" tIns="45720" rIns="91440" bIns="45720" rtlCol="0" anchor="ctr"/>
          <a:lstStyle/>
          <a:p>
            <a:pPr>
              <a:spcAft>
                <a:spcPts val="50"/>
              </a:spcAft>
              <a:buNone/>
            </a:pPr>
            <a:r>
              <a:rPr lang="en-GB" sz="1800" b="1">
                <a:solidFill>
                  <a:schemeClr val="tx2"/>
                </a:solidFill>
              </a:rPr>
              <a:t>29.6%</a:t>
            </a:r>
          </a:p>
        </p:txBody>
      </p:sp>
      <p:sp>
        <p:nvSpPr>
          <p:cNvPr id="66" name="MN1">
            <a:extLst>
              <a:ext uri="{FF2B5EF4-FFF2-40B4-BE49-F238E27FC236}">
                <a16:creationId xmlns:a16="http://schemas.microsoft.com/office/drawing/2014/main" id="{32F62A6C-87A4-73DE-74E3-AEF980C4E2D9}"/>
              </a:ext>
            </a:extLst>
          </p:cNvPr>
          <p:cNvSpPr txBox="1"/>
          <p:nvPr/>
        </p:nvSpPr>
        <p:spPr>
          <a:xfrm>
            <a:off x="8709659" y="2999232"/>
            <a:ext cx="3150108" cy="292608"/>
          </a:xfrm>
          <a:prstGeom prst="rect">
            <a:avLst/>
          </a:prstGeom>
          <a:noFill/>
          <a:ln>
            <a:noFill/>
          </a:ln>
        </p:spPr>
        <p:txBody>
          <a:bodyPr wrap="square" rtlCol="0" anchor="t"/>
          <a:lstStyle/>
          <a:p>
            <a:pPr>
              <a:spcAft>
                <a:spcPts val="50"/>
              </a:spcAft>
              <a:buNone/>
            </a:pPr>
            <a:r>
              <a:rPr lang="en-GB" sz="1100" b="1">
                <a:solidFill>
                  <a:srgbClr val="0E2841"/>
                </a:solidFill>
              </a:rPr>
              <a:t>HPA RNA</a:t>
            </a:r>
          </a:p>
        </p:txBody>
      </p:sp>
      <p:sp>
        <p:nvSpPr>
          <p:cNvPr id="67" name="MD1">
            <a:extLst>
              <a:ext uri="{FF2B5EF4-FFF2-40B4-BE49-F238E27FC236}">
                <a16:creationId xmlns:a16="http://schemas.microsoft.com/office/drawing/2014/main" id="{BB36ECB6-CE44-5E65-E09C-43C257A64D73}"/>
              </a:ext>
            </a:extLst>
          </p:cNvPr>
          <p:cNvSpPr txBox="1"/>
          <p:nvPr/>
        </p:nvSpPr>
        <p:spPr>
          <a:xfrm>
            <a:off x="8709657" y="3300984"/>
            <a:ext cx="3150109" cy="402336"/>
          </a:xfrm>
          <a:prstGeom prst="rect">
            <a:avLst/>
          </a:prstGeom>
          <a:noFill/>
          <a:ln>
            <a:noFill/>
          </a:ln>
        </p:spPr>
        <p:txBody>
          <a:bodyPr wrap="square" lIns="91440" tIns="45720" rIns="91440" bIns="45720" rtlCol="0" anchor="t"/>
          <a:lstStyle/>
          <a:p>
            <a:pPr>
              <a:spcAft>
                <a:spcPts val="50"/>
              </a:spcAft>
            </a:pPr>
            <a:r>
              <a:rPr lang="en-GB" sz="900" b="0">
                <a:solidFill>
                  <a:srgbClr val="666666"/>
                </a:solidFill>
              </a:rPr>
              <a:t>secondary RNA source</a:t>
            </a:r>
          </a:p>
        </p:txBody>
      </p:sp>
      <p:sp>
        <p:nvSpPr>
          <p:cNvPr id="68" name="MB2">
            <a:extLst>
              <a:ext uri="{FF2B5EF4-FFF2-40B4-BE49-F238E27FC236}">
                <a16:creationId xmlns:a16="http://schemas.microsoft.com/office/drawing/2014/main" id="{41079765-B949-45D2-67F5-9B291C0637F0}"/>
              </a:ext>
            </a:extLst>
          </p:cNvPr>
          <p:cNvSpPr/>
          <p:nvPr/>
        </p:nvSpPr>
        <p:spPr>
          <a:xfrm>
            <a:off x="7440928" y="3785616"/>
            <a:ext cx="4491992" cy="822960"/>
          </a:xfrm>
          <a:prstGeom prst="rect">
            <a:avLst/>
          </a:prstGeom>
          <a:solidFill>
            <a:srgbClr val="FEF3EC"/>
          </a:solidFill>
          <a:ln>
            <a:noFill/>
          </a:ln>
        </p:spPr>
        <p:txBody>
          <a:bodyPr/>
          <a:lstStyle/>
          <a:p>
            <a:endParaRPr/>
          </a:p>
        </p:txBody>
      </p:sp>
      <p:sp>
        <p:nvSpPr>
          <p:cNvPr id="69" name="MP2">
            <a:extLst>
              <a:ext uri="{FF2B5EF4-FFF2-40B4-BE49-F238E27FC236}">
                <a16:creationId xmlns:a16="http://schemas.microsoft.com/office/drawing/2014/main" id="{27AF8417-2738-F3CD-3D19-FEA7484CFCFE}"/>
              </a:ext>
            </a:extLst>
          </p:cNvPr>
          <p:cNvSpPr txBox="1"/>
          <p:nvPr/>
        </p:nvSpPr>
        <p:spPr>
          <a:xfrm>
            <a:off x="7536178" y="3877056"/>
            <a:ext cx="915922" cy="685800"/>
          </a:xfrm>
          <a:prstGeom prst="rect">
            <a:avLst/>
          </a:prstGeom>
          <a:noFill/>
          <a:ln>
            <a:noFill/>
          </a:ln>
        </p:spPr>
        <p:txBody>
          <a:bodyPr wrap="square" lIns="91440" tIns="45720" rIns="91440" bIns="45720" rtlCol="0" anchor="ctr"/>
          <a:lstStyle/>
          <a:p>
            <a:pPr>
              <a:spcAft>
                <a:spcPts val="50"/>
              </a:spcAft>
              <a:buNone/>
            </a:pPr>
            <a:r>
              <a:rPr lang="en-GB" sz="1800" b="1">
                <a:solidFill>
                  <a:schemeClr val="tx2"/>
                </a:solidFill>
              </a:rPr>
              <a:t>37.3%</a:t>
            </a:r>
          </a:p>
        </p:txBody>
      </p:sp>
      <p:sp>
        <p:nvSpPr>
          <p:cNvPr id="70" name="MN2">
            <a:extLst>
              <a:ext uri="{FF2B5EF4-FFF2-40B4-BE49-F238E27FC236}">
                <a16:creationId xmlns:a16="http://schemas.microsoft.com/office/drawing/2014/main" id="{8E61E829-8861-ED2B-ED25-343E320370F4}"/>
              </a:ext>
            </a:extLst>
          </p:cNvPr>
          <p:cNvSpPr txBox="1"/>
          <p:nvPr/>
        </p:nvSpPr>
        <p:spPr>
          <a:xfrm>
            <a:off x="8709657" y="3867912"/>
            <a:ext cx="3150110" cy="292608"/>
          </a:xfrm>
          <a:prstGeom prst="rect">
            <a:avLst/>
          </a:prstGeom>
          <a:noFill/>
          <a:ln>
            <a:noFill/>
          </a:ln>
        </p:spPr>
        <p:txBody>
          <a:bodyPr wrap="square" rtlCol="0" anchor="t"/>
          <a:lstStyle/>
          <a:p>
            <a:pPr>
              <a:spcAft>
                <a:spcPts val="50"/>
              </a:spcAft>
              <a:buNone/>
            </a:pPr>
            <a:r>
              <a:rPr lang="en-GB" sz="1100" b="1">
                <a:solidFill>
                  <a:srgbClr val="0E2841"/>
                </a:solidFill>
              </a:rPr>
              <a:t>Metabolomics</a:t>
            </a:r>
          </a:p>
        </p:txBody>
      </p:sp>
      <p:sp>
        <p:nvSpPr>
          <p:cNvPr id="71" name="MD2">
            <a:extLst>
              <a:ext uri="{FF2B5EF4-FFF2-40B4-BE49-F238E27FC236}">
                <a16:creationId xmlns:a16="http://schemas.microsoft.com/office/drawing/2014/main" id="{484FFB47-4019-18AA-4632-CE75A62D68BB}"/>
              </a:ext>
            </a:extLst>
          </p:cNvPr>
          <p:cNvSpPr txBox="1"/>
          <p:nvPr/>
        </p:nvSpPr>
        <p:spPr>
          <a:xfrm>
            <a:off x="8709657" y="4169664"/>
            <a:ext cx="3150110" cy="402336"/>
          </a:xfrm>
          <a:prstGeom prst="rect">
            <a:avLst/>
          </a:prstGeom>
          <a:noFill/>
          <a:ln>
            <a:noFill/>
          </a:ln>
        </p:spPr>
        <p:txBody>
          <a:bodyPr wrap="square" lIns="91440" tIns="45720" rIns="91440" bIns="45720" rtlCol="0" anchor="t"/>
          <a:lstStyle/>
          <a:p>
            <a:pPr>
              <a:spcAft>
                <a:spcPts val="50"/>
              </a:spcAft>
            </a:pPr>
            <a:r>
              <a:rPr lang="en-GB" sz="900">
                <a:solidFill>
                  <a:srgbClr val="666666"/>
                </a:solidFill>
              </a:rPr>
              <a:t>partially</a:t>
            </a:r>
            <a:r>
              <a:rPr lang="en-GB" sz="900" b="0">
                <a:solidFill>
                  <a:srgbClr val="666666"/>
                </a:solidFill>
              </a:rPr>
              <a:t> sparse</a:t>
            </a:r>
          </a:p>
        </p:txBody>
      </p:sp>
      <p:sp>
        <p:nvSpPr>
          <p:cNvPr id="72" name="MB3">
            <a:extLst>
              <a:ext uri="{FF2B5EF4-FFF2-40B4-BE49-F238E27FC236}">
                <a16:creationId xmlns:a16="http://schemas.microsoft.com/office/drawing/2014/main" id="{16F7E3DB-00DD-E3CE-22F8-806EA376AEEA}"/>
              </a:ext>
            </a:extLst>
          </p:cNvPr>
          <p:cNvSpPr/>
          <p:nvPr/>
        </p:nvSpPr>
        <p:spPr>
          <a:xfrm>
            <a:off x="7440928" y="4654296"/>
            <a:ext cx="4491992" cy="822960"/>
          </a:xfrm>
          <a:prstGeom prst="rect">
            <a:avLst/>
          </a:prstGeom>
          <a:solidFill>
            <a:srgbClr val="FDECEA"/>
          </a:solidFill>
          <a:ln>
            <a:noFill/>
          </a:ln>
        </p:spPr>
        <p:txBody>
          <a:bodyPr/>
          <a:lstStyle/>
          <a:p>
            <a:endParaRPr/>
          </a:p>
        </p:txBody>
      </p:sp>
      <p:sp>
        <p:nvSpPr>
          <p:cNvPr id="73" name="MP3">
            <a:extLst>
              <a:ext uri="{FF2B5EF4-FFF2-40B4-BE49-F238E27FC236}">
                <a16:creationId xmlns:a16="http://schemas.microsoft.com/office/drawing/2014/main" id="{6444EAFF-00F0-B1C1-D7B1-9A96B5673497}"/>
              </a:ext>
            </a:extLst>
          </p:cNvPr>
          <p:cNvSpPr txBox="1"/>
          <p:nvPr/>
        </p:nvSpPr>
        <p:spPr>
          <a:xfrm>
            <a:off x="7536177" y="4745736"/>
            <a:ext cx="915921" cy="685800"/>
          </a:xfrm>
          <a:prstGeom prst="rect">
            <a:avLst/>
          </a:prstGeom>
          <a:noFill/>
          <a:ln>
            <a:noFill/>
          </a:ln>
        </p:spPr>
        <p:txBody>
          <a:bodyPr wrap="square" lIns="91440" tIns="45720" rIns="91440" bIns="45720" rtlCol="0" anchor="ctr"/>
          <a:lstStyle/>
          <a:p>
            <a:pPr>
              <a:spcAft>
                <a:spcPts val="50"/>
              </a:spcAft>
              <a:buNone/>
            </a:pPr>
            <a:r>
              <a:rPr lang="en-GB" sz="1800" b="1">
                <a:solidFill>
                  <a:schemeClr val="tx2"/>
                </a:solidFill>
              </a:rPr>
              <a:t>75.1%</a:t>
            </a:r>
          </a:p>
        </p:txBody>
      </p:sp>
      <p:sp>
        <p:nvSpPr>
          <p:cNvPr id="74" name="MN3">
            <a:extLst>
              <a:ext uri="{FF2B5EF4-FFF2-40B4-BE49-F238E27FC236}">
                <a16:creationId xmlns:a16="http://schemas.microsoft.com/office/drawing/2014/main" id="{76D6D1DC-133B-6A3E-43EB-0065C8882CEC}"/>
              </a:ext>
            </a:extLst>
          </p:cNvPr>
          <p:cNvSpPr txBox="1"/>
          <p:nvPr/>
        </p:nvSpPr>
        <p:spPr>
          <a:xfrm>
            <a:off x="8709657" y="4736592"/>
            <a:ext cx="3150110" cy="292608"/>
          </a:xfrm>
          <a:prstGeom prst="rect">
            <a:avLst/>
          </a:prstGeom>
          <a:noFill/>
          <a:ln>
            <a:noFill/>
          </a:ln>
        </p:spPr>
        <p:txBody>
          <a:bodyPr wrap="square" rtlCol="0" anchor="t"/>
          <a:lstStyle/>
          <a:p>
            <a:pPr>
              <a:spcAft>
                <a:spcPts val="50"/>
              </a:spcAft>
              <a:buNone/>
            </a:pPr>
            <a:r>
              <a:rPr lang="en-GB" sz="1100" b="1">
                <a:solidFill>
                  <a:srgbClr val="0E2841"/>
                </a:solidFill>
              </a:rPr>
              <a:t>Proteomics</a:t>
            </a:r>
          </a:p>
        </p:txBody>
      </p:sp>
      <p:sp>
        <p:nvSpPr>
          <p:cNvPr id="75" name="MD3">
            <a:extLst>
              <a:ext uri="{FF2B5EF4-FFF2-40B4-BE49-F238E27FC236}">
                <a16:creationId xmlns:a16="http://schemas.microsoft.com/office/drawing/2014/main" id="{86FFB7B5-F9E2-2465-9A8D-AF79A79AD408}"/>
              </a:ext>
            </a:extLst>
          </p:cNvPr>
          <p:cNvSpPr txBox="1"/>
          <p:nvPr/>
        </p:nvSpPr>
        <p:spPr>
          <a:xfrm>
            <a:off x="8709655" y="5038344"/>
            <a:ext cx="3150111" cy="402336"/>
          </a:xfrm>
          <a:prstGeom prst="rect">
            <a:avLst/>
          </a:prstGeom>
          <a:noFill/>
          <a:ln>
            <a:noFill/>
          </a:ln>
        </p:spPr>
        <p:txBody>
          <a:bodyPr wrap="square" lIns="91440" tIns="45720" rIns="91440" bIns="45720" rtlCol="0" anchor="t"/>
          <a:lstStyle/>
          <a:p>
            <a:pPr>
              <a:spcAft>
                <a:spcPts val="50"/>
              </a:spcAft>
              <a:buNone/>
            </a:pPr>
            <a:r>
              <a:rPr lang="en-GB" sz="900" b="0">
                <a:solidFill>
                  <a:srgbClr val="666666"/>
                </a:solidFill>
              </a:rPr>
              <a:t>most sparse</a:t>
            </a:r>
          </a:p>
        </p:txBody>
      </p:sp>
      <p:sp>
        <p:nvSpPr>
          <p:cNvPr id="76" name="WhyBg">
            <a:extLst>
              <a:ext uri="{FF2B5EF4-FFF2-40B4-BE49-F238E27FC236}">
                <a16:creationId xmlns:a16="http://schemas.microsoft.com/office/drawing/2014/main" id="{00FACFCE-98A1-D4CF-3F07-4F004DE80D42}"/>
              </a:ext>
            </a:extLst>
          </p:cNvPr>
          <p:cNvSpPr/>
          <p:nvPr/>
        </p:nvSpPr>
        <p:spPr>
          <a:xfrm>
            <a:off x="7440928" y="5594604"/>
            <a:ext cx="4491992" cy="544120"/>
          </a:xfrm>
          <a:prstGeom prst="rect">
            <a:avLst/>
          </a:prstGeom>
          <a:solidFill>
            <a:srgbClr val="E8F2F8"/>
          </a:solidFill>
          <a:ln>
            <a:noFill/>
          </a:ln>
        </p:spPr>
        <p:txBody>
          <a:bodyPr/>
          <a:lstStyle/>
          <a:p>
            <a:endParaRPr/>
          </a:p>
        </p:txBody>
      </p:sp>
      <p:sp>
        <p:nvSpPr>
          <p:cNvPr id="77" name="WhyTxt">
            <a:extLst>
              <a:ext uri="{FF2B5EF4-FFF2-40B4-BE49-F238E27FC236}">
                <a16:creationId xmlns:a16="http://schemas.microsoft.com/office/drawing/2014/main" id="{A459823C-0D89-D958-8E0A-CCEC404B5784}"/>
              </a:ext>
            </a:extLst>
          </p:cNvPr>
          <p:cNvSpPr txBox="1"/>
          <p:nvPr/>
        </p:nvSpPr>
        <p:spPr>
          <a:xfrm>
            <a:off x="7506639" y="5605631"/>
            <a:ext cx="4391764" cy="533093"/>
          </a:xfrm>
          <a:prstGeom prst="rect">
            <a:avLst/>
          </a:prstGeom>
          <a:noFill/>
          <a:ln>
            <a:noFill/>
          </a:ln>
        </p:spPr>
        <p:txBody>
          <a:bodyPr wrap="square" lIns="91440" tIns="45720" rIns="91440" bIns="45720" rtlCol="0" anchor="t"/>
          <a:lstStyle/>
          <a:p>
            <a:pPr>
              <a:spcAft>
                <a:spcPts val="50"/>
              </a:spcAft>
            </a:pPr>
            <a:r>
              <a:rPr lang="en-GB" sz="900" b="1"/>
              <a:t>The 0% → 75.1% range drove MOFA over PCA/SVD ; PCA/SVD need complete matrices; MOFA handles missing modalities natively ; </a:t>
            </a:r>
            <a:r>
              <a:rPr lang="en-GB" sz="1000" b="1">
                <a:solidFill>
                  <a:srgbClr val="333333"/>
                </a:solidFill>
              </a:rPr>
              <a:t>No imputation in the scoring pipeline</a:t>
            </a:r>
          </a:p>
          <a:p>
            <a:pPr>
              <a:spcAft>
                <a:spcPts val="50"/>
              </a:spcAft>
            </a:pPr>
            <a:endParaRPr lang="en-GB" sz="900" b="1"/>
          </a:p>
        </p:txBody>
      </p:sp>
      <p:graphicFrame>
        <p:nvGraphicFramePr>
          <p:cNvPr id="153" name="Table 152">
            <a:extLst>
              <a:ext uri="{FF2B5EF4-FFF2-40B4-BE49-F238E27FC236}">
                <a16:creationId xmlns:a16="http://schemas.microsoft.com/office/drawing/2014/main" id="{F41C8F80-E786-42CC-6556-31E22843AE88}"/>
              </a:ext>
            </a:extLst>
          </p:cNvPr>
          <p:cNvGraphicFramePr>
            <a:graphicFrameLocks noGrp="1"/>
          </p:cNvGraphicFramePr>
          <p:nvPr>
            <p:extLst>
              <p:ext uri="{D42A27DB-BD31-4B8C-83A1-F6EECF244321}">
                <p14:modId xmlns:p14="http://schemas.microsoft.com/office/powerpoint/2010/main" val="221957743"/>
              </p:ext>
            </p:extLst>
          </p:nvPr>
        </p:nvGraphicFramePr>
        <p:xfrm>
          <a:off x="271898" y="3373580"/>
          <a:ext cx="6915483" cy="1880354"/>
        </p:xfrm>
        <a:graphic>
          <a:graphicData uri="http://schemas.openxmlformats.org/drawingml/2006/table">
            <a:tbl>
              <a:tblPr firstRow="1" bandRow="1">
                <a:tableStyleId>{073A0DAA-6AF3-43AB-8588-CEC1D06C72B9}</a:tableStyleId>
              </a:tblPr>
              <a:tblGrid>
                <a:gridCol w="819483">
                  <a:extLst>
                    <a:ext uri="{9D8B030D-6E8A-4147-A177-3AD203B41FA5}">
                      <a16:colId xmlns:a16="http://schemas.microsoft.com/office/drawing/2014/main" val="3833343780"/>
                    </a:ext>
                  </a:extLst>
                </a:gridCol>
                <a:gridCol w="766916">
                  <a:extLst>
                    <a:ext uri="{9D8B030D-6E8A-4147-A177-3AD203B41FA5}">
                      <a16:colId xmlns:a16="http://schemas.microsoft.com/office/drawing/2014/main" val="668366124"/>
                    </a:ext>
                  </a:extLst>
                </a:gridCol>
                <a:gridCol w="806245">
                  <a:extLst>
                    <a:ext uri="{9D8B030D-6E8A-4147-A177-3AD203B41FA5}">
                      <a16:colId xmlns:a16="http://schemas.microsoft.com/office/drawing/2014/main" val="3319911857"/>
                    </a:ext>
                  </a:extLst>
                </a:gridCol>
                <a:gridCol w="1012723">
                  <a:extLst>
                    <a:ext uri="{9D8B030D-6E8A-4147-A177-3AD203B41FA5}">
                      <a16:colId xmlns:a16="http://schemas.microsoft.com/office/drawing/2014/main" val="3302431733"/>
                    </a:ext>
                  </a:extLst>
                </a:gridCol>
                <a:gridCol w="855406">
                  <a:extLst>
                    <a:ext uri="{9D8B030D-6E8A-4147-A177-3AD203B41FA5}">
                      <a16:colId xmlns:a16="http://schemas.microsoft.com/office/drawing/2014/main" val="63176609"/>
                    </a:ext>
                  </a:extLst>
                </a:gridCol>
                <a:gridCol w="1150374">
                  <a:extLst>
                    <a:ext uri="{9D8B030D-6E8A-4147-A177-3AD203B41FA5}">
                      <a16:colId xmlns:a16="http://schemas.microsoft.com/office/drawing/2014/main" val="755812990"/>
                    </a:ext>
                  </a:extLst>
                </a:gridCol>
                <a:gridCol w="698090">
                  <a:extLst>
                    <a:ext uri="{9D8B030D-6E8A-4147-A177-3AD203B41FA5}">
                      <a16:colId xmlns:a16="http://schemas.microsoft.com/office/drawing/2014/main" val="1628720106"/>
                    </a:ext>
                  </a:extLst>
                </a:gridCol>
                <a:gridCol w="806246">
                  <a:extLst>
                    <a:ext uri="{9D8B030D-6E8A-4147-A177-3AD203B41FA5}">
                      <a16:colId xmlns:a16="http://schemas.microsoft.com/office/drawing/2014/main" val="48622156"/>
                    </a:ext>
                  </a:extLst>
                </a:gridCol>
              </a:tblGrid>
              <a:tr h="188036">
                <a:tc>
                  <a:txBody>
                    <a:bodyPr/>
                    <a:lstStyle/>
                    <a:p>
                      <a:pPr algn="ctr">
                        <a:buNone/>
                      </a:pPr>
                      <a:r>
                        <a:rPr lang="en-US" sz="900" b="1">
                          <a:effectLst/>
                          <a:latin typeface="Calibri"/>
                          <a:ea typeface="Calibri"/>
                          <a:cs typeface="Calibri"/>
                        </a:rPr>
                        <a:t>ACH ID</a:t>
                      </a:r>
                    </a:p>
                  </a:txBody>
                  <a:tcPr marL="0" marR="0" marT="0" marB="0" anchor="ctr"/>
                </a:tc>
                <a:tc>
                  <a:txBody>
                    <a:bodyPr/>
                    <a:lstStyle/>
                    <a:p>
                      <a:pPr algn="ctr">
                        <a:buNone/>
                      </a:pPr>
                      <a:r>
                        <a:rPr lang="en-US" sz="900" b="1">
                          <a:effectLst/>
                          <a:latin typeface="Calibri"/>
                          <a:ea typeface="Calibri"/>
                          <a:cs typeface="Calibri"/>
                        </a:rPr>
                        <a:t>PR ID</a:t>
                      </a:r>
                    </a:p>
                  </a:txBody>
                  <a:tcPr marL="0" marR="0" marT="0" marB="0" anchor="ctr"/>
                </a:tc>
                <a:tc>
                  <a:txBody>
                    <a:bodyPr/>
                    <a:lstStyle/>
                    <a:p>
                      <a:pPr algn="ctr">
                        <a:buNone/>
                      </a:pPr>
                      <a:r>
                        <a:rPr lang="en-US" sz="900" b="1">
                          <a:effectLst/>
                          <a:latin typeface="Calibri"/>
                          <a:ea typeface="Calibri"/>
                          <a:cs typeface="Calibri"/>
                        </a:rPr>
                        <a:t>CVCL ID</a:t>
                      </a:r>
                    </a:p>
                  </a:txBody>
                  <a:tcPr marL="0" marR="0" marT="0" marB="0" anchor="ctr"/>
                </a:tc>
                <a:tc>
                  <a:txBody>
                    <a:bodyPr/>
                    <a:lstStyle/>
                    <a:p>
                      <a:pPr algn="ctr">
                        <a:buNone/>
                      </a:pPr>
                      <a:r>
                        <a:rPr lang="en-US" sz="900" b="1">
                          <a:effectLst/>
                          <a:latin typeface="Calibri"/>
                          <a:ea typeface="Calibri"/>
                          <a:cs typeface="Calibri"/>
                        </a:rPr>
                        <a:t>CCLE Name</a:t>
                      </a:r>
                    </a:p>
                  </a:txBody>
                  <a:tcPr marL="0" marR="0" marT="0" marB="0" anchor="ctr"/>
                </a:tc>
                <a:tc>
                  <a:txBody>
                    <a:bodyPr/>
                    <a:lstStyle/>
                    <a:p>
                      <a:pPr algn="ctr">
                        <a:buNone/>
                      </a:pPr>
                      <a:r>
                        <a:rPr lang="en-US" sz="900" b="1">
                          <a:effectLst/>
                          <a:latin typeface="Calibri"/>
                          <a:ea typeface="Calibri"/>
                          <a:cs typeface="Calibri"/>
                        </a:rPr>
                        <a:t>Cell line name</a:t>
                      </a:r>
                    </a:p>
                  </a:txBody>
                  <a:tcPr marL="0" marR="0" marT="0" marB="0" anchor="ctr"/>
                </a:tc>
                <a:tc>
                  <a:txBody>
                    <a:bodyPr/>
                    <a:lstStyle/>
                    <a:p>
                      <a:pPr algn="ctr">
                        <a:buNone/>
                      </a:pPr>
                      <a:r>
                        <a:rPr lang="en-US" sz="900" b="1">
                          <a:effectLst/>
                          <a:latin typeface="Calibri"/>
                          <a:ea typeface="Calibri"/>
                          <a:cs typeface="Calibri"/>
                        </a:rPr>
                        <a:t>Primary disease</a:t>
                      </a:r>
                    </a:p>
                  </a:txBody>
                  <a:tcPr marL="0" marR="0" marT="0" marB="0" anchor="ctr"/>
                </a:tc>
                <a:tc>
                  <a:txBody>
                    <a:bodyPr/>
                    <a:lstStyle/>
                    <a:p>
                      <a:pPr algn="ctr">
                        <a:buNone/>
                      </a:pPr>
                      <a:r>
                        <a:rPr lang="en-US" sz="900" b="1">
                          <a:effectLst/>
                          <a:latin typeface="Calibri"/>
                          <a:ea typeface="Calibri"/>
                          <a:cs typeface="Calibri"/>
                        </a:rPr>
                        <a:t>Lineage</a:t>
                      </a:r>
                    </a:p>
                  </a:txBody>
                  <a:tcPr marL="0" marR="0" marT="0" marB="0" anchor="ctr"/>
                </a:tc>
                <a:tc>
                  <a:txBody>
                    <a:bodyPr/>
                    <a:lstStyle/>
                    <a:p>
                      <a:pPr algn="ctr">
                        <a:buNone/>
                      </a:pPr>
                      <a:r>
                        <a:rPr lang="en-US" sz="900" b="1">
                          <a:effectLst/>
                          <a:latin typeface="Calibri"/>
                          <a:ea typeface="Calibri"/>
                          <a:cs typeface="Calibri"/>
                        </a:rPr>
                        <a:t>Unmapped</a:t>
                      </a:r>
                    </a:p>
                  </a:txBody>
                  <a:tcPr marL="0" marR="0" marT="0" marB="0" anchor="ctr"/>
                </a:tc>
                <a:extLst>
                  <a:ext uri="{0D108BD9-81ED-4DB2-BD59-A6C34878D82A}">
                    <a16:rowId xmlns:a16="http://schemas.microsoft.com/office/drawing/2014/main" val="1848724943"/>
                  </a:ext>
                </a:extLst>
              </a:tr>
              <a:tr h="282053">
                <a:tc>
                  <a:txBody>
                    <a:bodyPr/>
                    <a:lstStyle/>
                    <a:p>
                      <a:pPr algn="ctr">
                        <a:buNone/>
                      </a:pPr>
                      <a:r>
                        <a:rPr lang="en-US" sz="900">
                          <a:effectLst/>
                          <a:latin typeface="Calibri"/>
                          <a:ea typeface="Calibri"/>
                          <a:cs typeface="Calibri"/>
                        </a:rPr>
                        <a:t>ACH-000520</a:t>
                      </a:r>
                    </a:p>
                  </a:txBody>
                  <a:tcPr marL="0" marR="0" marT="0" marB="0" anchor="ctr"/>
                </a:tc>
                <a:tc>
                  <a:txBody>
                    <a:bodyPr/>
                    <a:lstStyle/>
                    <a:p>
                      <a:pPr algn="ctr">
                        <a:buNone/>
                      </a:pPr>
                      <a:r>
                        <a:rPr lang="en-US" sz="900">
                          <a:effectLst/>
                          <a:latin typeface="Calibri"/>
                          <a:ea typeface="Calibri"/>
                          <a:cs typeface="Calibri"/>
                        </a:rPr>
                        <a:t>PR-09gmEI</a:t>
                      </a:r>
                    </a:p>
                  </a:txBody>
                  <a:tcPr marL="0" marR="0" marT="0" marB="0" anchor="ctr"/>
                </a:tc>
                <a:tc>
                  <a:txBody>
                    <a:bodyPr/>
                    <a:lstStyle/>
                    <a:p>
                      <a:pPr algn="ctr">
                        <a:buNone/>
                      </a:pPr>
                      <a:r>
                        <a:rPr lang="en-US" sz="900">
                          <a:effectLst/>
                          <a:latin typeface="Calibri"/>
                          <a:ea typeface="Calibri"/>
                          <a:cs typeface="Calibri"/>
                        </a:rPr>
                        <a:t>CVCL_2291</a:t>
                      </a:r>
                    </a:p>
                  </a:txBody>
                  <a:tcPr marL="0" marR="0" marT="0" marB="0" anchor="ctr"/>
                </a:tc>
                <a:tc>
                  <a:txBody>
                    <a:bodyPr/>
                    <a:lstStyle/>
                    <a:p>
                      <a:pPr algn="ctr">
                        <a:buNone/>
                      </a:pPr>
                      <a:r>
                        <a:rPr lang="en-US" sz="900">
                          <a:effectLst/>
                          <a:latin typeface="Calibri"/>
                          <a:ea typeface="Calibri"/>
                          <a:cs typeface="Calibri"/>
                        </a:rPr>
                        <a:t>59M_OVARY</a:t>
                      </a:r>
                    </a:p>
                  </a:txBody>
                  <a:tcPr marL="0" marR="0" marT="0" marB="0" anchor="ctr"/>
                </a:tc>
                <a:tc>
                  <a:txBody>
                    <a:bodyPr/>
                    <a:lstStyle/>
                    <a:p>
                      <a:pPr algn="ctr">
                        <a:buNone/>
                      </a:pPr>
                      <a:r>
                        <a:rPr lang="en-US" sz="900">
                          <a:effectLst/>
                          <a:latin typeface="Calibri"/>
                          <a:ea typeface="Calibri"/>
                          <a:cs typeface="Calibri"/>
                        </a:rPr>
                        <a:t>59M</a:t>
                      </a:r>
                    </a:p>
                  </a:txBody>
                  <a:tcPr marL="0" marR="0" marT="0" marB="0" anchor="ctr"/>
                </a:tc>
                <a:tc>
                  <a:txBody>
                    <a:bodyPr/>
                    <a:lstStyle/>
                    <a:p>
                      <a:pPr algn="ctr">
                        <a:buNone/>
                      </a:pPr>
                      <a:r>
                        <a:rPr lang="en-US" sz="900">
                          <a:effectLst/>
                          <a:latin typeface="Calibri"/>
                          <a:ea typeface="Calibri"/>
                          <a:cs typeface="Calibri"/>
                        </a:rPr>
                        <a:t>Ovarian Cancer</a:t>
                      </a:r>
                    </a:p>
                  </a:txBody>
                  <a:tcPr marL="0" marR="0" marT="0" marB="0" anchor="ctr"/>
                </a:tc>
                <a:tc>
                  <a:txBody>
                    <a:bodyPr/>
                    <a:lstStyle/>
                    <a:p>
                      <a:pPr algn="ctr">
                        <a:buNone/>
                      </a:pPr>
                      <a:r>
                        <a:rPr lang="en-US" sz="900">
                          <a:effectLst/>
                          <a:latin typeface="Calibri"/>
                          <a:ea typeface="Calibri"/>
                          <a:cs typeface="Calibri"/>
                        </a:rPr>
                        <a:t>ovary</a:t>
                      </a:r>
                    </a:p>
                  </a:txBody>
                  <a:tcPr marL="0" marR="0" marT="0" marB="0" anchor="ctr"/>
                </a:tc>
                <a:tc>
                  <a:txBody>
                    <a:bodyPr/>
                    <a:lstStyle/>
                    <a:p>
                      <a:pPr algn="ctr">
                        <a:buNone/>
                      </a:pPr>
                      <a:r>
                        <a:rPr lang="en-US" sz="900">
                          <a:effectLst/>
                          <a:latin typeface="Calibri"/>
                          <a:ea typeface="Calibri"/>
                          <a:cs typeface="Calibri"/>
                        </a:rPr>
                        <a:t>FALSE</a:t>
                      </a:r>
                    </a:p>
                  </a:txBody>
                  <a:tcPr marL="0" marR="0" marT="0" marB="0" anchor="ctr"/>
                </a:tc>
                <a:extLst>
                  <a:ext uri="{0D108BD9-81ED-4DB2-BD59-A6C34878D82A}">
                    <a16:rowId xmlns:a16="http://schemas.microsoft.com/office/drawing/2014/main" val="535145862"/>
                  </a:ext>
                </a:extLst>
              </a:tr>
              <a:tr h="282053">
                <a:tc>
                  <a:txBody>
                    <a:bodyPr/>
                    <a:lstStyle/>
                    <a:p>
                      <a:pPr algn="ctr">
                        <a:buNone/>
                      </a:pPr>
                      <a:r>
                        <a:rPr lang="en-US" sz="900">
                          <a:effectLst/>
                          <a:latin typeface="Calibri"/>
                          <a:ea typeface="Calibri"/>
                          <a:cs typeface="Calibri"/>
                        </a:rPr>
                        <a:t>ACH-000575</a:t>
                      </a:r>
                    </a:p>
                  </a:txBody>
                  <a:tcPr marL="0" marR="0" marT="0" marB="0" anchor="ctr"/>
                </a:tc>
                <a:tc>
                  <a:txBody>
                    <a:bodyPr/>
                    <a:lstStyle/>
                    <a:p>
                      <a:pPr algn="ctr">
                        <a:buNone/>
                      </a:pPr>
                      <a:r>
                        <a:rPr lang="en-US" sz="900">
                          <a:effectLst/>
                          <a:latin typeface="Calibri"/>
                          <a:ea typeface="Calibri"/>
                          <a:cs typeface="Calibri"/>
                        </a:rPr>
                        <a:t>PR-0B6q0Z</a:t>
                      </a:r>
                    </a:p>
                  </a:txBody>
                  <a:tcPr marL="0" marR="0" marT="0" marB="0" anchor="ctr"/>
                </a:tc>
                <a:tc>
                  <a:txBody>
                    <a:bodyPr/>
                    <a:lstStyle/>
                    <a:p>
                      <a:pPr algn="ctr">
                        <a:buNone/>
                      </a:pPr>
                      <a:r>
                        <a:rPr lang="en-US" sz="900">
                          <a:effectLst/>
                          <a:latin typeface="Calibri"/>
                          <a:ea typeface="Calibri"/>
                          <a:cs typeface="Calibri"/>
                        </a:rPr>
                        <a:t>CVCL_5134</a:t>
                      </a:r>
                    </a:p>
                  </a:txBody>
                  <a:tcPr marL="0" marR="0" marT="0" marB="0" anchor="ctr"/>
                </a:tc>
                <a:tc>
                  <a:txBody>
                    <a:bodyPr/>
                    <a:lstStyle/>
                    <a:p>
                      <a:pPr algn="ctr">
                        <a:buNone/>
                      </a:pPr>
                      <a:r>
                        <a:rPr lang="en-US" sz="900">
                          <a:effectLst/>
                          <a:latin typeface="Calibri"/>
                          <a:ea typeface="Calibri"/>
                          <a:cs typeface="Calibri"/>
                        </a:rPr>
                        <a:t>HCC364_LUNG</a:t>
                      </a:r>
                    </a:p>
                  </a:txBody>
                  <a:tcPr marL="0" marR="0" marT="0" marB="0" anchor="ctr"/>
                </a:tc>
                <a:tc>
                  <a:txBody>
                    <a:bodyPr/>
                    <a:lstStyle/>
                    <a:p>
                      <a:pPr algn="ctr">
                        <a:buNone/>
                      </a:pPr>
                      <a:r>
                        <a:rPr lang="en-US" sz="900">
                          <a:effectLst/>
                          <a:latin typeface="Calibri"/>
                          <a:ea typeface="Calibri"/>
                          <a:cs typeface="Calibri"/>
                        </a:rPr>
                        <a:t>HCC364</a:t>
                      </a:r>
                    </a:p>
                  </a:txBody>
                  <a:tcPr marL="0" marR="0" marT="0" marB="0" anchor="ctr"/>
                </a:tc>
                <a:tc>
                  <a:txBody>
                    <a:bodyPr/>
                    <a:lstStyle/>
                    <a:p>
                      <a:pPr algn="ctr">
                        <a:buNone/>
                      </a:pPr>
                      <a:r>
                        <a:rPr lang="en-US" sz="900">
                          <a:effectLst/>
                          <a:latin typeface="Calibri"/>
                          <a:ea typeface="Calibri"/>
                          <a:cs typeface="Calibri"/>
                        </a:rPr>
                        <a:t>Lung Cancer</a:t>
                      </a:r>
                    </a:p>
                  </a:txBody>
                  <a:tcPr marL="0" marR="0" marT="0" marB="0" anchor="ctr"/>
                </a:tc>
                <a:tc>
                  <a:txBody>
                    <a:bodyPr/>
                    <a:lstStyle/>
                    <a:p>
                      <a:pPr algn="ctr">
                        <a:buNone/>
                      </a:pPr>
                      <a:r>
                        <a:rPr lang="en-US" sz="900">
                          <a:effectLst/>
                          <a:latin typeface="Calibri"/>
                          <a:ea typeface="Calibri"/>
                          <a:cs typeface="Calibri"/>
                        </a:rPr>
                        <a:t>lung</a:t>
                      </a:r>
                    </a:p>
                  </a:txBody>
                  <a:tcPr marL="0" marR="0" marT="0" marB="0" anchor="ctr"/>
                </a:tc>
                <a:tc>
                  <a:txBody>
                    <a:bodyPr/>
                    <a:lstStyle/>
                    <a:p>
                      <a:pPr algn="ctr">
                        <a:buNone/>
                      </a:pPr>
                      <a:r>
                        <a:rPr lang="en-US" sz="900">
                          <a:effectLst/>
                          <a:latin typeface="Calibri"/>
                          <a:ea typeface="Calibri"/>
                          <a:cs typeface="Calibri"/>
                        </a:rPr>
                        <a:t>FALSE</a:t>
                      </a:r>
                    </a:p>
                  </a:txBody>
                  <a:tcPr marL="0" marR="0" marT="0" marB="0" anchor="ctr"/>
                </a:tc>
                <a:extLst>
                  <a:ext uri="{0D108BD9-81ED-4DB2-BD59-A6C34878D82A}">
                    <a16:rowId xmlns:a16="http://schemas.microsoft.com/office/drawing/2014/main" val="3945801152"/>
                  </a:ext>
                </a:extLst>
              </a:tr>
              <a:tr h="282053">
                <a:tc>
                  <a:txBody>
                    <a:bodyPr/>
                    <a:lstStyle/>
                    <a:p>
                      <a:pPr algn="ctr">
                        <a:buNone/>
                      </a:pPr>
                      <a:r>
                        <a:rPr lang="en-US" sz="900">
                          <a:effectLst/>
                          <a:latin typeface="Calibri"/>
                          <a:ea typeface="Calibri"/>
                          <a:cs typeface="Calibri"/>
                        </a:rPr>
                        <a:t>ACH-000856</a:t>
                      </a:r>
                    </a:p>
                  </a:txBody>
                  <a:tcPr marL="0" marR="0" marT="0" marB="0" anchor="ctr"/>
                </a:tc>
                <a:tc>
                  <a:txBody>
                    <a:bodyPr/>
                    <a:lstStyle/>
                    <a:p>
                      <a:pPr algn="ctr">
                        <a:buNone/>
                      </a:pPr>
                      <a:r>
                        <a:rPr lang="en-US" sz="900">
                          <a:effectLst/>
                          <a:latin typeface="Calibri"/>
                          <a:ea typeface="Calibri"/>
                          <a:cs typeface="Calibri"/>
                        </a:rPr>
                        <a:t>PR-0f2vAo</a:t>
                      </a:r>
                    </a:p>
                  </a:txBody>
                  <a:tcPr marL="0" marR="0" marT="0" marB="0" anchor="ctr"/>
                </a:tc>
                <a:tc>
                  <a:txBody>
                    <a:bodyPr/>
                    <a:lstStyle/>
                    <a:p>
                      <a:pPr algn="ctr">
                        <a:buNone/>
                      </a:pPr>
                      <a:r>
                        <a:rPr lang="en-US" sz="900">
                          <a:effectLst/>
                          <a:latin typeface="Calibri"/>
                          <a:ea typeface="Calibri"/>
                          <a:cs typeface="Calibri"/>
                        </a:rPr>
                        <a:t>CVCL_1110</a:t>
                      </a:r>
                    </a:p>
                  </a:txBody>
                  <a:tcPr marL="0" marR="0" marT="0" marB="0" anchor="ctr"/>
                </a:tc>
                <a:tc>
                  <a:txBody>
                    <a:bodyPr/>
                    <a:lstStyle/>
                    <a:p>
                      <a:pPr algn="ctr">
                        <a:buNone/>
                      </a:pPr>
                      <a:r>
                        <a:rPr lang="en-US" sz="900">
                          <a:effectLst/>
                          <a:latin typeface="Calibri"/>
                          <a:ea typeface="Calibri"/>
                          <a:cs typeface="Calibri"/>
                        </a:rPr>
                        <a:t>CAL51_BREAST</a:t>
                      </a:r>
                    </a:p>
                  </a:txBody>
                  <a:tcPr marL="0" marR="0" marT="0" marB="0" anchor="ctr"/>
                </a:tc>
                <a:tc>
                  <a:txBody>
                    <a:bodyPr/>
                    <a:lstStyle/>
                    <a:p>
                      <a:pPr algn="ctr">
                        <a:buNone/>
                      </a:pPr>
                      <a:r>
                        <a:rPr lang="en-US" sz="900">
                          <a:effectLst/>
                          <a:latin typeface="Calibri"/>
                          <a:ea typeface="Calibri"/>
                          <a:cs typeface="Calibri"/>
                        </a:rPr>
                        <a:t>CAL-51</a:t>
                      </a:r>
                    </a:p>
                  </a:txBody>
                  <a:tcPr marL="0" marR="0" marT="0" marB="0" anchor="ctr"/>
                </a:tc>
                <a:tc>
                  <a:txBody>
                    <a:bodyPr/>
                    <a:lstStyle/>
                    <a:p>
                      <a:pPr algn="ctr">
                        <a:buNone/>
                      </a:pPr>
                      <a:r>
                        <a:rPr lang="en-US" sz="900">
                          <a:effectLst/>
                          <a:latin typeface="Calibri"/>
                          <a:ea typeface="Calibri"/>
                          <a:cs typeface="Calibri"/>
                        </a:rPr>
                        <a:t>Breast Cancer</a:t>
                      </a:r>
                    </a:p>
                  </a:txBody>
                  <a:tcPr marL="0" marR="0" marT="0" marB="0" anchor="ctr"/>
                </a:tc>
                <a:tc>
                  <a:txBody>
                    <a:bodyPr/>
                    <a:lstStyle/>
                    <a:p>
                      <a:pPr algn="ctr">
                        <a:buNone/>
                      </a:pPr>
                      <a:r>
                        <a:rPr lang="en-US" sz="900">
                          <a:effectLst/>
                          <a:latin typeface="Calibri"/>
                          <a:ea typeface="Calibri"/>
                          <a:cs typeface="Calibri"/>
                        </a:rPr>
                        <a:t>breast</a:t>
                      </a:r>
                    </a:p>
                  </a:txBody>
                  <a:tcPr marL="0" marR="0" marT="0" marB="0" anchor="ctr"/>
                </a:tc>
                <a:tc>
                  <a:txBody>
                    <a:bodyPr/>
                    <a:lstStyle/>
                    <a:p>
                      <a:pPr algn="ctr">
                        <a:buNone/>
                      </a:pPr>
                      <a:r>
                        <a:rPr lang="en-US" sz="900">
                          <a:effectLst/>
                          <a:latin typeface="Calibri"/>
                          <a:ea typeface="Calibri"/>
                          <a:cs typeface="Calibri"/>
                        </a:rPr>
                        <a:t>FALSE</a:t>
                      </a:r>
                    </a:p>
                  </a:txBody>
                  <a:tcPr marL="0" marR="0" marT="0" marB="0" anchor="ctr"/>
                </a:tc>
                <a:extLst>
                  <a:ext uri="{0D108BD9-81ED-4DB2-BD59-A6C34878D82A}">
                    <a16:rowId xmlns:a16="http://schemas.microsoft.com/office/drawing/2014/main" val="1986167694"/>
                  </a:ext>
                </a:extLst>
              </a:tr>
              <a:tr h="282053">
                <a:tc>
                  <a:txBody>
                    <a:bodyPr/>
                    <a:lstStyle/>
                    <a:p>
                      <a:pPr algn="ctr">
                        <a:buNone/>
                      </a:pPr>
                      <a:r>
                        <a:rPr lang="en-US" sz="900">
                          <a:effectLst/>
                          <a:latin typeface="Calibri"/>
                          <a:ea typeface="Calibri"/>
                          <a:cs typeface="Calibri"/>
                        </a:rPr>
                        <a:t>ACH-001335</a:t>
                      </a:r>
                    </a:p>
                  </a:txBody>
                  <a:tcPr marL="0" marR="0" marT="0" marB="0" anchor="ctr"/>
                </a:tc>
                <a:tc>
                  <a:txBody>
                    <a:bodyPr/>
                    <a:lstStyle/>
                    <a:p>
                      <a:pPr algn="ctr">
                        <a:buNone/>
                      </a:pPr>
                      <a:r>
                        <a:rPr lang="en-US" sz="900">
                          <a:effectLst/>
                          <a:latin typeface="Calibri"/>
                          <a:ea typeface="Calibri"/>
                          <a:cs typeface="Calibri"/>
                        </a:rPr>
                        <a:t>PR-0fum2y</a:t>
                      </a:r>
                    </a:p>
                  </a:txBody>
                  <a:tcPr marL="0" marR="0" marT="0" marB="0" anchor="ctr"/>
                </a:tc>
                <a:tc>
                  <a:txBody>
                    <a:bodyPr/>
                    <a:lstStyle/>
                    <a:p>
                      <a:pPr algn="ctr">
                        <a:buNone/>
                      </a:pPr>
                      <a:r>
                        <a:rPr lang="en-US" sz="900">
                          <a:effectLst/>
                          <a:latin typeface="Calibri"/>
                          <a:ea typeface="Calibri"/>
                          <a:cs typeface="Calibri"/>
                        </a:rPr>
                        <a:t>CVCL_1095</a:t>
                      </a:r>
                    </a:p>
                  </a:txBody>
                  <a:tcPr marL="0" marR="0" marT="0" marB="0" anchor="ctr"/>
                </a:tc>
                <a:tc>
                  <a:txBody>
                    <a:bodyPr/>
                    <a:lstStyle/>
                    <a:p>
                      <a:pPr algn="ctr">
                        <a:buNone/>
                      </a:pPr>
                      <a:r>
                        <a:rPr lang="en-US" sz="900">
                          <a:effectLst/>
                          <a:latin typeface="Calibri"/>
                          <a:ea typeface="Calibri"/>
                          <a:cs typeface="Calibri"/>
                        </a:rPr>
                        <a:t>C4II_CERVIX</a:t>
                      </a:r>
                    </a:p>
                  </a:txBody>
                  <a:tcPr marL="0" marR="0" marT="0" marB="0" anchor="ctr"/>
                </a:tc>
                <a:tc>
                  <a:txBody>
                    <a:bodyPr/>
                    <a:lstStyle/>
                    <a:p>
                      <a:pPr algn="ctr">
                        <a:buNone/>
                      </a:pPr>
                      <a:r>
                        <a:rPr lang="en-US" sz="900">
                          <a:effectLst/>
                          <a:latin typeface="Calibri"/>
                          <a:ea typeface="Calibri"/>
                          <a:cs typeface="Calibri"/>
                        </a:rPr>
                        <a:t>C-4 II</a:t>
                      </a:r>
                    </a:p>
                  </a:txBody>
                  <a:tcPr marL="0" marR="0" marT="0" marB="0" anchor="ctr"/>
                </a:tc>
                <a:tc>
                  <a:txBody>
                    <a:bodyPr/>
                    <a:lstStyle/>
                    <a:p>
                      <a:pPr algn="ctr">
                        <a:buNone/>
                      </a:pPr>
                      <a:r>
                        <a:rPr lang="en-US" sz="900">
                          <a:effectLst/>
                          <a:latin typeface="Calibri"/>
                          <a:ea typeface="Calibri"/>
                          <a:cs typeface="Calibri"/>
                        </a:rPr>
                        <a:t>Cervical Cancer</a:t>
                      </a:r>
                    </a:p>
                  </a:txBody>
                  <a:tcPr marL="0" marR="0" marT="0" marB="0" anchor="ctr"/>
                </a:tc>
                <a:tc>
                  <a:txBody>
                    <a:bodyPr/>
                    <a:lstStyle/>
                    <a:p>
                      <a:pPr algn="ctr">
                        <a:buNone/>
                      </a:pPr>
                      <a:r>
                        <a:rPr lang="en-US" sz="900">
                          <a:effectLst/>
                          <a:latin typeface="Calibri"/>
                          <a:ea typeface="Calibri"/>
                          <a:cs typeface="Calibri"/>
                        </a:rPr>
                        <a:t>cervix</a:t>
                      </a:r>
                    </a:p>
                  </a:txBody>
                  <a:tcPr marL="0" marR="0" marT="0" marB="0" anchor="ctr"/>
                </a:tc>
                <a:tc>
                  <a:txBody>
                    <a:bodyPr/>
                    <a:lstStyle/>
                    <a:p>
                      <a:pPr algn="ctr">
                        <a:buNone/>
                      </a:pPr>
                      <a:r>
                        <a:rPr lang="en-US" sz="900">
                          <a:effectLst/>
                          <a:latin typeface="Calibri"/>
                          <a:ea typeface="Calibri"/>
                          <a:cs typeface="Calibri"/>
                        </a:rPr>
                        <a:t>FALSE</a:t>
                      </a:r>
                    </a:p>
                  </a:txBody>
                  <a:tcPr marL="0" marR="0" marT="0" marB="0" anchor="ctr"/>
                </a:tc>
                <a:extLst>
                  <a:ext uri="{0D108BD9-81ED-4DB2-BD59-A6C34878D82A}">
                    <a16:rowId xmlns:a16="http://schemas.microsoft.com/office/drawing/2014/main" val="261853150"/>
                  </a:ext>
                </a:extLst>
              </a:tr>
              <a:tr h="282053">
                <a:tc>
                  <a:txBody>
                    <a:bodyPr/>
                    <a:lstStyle/>
                    <a:p>
                      <a:pPr algn="ctr">
                        <a:buNone/>
                      </a:pPr>
                      <a:r>
                        <a:rPr lang="en-US" sz="900">
                          <a:effectLst/>
                          <a:latin typeface="Calibri"/>
                          <a:ea typeface="Calibri"/>
                          <a:cs typeface="Calibri"/>
                        </a:rPr>
                        <a:t>ACH-000411</a:t>
                      </a:r>
                    </a:p>
                  </a:txBody>
                  <a:tcPr marL="0" marR="0" marT="0" marB="0" anchor="ctr"/>
                </a:tc>
                <a:tc>
                  <a:txBody>
                    <a:bodyPr/>
                    <a:lstStyle/>
                    <a:p>
                      <a:pPr algn="ctr">
                        <a:buNone/>
                      </a:pPr>
                      <a:r>
                        <a:rPr lang="en-US" sz="900">
                          <a:effectLst/>
                          <a:latin typeface="Calibri"/>
                          <a:ea typeface="Calibri"/>
                          <a:cs typeface="Calibri"/>
                        </a:rPr>
                        <a:t>PR-0hvX2B</a:t>
                      </a:r>
                    </a:p>
                  </a:txBody>
                  <a:tcPr marL="0" marR="0" marT="0" marB="0" anchor="ctr"/>
                </a:tc>
                <a:tc>
                  <a:txBody>
                    <a:bodyPr/>
                    <a:lstStyle/>
                    <a:p>
                      <a:pPr algn="ctr">
                        <a:buNone/>
                      </a:pPr>
                      <a:r>
                        <a:rPr lang="en-US" sz="900">
                          <a:effectLst/>
                          <a:latin typeface="Calibri"/>
                          <a:ea typeface="Calibri"/>
                          <a:cs typeface="Calibri"/>
                        </a:rPr>
                        <a:t>CVCL_1050</a:t>
                      </a:r>
                    </a:p>
                  </a:txBody>
                  <a:tcPr marL="0" marR="0" marT="0" marB="0" anchor="ctr"/>
                </a:tc>
                <a:tc>
                  <a:txBody>
                    <a:bodyPr/>
                    <a:lstStyle/>
                    <a:p>
                      <a:pPr algn="ctr">
                        <a:buNone/>
                      </a:pPr>
                      <a:r>
                        <a:rPr lang="en-US" sz="900">
                          <a:effectLst/>
                          <a:latin typeface="Calibri"/>
                          <a:ea typeface="Calibri"/>
                          <a:cs typeface="Calibri"/>
                        </a:rPr>
                        <a:t>769P_KIDNEY</a:t>
                      </a:r>
                    </a:p>
                  </a:txBody>
                  <a:tcPr marL="0" marR="0" marT="0" marB="0" anchor="ctr"/>
                </a:tc>
                <a:tc>
                  <a:txBody>
                    <a:bodyPr/>
                    <a:lstStyle/>
                    <a:p>
                      <a:pPr algn="ctr">
                        <a:buNone/>
                      </a:pPr>
                      <a:r>
                        <a:rPr lang="en-US" sz="900">
                          <a:effectLst/>
                          <a:latin typeface="Calibri"/>
                          <a:ea typeface="Calibri"/>
                          <a:cs typeface="Calibri"/>
                        </a:rPr>
                        <a:t>769-P</a:t>
                      </a:r>
                    </a:p>
                  </a:txBody>
                  <a:tcPr marL="0" marR="0" marT="0" marB="0" anchor="ctr"/>
                </a:tc>
                <a:tc>
                  <a:txBody>
                    <a:bodyPr/>
                    <a:lstStyle/>
                    <a:p>
                      <a:pPr algn="ctr">
                        <a:buNone/>
                      </a:pPr>
                      <a:r>
                        <a:rPr lang="en-US" sz="900">
                          <a:effectLst/>
                          <a:latin typeface="Calibri"/>
                          <a:ea typeface="Calibri"/>
                          <a:cs typeface="Calibri"/>
                        </a:rPr>
                        <a:t>Kidney Cancer</a:t>
                      </a:r>
                    </a:p>
                  </a:txBody>
                  <a:tcPr marL="0" marR="0" marT="0" marB="0" anchor="ctr"/>
                </a:tc>
                <a:tc>
                  <a:txBody>
                    <a:bodyPr/>
                    <a:lstStyle/>
                    <a:p>
                      <a:pPr algn="ctr">
                        <a:buNone/>
                      </a:pPr>
                      <a:r>
                        <a:rPr lang="en-US" sz="900">
                          <a:effectLst/>
                          <a:latin typeface="Calibri"/>
                          <a:ea typeface="Calibri"/>
                          <a:cs typeface="Calibri"/>
                        </a:rPr>
                        <a:t>kidney</a:t>
                      </a:r>
                    </a:p>
                  </a:txBody>
                  <a:tcPr marL="0" marR="0" marT="0" marB="0" anchor="ctr"/>
                </a:tc>
                <a:tc>
                  <a:txBody>
                    <a:bodyPr/>
                    <a:lstStyle/>
                    <a:p>
                      <a:pPr algn="ctr">
                        <a:buNone/>
                      </a:pPr>
                      <a:r>
                        <a:rPr lang="en-US" sz="900">
                          <a:effectLst/>
                          <a:latin typeface="Calibri"/>
                          <a:ea typeface="Calibri"/>
                          <a:cs typeface="Calibri"/>
                        </a:rPr>
                        <a:t>FALSE</a:t>
                      </a:r>
                    </a:p>
                  </a:txBody>
                  <a:tcPr marL="0" marR="0" marT="0" marB="0" anchor="ctr"/>
                </a:tc>
                <a:extLst>
                  <a:ext uri="{0D108BD9-81ED-4DB2-BD59-A6C34878D82A}">
                    <a16:rowId xmlns:a16="http://schemas.microsoft.com/office/drawing/2014/main" val="2574308204"/>
                  </a:ext>
                </a:extLst>
              </a:tr>
              <a:tr h="282053">
                <a:tc>
                  <a:txBody>
                    <a:bodyPr/>
                    <a:lstStyle/>
                    <a:p>
                      <a:pPr algn="ctr">
                        <a:buNone/>
                      </a:pPr>
                      <a:r>
                        <a:rPr lang="en-US" sz="900">
                          <a:effectLst/>
                          <a:latin typeface="Calibri"/>
                          <a:ea typeface="Calibri"/>
                          <a:cs typeface="Calibri"/>
                        </a:rPr>
                        <a:t>ACH-000414</a:t>
                      </a:r>
                    </a:p>
                  </a:txBody>
                  <a:tcPr marL="0" marR="0" marT="0" marB="0" anchor="ctr"/>
                </a:tc>
                <a:tc>
                  <a:txBody>
                    <a:bodyPr/>
                    <a:lstStyle/>
                    <a:p>
                      <a:pPr algn="ctr">
                        <a:buNone/>
                      </a:pPr>
                      <a:r>
                        <a:rPr lang="en-US" sz="900">
                          <a:effectLst/>
                          <a:latin typeface="Calibri"/>
                          <a:ea typeface="Calibri"/>
                          <a:cs typeface="Calibri"/>
                        </a:rPr>
                        <a:t>PR-0jK5CP</a:t>
                      </a:r>
                    </a:p>
                  </a:txBody>
                  <a:tcPr marL="0" marR="0" marT="0" marB="0" anchor="ctr"/>
                </a:tc>
                <a:tc>
                  <a:txBody>
                    <a:bodyPr/>
                    <a:lstStyle/>
                    <a:p>
                      <a:pPr algn="ctr">
                        <a:buNone/>
                      </a:pPr>
                      <a:r>
                        <a:rPr lang="en-US" sz="900">
                          <a:effectLst/>
                          <a:latin typeface="Calibri"/>
                          <a:ea typeface="Calibri"/>
                          <a:cs typeface="Calibri"/>
                        </a:rPr>
                        <a:t>CVCL_1508</a:t>
                      </a:r>
                    </a:p>
                  </a:txBody>
                  <a:tcPr marL="0" marR="0" marT="0" marB="0" anchor="ctr"/>
                </a:tc>
                <a:tc>
                  <a:txBody>
                    <a:bodyPr/>
                    <a:lstStyle/>
                    <a:p>
                      <a:pPr algn="ctr">
                        <a:buNone/>
                      </a:pPr>
                      <a:r>
                        <a:rPr lang="en-US" sz="900">
                          <a:effectLst/>
                          <a:latin typeface="Calibri"/>
                          <a:ea typeface="Calibri"/>
                          <a:cs typeface="Calibri"/>
                        </a:rPr>
                        <a:t>NCIH1944_LUNG</a:t>
                      </a:r>
                    </a:p>
                  </a:txBody>
                  <a:tcPr marL="0" marR="0" marT="0" marB="0" anchor="ctr"/>
                </a:tc>
                <a:tc>
                  <a:txBody>
                    <a:bodyPr/>
                    <a:lstStyle/>
                    <a:p>
                      <a:pPr algn="ctr">
                        <a:buNone/>
                      </a:pPr>
                      <a:r>
                        <a:rPr lang="en-US" sz="900">
                          <a:effectLst/>
                          <a:latin typeface="Calibri"/>
                          <a:ea typeface="Calibri"/>
                          <a:cs typeface="Calibri"/>
                        </a:rPr>
                        <a:t>NCI-H1944</a:t>
                      </a:r>
                    </a:p>
                  </a:txBody>
                  <a:tcPr marL="0" marR="0" marT="0" marB="0" anchor="ctr"/>
                </a:tc>
                <a:tc>
                  <a:txBody>
                    <a:bodyPr/>
                    <a:lstStyle/>
                    <a:p>
                      <a:pPr algn="ctr">
                        <a:buNone/>
                      </a:pPr>
                      <a:r>
                        <a:rPr lang="en-US" sz="900">
                          <a:effectLst/>
                          <a:latin typeface="Calibri"/>
                          <a:ea typeface="Calibri"/>
                          <a:cs typeface="Calibri"/>
                        </a:rPr>
                        <a:t>Lung Cancer</a:t>
                      </a:r>
                    </a:p>
                  </a:txBody>
                  <a:tcPr marL="0" marR="0" marT="0" marB="0" anchor="ctr"/>
                </a:tc>
                <a:tc>
                  <a:txBody>
                    <a:bodyPr/>
                    <a:lstStyle/>
                    <a:p>
                      <a:pPr algn="ctr">
                        <a:buNone/>
                      </a:pPr>
                      <a:r>
                        <a:rPr lang="en-US" sz="900">
                          <a:effectLst/>
                          <a:latin typeface="Calibri"/>
                          <a:ea typeface="Calibri"/>
                          <a:cs typeface="Calibri"/>
                        </a:rPr>
                        <a:t>lung</a:t>
                      </a:r>
                    </a:p>
                  </a:txBody>
                  <a:tcPr marL="0" marR="0" marT="0" marB="0" anchor="ctr"/>
                </a:tc>
                <a:tc>
                  <a:txBody>
                    <a:bodyPr/>
                    <a:lstStyle/>
                    <a:p>
                      <a:pPr algn="ctr">
                        <a:buNone/>
                      </a:pPr>
                      <a:r>
                        <a:rPr lang="en-US" sz="900">
                          <a:effectLst/>
                          <a:latin typeface="Calibri"/>
                          <a:ea typeface="Calibri"/>
                          <a:cs typeface="Calibri"/>
                        </a:rPr>
                        <a:t>FALSE</a:t>
                      </a:r>
                    </a:p>
                  </a:txBody>
                  <a:tcPr marL="0" marR="0" marT="0" marB="0" anchor="ctr"/>
                </a:tc>
                <a:extLst>
                  <a:ext uri="{0D108BD9-81ED-4DB2-BD59-A6C34878D82A}">
                    <a16:rowId xmlns:a16="http://schemas.microsoft.com/office/drawing/2014/main" val="2716446448"/>
                  </a:ext>
                </a:extLst>
              </a:tr>
            </a:tbl>
          </a:graphicData>
        </a:graphic>
      </p:graphicFrame>
    </p:spTree>
    <p:extLst>
      <p:ext uri="{BB962C8B-B14F-4D97-AF65-F5344CB8AC3E}">
        <p14:creationId xmlns:p14="http://schemas.microsoft.com/office/powerpoint/2010/main" val="634794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112FD728-DFC0-7920-0F2A-084E0D7ECB69}"/>
              </a:ext>
            </a:extLst>
          </p:cNvPr>
          <p:cNvSpPr>
            <a:spLocks noGrp="1"/>
          </p:cNvSpPr>
          <p:nvPr>
            <p:ph type="title"/>
          </p:nvPr>
        </p:nvSpPr>
        <p:spPr>
          <a:xfrm>
            <a:off x="11199" y="540659"/>
            <a:ext cx="7705204" cy="659908"/>
          </a:xfrm>
        </p:spPr>
        <p:txBody>
          <a:bodyPr anchor="b">
            <a:normAutofit fontScale="90000"/>
          </a:bodyPr>
          <a:lstStyle/>
          <a:p>
            <a:r>
              <a:rPr lang="en-US" sz="3600" b="1">
                <a:solidFill>
                  <a:schemeClr val="tx2"/>
                </a:solidFill>
                <a:ea typeface="+mj-lt"/>
                <a:cs typeface="+mj-lt"/>
              </a:rPr>
              <a:t>Integrating four omics layers with MOFA</a:t>
            </a:r>
            <a:endParaRPr lang="en-US">
              <a:solidFill>
                <a:schemeClr val="tx2"/>
              </a:solidFill>
            </a:endParaRPr>
          </a:p>
          <a:p>
            <a:r>
              <a:rPr lang="en-US" sz="3600">
                <a:solidFill>
                  <a:schemeClr val="tx2"/>
                </a:solidFill>
                <a:ea typeface="+mj-lt"/>
                <a:cs typeface="+mj-lt"/>
              </a:rPr>
              <a:t> </a:t>
            </a:r>
            <a:r>
              <a:rPr lang="en-US" sz="1800">
                <a:solidFill>
                  <a:schemeClr val="tx2"/>
                </a:solidFill>
                <a:ea typeface="+mj-lt"/>
                <a:cs typeface="+mj-lt"/>
              </a:rPr>
              <a:t>Why the standard decompositions failed, and what MOFA+ does instead</a:t>
            </a:r>
            <a:endParaRPr lang="en-US" sz="1800">
              <a:solidFill>
                <a:schemeClr val="tx2"/>
              </a:solidFill>
            </a:endParaRPr>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BF964D45-D0B3-41DB-AE5A-05E802A7623D}"/>
              </a:ext>
            </a:extLst>
          </p:cNvPr>
          <p:cNvSpPr>
            <a:spLocks noGrp="1"/>
          </p:cNvSpPr>
          <p:nvPr>
            <p:ph idx="1"/>
          </p:nvPr>
        </p:nvSpPr>
        <p:spPr>
          <a:xfrm>
            <a:off x="40605" y="1200567"/>
            <a:ext cx="5716996" cy="5654388"/>
          </a:xfrm>
        </p:spPr>
        <p:txBody>
          <a:bodyPr vert="horz" lIns="91440" tIns="45720" rIns="91440" bIns="45720" rtlCol="0" anchor="t">
            <a:normAutofit/>
          </a:bodyPr>
          <a:lstStyle/>
          <a:p>
            <a:pPr marL="0" indent="0">
              <a:buNone/>
            </a:pPr>
            <a:r>
              <a:rPr lang="en-US" sz="1600" b="1" i="1">
                <a:solidFill>
                  <a:schemeClr val="tx2"/>
                </a:solidFill>
                <a:ea typeface="+mn-lt"/>
                <a:cs typeface="+mn-lt"/>
              </a:rPr>
              <a:t>Why not PCA / Truncated SVD</a:t>
            </a:r>
            <a:endParaRPr lang="en-US" sz="1600" b="1">
              <a:solidFill>
                <a:schemeClr val="tx2"/>
              </a:solidFill>
              <a:ea typeface="+mn-lt"/>
              <a:cs typeface="+mn-lt"/>
            </a:endParaRPr>
          </a:p>
          <a:p>
            <a:r>
              <a:rPr lang="en-US" sz="1600">
                <a:solidFill>
                  <a:schemeClr val="tx2"/>
                </a:solidFill>
                <a:ea typeface="+mn-lt"/>
                <a:cs typeface="+mn-lt"/>
              </a:rPr>
              <a:t>PCA needs a complete matrix, so missing entries were median-imputed per feature</a:t>
            </a:r>
          </a:p>
          <a:p>
            <a:r>
              <a:rPr lang="en-US" sz="1600">
                <a:solidFill>
                  <a:schemeClr val="tx2"/>
                </a:solidFill>
                <a:ea typeface="+mn-lt"/>
                <a:cs typeface="+mn-lt"/>
              </a:rPr>
              <a:t> That gave 1,110 cell lines the exact same fake protein profile. They all looked identical, so the protein data told us nothing about them</a:t>
            </a:r>
          </a:p>
          <a:p>
            <a:r>
              <a:rPr lang="en-US" sz="1600">
                <a:solidFill>
                  <a:schemeClr val="tx2"/>
                </a:solidFill>
                <a:ea typeface="+mn-lt"/>
                <a:cs typeface="+mn-lt"/>
              </a:rPr>
              <a:t>SVD gave the same result as PCA, so it wasn't a fix</a:t>
            </a:r>
            <a:endParaRPr lang="en-US">
              <a:solidFill>
                <a:schemeClr val="tx2"/>
              </a:solidFill>
              <a:ea typeface="+mn-lt"/>
              <a:cs typeface="+mn-lt"/>
            </a:endParaRPr>
          </a:p>
          <a:p>
            <a:pPr marL="0" indent="0">
              <a:buNone/>
            </a:pPr>
            <a:endParaRPr lang="en-US" sz="1600" i="1">
              <a:solidFill>
                <a:schemeClr val="tx2"/>
              </a:solidFill>
              <a:ea typeface="+mn-lt"/>
              <a:cs typeface="+mn-lt"/>
            </a:endParaRPr>
          </a:p>
          <a:p>
            <a:pPr marL="0" indent="0">
              <a:buNone/>
            </a:pPr>
            <a:r>
              <a:rPr lang="en-US" sz="1600">
                <a:solidFill>
                  <a:schemeClr val="tx2"/>
                </a:solidFill>
                <a:ea typeface="+mn-lt"/>
                <a:cs typeface="+mn-lt"/>
              </a:rPr>
              <a:t> </a:t>
            </a:r>
            <a:endParaRPr lang="en-US">
              <a:solidFill>
                <a:schemeClr val="tx2"/>
              </a:solidFill>
            </a:endParaRPr>
          </a:p>
          <a:p>
            <a:pPr marL="285750" indent="-285750"/>
            <a:endParaRPr lang="en-US" sz="1600">
              <a:solidFill>
                <a:schemeClr val="tx2"/>
              </a:solidFill>
            </a:endParaRPr>
          </a:p>
          <a:p>
            <a:endParaRPr lang="en-US"/>
          </a:p>
          <a:p>
            <a:endParaRPr lang="en-US" sz="1800">
              <a:solidFill>
                <a:schemeClr val="tx2"/>
              </a:solidFill>
            </a:endParaRPr>
          </a:p>
        </p:txBody>
      </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Content Placeholder 2">
            <a:extLst>
              <a:ext uri="{FF2B5EF4-FFF2-40B4-BE49-F238E27FC236}">
                <a16:creationId xmlns:a16="http://schemas.microsoft.com/office/drawing/2014/main" id="{37406C6D-A371-1F05-9543-90961C1D26AA}"/>
              </a:ext>
            </a:extLst>
          </p:cNvPr>
          <p:cNvSpPr txBox="1">
            <a:spLocks/>
          </p:cNvSpPr>
          <p:nvPr/>
        </p:nvSpPr>
        <p:spPr>
          <a:xfrm>
            <a:off x="5964936" y="1195311"/>
            <a:ext cx="5716996" cy="565438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i="1">
                <a:solidFill>
                  <a:schemeClr val="tx2"/>
                </a:solidFill>
                <a:ea typeface="+mn-lt"/>
                <a:cs typeface="+mn-lt"/>
              </a:rPr>
              <a:t>MOFA+</a:t>
            </a:r>
            <a:endParaRPr lang="en-US" sz="1600" b="1">
              <a:solidFill>
                <a:schemeClr val="tx2"/>
              </a:solidFill>
            </a:endParaRPr>
          </a:p>
          <a:p>
            <a:r>
              <a:rPr lang="en-US" sz="1600">
                <a:solidFill>
                  <a:schemeClr val="tx2"/>
                </a:solidFill>
                <a:ea typeface="+mn-lt"/>
                <a:cs typeface="+mn-lt"/>
              </a:rPr>
              <a:t>Models missingness natively via variational Bayesian inference: a line's latent position is inferred only from the modalities observed for it, with no imputation</a:t>
            </a:r>
            <a:endParaRPr lang="en-US">
              <a:solidFill>
                <a:schemeClr val="tx2"/>
              </a:solidFill>
            </a:endParaRPr>
          </a:p>
          <a:p>
            <a:r>
              <a:rPr lang="en-US" sz="1600">
                <a:solidFill>
                  <a:schemeClr val="tx2"/>
                </a:solidFill>
                <a:ea typeface="+mn-lt"/>
                <a:cs typeface="+mn-lt"/>
              </a:rPr>
              <a:t>Treats each view separately, with its own noise model and scale, so narrow views are not drowned out under concatenation</a:t>
            </a:r>
            <a:endParaRPr lang="en-US">
              <a:solidFill>
                <a:schemeClr val="tx2"/>
              </a:solidFill>
            </a:endParaRPr>
          </a:p>
          <a:p>
            <a:pPr marL="285750" indent="-285750"/>
            <a:endParaRPr lang="en-US" sz="1600" b="1">
              <a:solidFill>
                <a:schemeClr val="tx2"/>
              </a:solidFill>
            </a:endParaRPr>
          </a:p>
          <a:p>
            <a:pPr marL="0" indent="0">
              <a:buNone/>
            </a:pPr>
            <a:r>
              <a:rPr lang="en-US" sz="1600" b="1" i="1">
                <a:ea typeface="+mn-lt"/>
                <a:cs typeface="+mn-lt"/>
              </a:rPr>
              <a:t>Training setup and outputs</a:t>
            </a:r>
            <a:endParaRPr lang="en-US" sz="1600" b="1"/>
          </a:p>
          <a:p>
            <a:r>
              <a:rPr lang="en-US" sz="1600">
                <a:ea typeface="+mn-lt"/>
                <a:cs typeface="+mn-lt"/>
              </a:rPr>
              <a:t>Four Z-scored views; NaN retained as structural missingness</a:t>
            </a:r>
            <a:endParaRPr lang="en-US" sz="1600"/>
          </a:p>
          <a:p>
            <a:r>
              <a:rPr lang="en-US" sz="1600">
                <a:ea typeface="+mn-lt"/>
                <a:cs typeface="+mn-lt"/>
              </a:rPr>
              <a:t>20 latent factors, spike-and-slab weights, ARD priors on factors and weights to encourage sparsity</a:t>
            </a:r>
            <a:endParaRPr lang="en-US" sz="1600"/>
          </a:p>
          <a:p>
            <a:r>
              <a:rPr lang="en-US" sz="1600">
                <a:ea typeface="+mn-lt"/>
                <a:cs typeface="+mn-lt"/>
              </a:rPr>
              <a:t>Produces Z ∈ ℝ^(1479×20) (cell-line factors) and W_RNA ∈ ℝ^(19900×20) (gene weights)</a:t>
            </a:r>
            <a:endParaRPr lang="en-US" sz="1600"/>
          </a:p>
          <a:p>
            <a:endParaRPr lang="en-US" sz="1800"/>
          </a:p>
          <a:p>
            <a:endParaRPr lang="en-US" sz="1800">
              <a:solidFill>
                <a:schemeClr val="tx2"/>
              </a:solidFill>
            </a:endParaRPr>
          </a:p>
        </p:txBody>
      </p:sp>
      <p:pic>
        <p:nvPicPr>
          <p:cNvPr id="5" name="Picture 4">
            <a:extLst>
              <a:ext uri="{FF2B5EF4-FFF2-40B4-BE49-F238E27FC236}">
                <a16:creationId xmlns:a16="http://schemas.microsoft.com/office/drawing/2014/main" id="{E4988BB6-DAB5-05CD-2C06-5BDFB5FFFF7E}"/>
              </a:ext>
            </a:extLst>
          </p:cNvPr>
          <p:cNvPicPr>
            <a:picLocks noChangeAspect="1"/>
          </p:cNvPicPr>
          <p:nvPr/>
        </p:nvPicPr>
        <p:blipFill>
          <a:blip r:embed="rId2"/>
          <a:stretch>
            <a:fillRect/>
          </a:stretch>
        </p:blipFill>
        <p:spPr>
          <a:xfrm>
            <a:off x="496259" y="3510625"/>
            <a:ext cx="3845295" cy="3144653"/>
          </a:xfrm>
          <a:prstGeom prst="rect">
            <a:avLst/>
          </a:prstGeom>
        </p:spPr>
      </p:pic>
    </p:spTree>
    <p:extLst>
      <p:ext uri="{BB962C8B-B14F-4D97-AF65-F5344CB8AC3E}">
        <p14:creationId xmlns:p14="http://schemas.microsoft.com/office/powerpoint/2010/main" val="391402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0ED46-2279-CD9F-0F89-93DE3A8425B2}"/>
              </a:ext>
            </a:extLst>
          </p:cNvPr>
          <p:cNvSpPr>
            <a:spLocks noGrp="1"/>
          </p:cNvSpPr>
          <p:nvPr>
            <p:ph type="title"/>
          </p:nvPr>
        </p:nvSpPr>
        <p:spPr>
          <a:xfrm>
            <a:off x="-2894083" y="-639322"/>
            <a:ext cx="9833548" cy="1325563"/>
          </a:xfrm>
        </p:spPr>
        <p:txBody>
          <a:bodyPr anchor="b">
            <a:normAutofit/>
          </a:bodyPr>
          <a:lstStyle/>
          <a:p>
            <a:pPr algn="ctr"/>
            <a:r>
              <a:rPr lang="en-US" sz="3600" b="1">
                <a:solidFill>
                  <a:schemeClr val="tx2"/>
                </a:solidFill>
                <a:ea typeface="+mj-lt"/>
                <a:cs typeface="+mj-lt"/>
              </a:rPr>
              <a:t>System architecture</a:t>
            </a:r>
            <a:endParaRPr lang="en-US" b="1">
              <a:solidFill>
                <a:schemeClr val="tx2"/>
              </a:solidFill>
            </a:endParaRPr>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Content Placeholder 22">
            <a:extLst>
              <a:ext uri="{FF2B5EF4-FFF2-40B4-BE49-F238E27FC236}">
                <a16:creationId xmlns:a16="http://schemas.microsoft.com/office/drawing/2014/main" id="{03990D49-F9D1-3540-9B57-8DDEDE7B8A33}"/>
              </a:ext>
            </a:extLst>
          </p:cNvPr>
          <p:cNvSpPr>
            <a:spLocks noGrp="1"/>
          </p:cNvSpPr>
          <p:nvPr>
            <p:ph idx="1"/>
          </p:nvPr>
        </p:nvSpPr>
        <p:spPr>
          <a:xfrm>
            <a:off x="76200" y="3578225"/>
            <a:ext cx="4133850" cy="2770188"/>
          </a:xfrm>
        </p:spPr>
        <p:txBody>
          <a:bodyPr vert="horz" lIns="91440" tIns="45720" rIns="91440" bIns="45720" rtlCol="0" anchor="t">
            <a:normAutofit/>
          </a:bodyPr>
          <a:lstStyle/>
          <a:p>
            <a:pPr marL="0" indent="0">
              <a:buNone/>
            </a:pPr>
            <a:r>
              <a:rPr lang="en-US" i="1">
                <a:ea typeface="+mn-lt"/>
                <a:cs typeface="+mn-lt"/>
              </a:rPr>
              <a:t>The offline part</a:t>
            </a:r>
            <a:endParaRPr lang="en-US"/>
          </a:p>
          <a:p>
            <a:r>
              <a:rPr lang="en-US" sz="2000">
                <a:ea typeface="+mn-lt"/>
                <a:cs typeface="+mn-lt"/>
              </a:rPr>
              <a:t>Files are processed one at a time and cleared from memory, so we never need to hold all 14 at once</a:t>
            </a:r>
            <a:endParaRPr lang="en-US" sz="2000"/>
          </a:p>
          <a:p>
            <a:r>
              <a:rPr lang="en-US" sz="2000">
                <a:ea typeface="+mn-lt"/>
                <a:cs typeface="+mn-lt"/>
              </a:rPr>
              <a:t>It saves everything the app needs later, so the app never touches the raw data</a:t>
            </a:r>
            <a:endParaRPr lang="en-US" sz="2000"/>
          </a:p>
          <a:p>
            <a:endParaRPr lang="en-US"/>
          </a:p>
        </p:txBody>
      </p:sp>
      <p:sp>
        <p:nvSpPr>
          <p:cNvPr id="24" name="TextBox 23">
            <a:extLst>
              <a:ext uri="{FF2B5EF4-FFF2-40B4-BE49-F238E27FC236}">
                <a16:creationId xmlns:a16="http://schemas.microsoft.com/office/drawing/2014/main" id="{6C6C3595-F732-26CD-59B5-00CD58624002}"/>
              </a:ext>
            </a:extLst>
          </p:cNvPr>
          <p:cNvSpPr txBox="1"/>
          <p:nvPr/>
        </p:nvSpPr>
        <p:spPr>
          <a:xfrm>
            <a:off x="5114925" y="3581400"/>
            <a:ext cx="5648325" cy="38472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i="1">
                <a:ea typeface="+mn-lt"/>
                <a:cs typeface="+mn-lt"/>
              </a:rPr>
              <a:t>The app</a:t>
            </a:r>
            <a:endParaRPr lang="en-US" sz="2800"/>
          </a:p>
          <a:p>
            <a:pPr marL="285750" indent="-285750">
              <a:buFont typeface="Arial"/>
              <a:buChar char="•"/>
            </a:pPr>
            <a:r>
              <a:rPr lang="en-US" sz="2000">
                <a:ea typeface="+mn-lt"/>
                <a:cs typeface="+mn-lt"/>
              </a:rPr>
              <a:t>The researcher enters target genes, and optionally genes to avoid, a disease, and filters for mutations and fusions</a:t>
            </a:r>
            <a:endParaRPr lang="en-US" sz="2000"/>
          </a:p>
          <a:p>
            <a:pPr marL="285750" indent="-285750">
              <a:buFont typeface="Arial"/>
              <a:buChar char="•"/>
            </a:pPr>
            <a:r>
              <a:rPr lang="en-US" sz="2000">
                <a:ea typeface="+mn-lt"/>
                <a:cs typeface="+mn-lt"/>
              </a:rPr>
              <a:t>Each recommended line is tagged with the group it belongs to</a:t>
            </a:r>
          </a:p>
          <a:p>
            <a:pPr marL="285750" indent="-285750">
              <a:buFont typeface="Arial"/>
              <a:buChar char="•"/>
            </a:pPr>
            <a:r>
              <a:rPr lang="en-US" sz="2000">
                <a:ea typeface="+mn-lt"/>
                <a:cs typeface="+mn-lt"/>
              </a:rPr>
              <a:t>Returns six things: the top 10 </a:t>
            </a:r>
            <a:r>
              <a:rPr lang="en-US" sz="2000" err="1">
                <a:ea typeface="+mn-lt"/>
                <a:cs typeface="+mn-lt"/>
              </a:rPr>
              <a:t>celllines</a:t>
            </a:r>
            <a:r>
              <a:rPr lang="en-US" sz="2000">
                <a:ea typeface="+mn-lt"/>
                <a:cs typeface="+mn-lt"/>
              </a:rPr>
              <a:t>, alternative </a:t>
            </a:r>
            <a:r>
              <a:rPr lang="en-US" sz="2000" err="1">
                <a:ea typeface="+mn-lt"/>
                <a:cs typeface="+mn-lt"/>
              </a:rPr>
              <a:t>celllines</a:t>
            </a:r>
            <a:r>
              <a:rPr lang="en-US" sz="2000">
                <a:ea typeface="+mn-lt"/>
                <a:cs typeface="+mn-lt"/>
              </a:rPr>
              <a:t>, mutation and fusion detail tables, a map of the cell lines, and the explanation</a:t>
            </a:r>
            <a:endParaRPr lang="en-US" sz="2000"/>
          </a:p>
          <a:p>
            <a:endParaRPr lang="en-US" i="1"/>
          </a:p>
          <a:p>
            <a:pPr algn="ctr"/>
            <a:endParaRPr lang="en-US"/>
          </a:p>
        </p:txBody>
      </p:sp>
      <p:pic>
        <p:nvPicPr>
          <p:cNvPr id="25" name="Picture 24">
            <a:extLst>
              <a:ext uri="{FF2B5EF4-FFF2-40B4-BE49-F238E27FC236}">
                <a16:creationId xmlns:a16="http://schemas.microsoft.com/office/drawing/2014/main" id="{B041DDE3-4DF8-F5EE-5173-EABABEFB6816}"/>
              </a:ext>
            </a:extLst>
          </p:cNvPr>
          <p:cNvPicPr>
            <a:picLocks noChangeAspect="1"/>
          </p:cNvPicPr>
          <p:nvPr/>
        </p:nvPicPr>
        <p:blipFill>
          <a:blip r:embed="rId2"/>
          <a:stretch>
            <a:fillRect/>
          </a:stretch>
        </p:blipFill>
        <p:spPr>
          <a:xfrm>
            <a:off x="762000" y="752475"/>
            <a:ext cx="10001250" cy="2381250"/>
          </a:xfrm>
          <a:prstGeom prst="rect">
            <a:avLst/>
          </a:prstGeom>
        </p:spPr>
      </p:pic>
    </p:spTree>
    <p:extLst>
      <p:ext uri="{BB962C8B-B14F-4D97-AF65-F5344CB8AC3E}">
        <p14:creationId xmlns:p14="http://schemas.microsoft.com/office/powerpoint/2010/main" val="1547385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1DC294E0-0670-237E-FDF2-9135C543D333}"/>
              </a:ext>
            </a:extLst>
          </p:cNvPr>
          <p:cNvSpPr>
            <a:spLocks noGrp="1"/>
          </p:cNvSpPr>
          <p:nvPr>
            <p:ph type="title"/>
          </p:nvPr>
        </p:nvSpPr>
        <p:spPr>
          <a:xfrm>
            <a:off x="-398333" y="-167523"/>
            <a:ext cx="5129821" cy="657760"/>
          </a:xfrm>
        </p:spPr>
        <p:txBody>
          <a:bodyPr anchor="b">
            <a:normAutofit/>
          </a:bodyPr>
          <a:lstStyle/>
          <a:p>
            <a:pPr algn="ctr"/>
            <a:r>
              <a:rPr lang="en-US" sz="2800" b="1">
                <a:solidFill>
                  <a:schemeClr val="tx2"/>
                </a:solidFill>
                <a:ea typeface="+mj-lt"/>
                <a:cs typeface="+mj-lt"/>
              </a:rPr>
              <a:t>How a cell line gets its score</a:t>
            </a:r>
            <a:endParaRPr lang="en-US" sz="2800" b="1"/>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Content Placeholder 3">
            <a:extLst>
              <a:ext uri="{FF2B5EF4-FFF2-40B4-BE49-F238E27FC236}">
                <a16:creationId xmlns:a16="http://schemas.microsoft.com/office/drawing/2014/main" id="{15FA56F3-62E6-FCC9-9961-865DD30E38ED}"/>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43000"/>
                    </a14:imgEffect>
                    <a14:imgEffect>
                      <a14:saturation sat="136000"/>
                    </a14:imgEffect>
                  </a14:imgLayer>
                </a14:imgProps>
              </a:ext>
            </a:extLst>
          </a:blip>
          <a:srcRect t="10919" b="9330"/>
          <a:stretch>
            <a:fillRect/>
          </a:stretch>
        </p:blipFill>
        <p:spPr>
          <a:xfrm>
            <a:off x="2071996" y="555635"/>
            <a:ext cx="8101868" cy="657760"/>
          </a:xfrm>
          <a:prstGeom prst="rect">
            <a:avLst/>
          </a:prstGeom>
        </p:spPr>
      </p:pic>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B629E9EE-5125-EECC-D490-050B6F3C7326}"/>
              </a:ext>
            </a:extLst>
          </p:cNvPr>
          <p:cNvSpPr txBox="1"/>
          <p:nvPr/>
        </p:nvSpPr>
        <p:spPr>
          <a:xfrm>
            <a:off x="3670486" y="1210473"/>
            <a:ext cx="5572125" cy="369332"/>
          </a:xfrm>
          <a:prstGeom prst="rect">
            <a:avLst/>
          </a:prstGeom>
          <a:solidFill>
            <a:schemeClr val="accent6">
              <a:lumMod val="40000"/>
              <a:lumOff val="6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ea typeface="+mn-lt"/>
                <a:cs typeface="+mn-lt"/>
              </a:rPr>
              <a:t>Score = Evidence × Similarity × Confidence</a:t>
            </a:r>
            <a:endParaRPr lang="en-US"/>
          </a:p>
        </p:txBody>
      </p:sp>
      <p:sp>
        <p:nvSpPr>
          <p:cNvPr id="9" name="TextBox 8">
            <a:extLst>
              <a:ext uri="{FF2B5EF4-FFF2-40B4-BE49-F238E27FC236}">
                <a16:creationId xmlns:a16="http://schemas.microsoft.com/office/drawing/2014/main" id="{5E7D7637-84C5-0E64-D65F-F092F69B27D4}"/>
              </a:ext>
            </a:extLst>
          </p:cNvPr>
          <p:cNvSpPr txBox="1"/>
          <p:nvPr/>
        </p:nvSpPr>
        <p:spPr>
          <a:xfrm>
            <a:off x="111936" y="1638231"/>
            <a:ext cx="3738835" cy="32932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1">
                <a:ea typeface="+mn-lt"/>
                <a:cs typeface="+mn-lt"/>
              </a:rPr>
              <a:t>Evidence (three modalities)</a:t>
            </a:r>
            <a:endParaRPr lang="en-US" sz="1600" b="1"/>
          </a:p>
          <a:p>
            <a:r>
              <a:rPr lang="en-US" sz="1600" b="1">
                <a:ea typeface="+mn-lt"/>
                <a:cs typeface="+mn-lt"/>
              </a:rPr>
              <a:t> </a:t>
            </a:r>
            <a:r>
              <a:rPr lang="en-US" sz="1600" b="1" err="1">
                <a:ea typeface="+mn-lt"/>
                <a:cs typeface="+mn-lt"/>
              </a:rPr>
              <a:t>ε_target</a:t>
            </a:r>
            <a:r>
              <a:rPr lang="en-US" sz="1600" b="1">
                <a:ea typeface="+mn-lt"/>
                <a:cs typeface="+mn-lt"/>
              </a:rPr>
              <a:t> = 1/3(</a:t>
            </a:r>
            <a:r>
              <a:rPr lang="en-US" sz="1600" b="1" err="1">
                <a:ea typeface="+mn-lt"/>
                <a:cs typeface="+mn-lt"/>
              </a:rPr>
              <a:t>ε_rna</a:t>
            </a:r>
            <a:r>
              <a:rPr lang="en-US" sz="1600" b="1">
                <a:ea typeface="+mn-lt"/>
                <a:cs typeface="+mn-lt"/>
              </a:rPr>
              <a:t> + </a:t>
            </a:r>
            <a:r>
              <a:rPr lang="en-US" sz="1600" b="1" err="1">
                <a:ea typeface="+mn-lt"/>
                <a:cs typeface="+mn-lt"/>
              </a:rPr>
              <a:t>ε_hpa</a:t>
            </a:r>
            <a:r>
              <a:rPr lang="en-US" sz="1600" b="1">
                <a:ea typeface="+mn-lt"/>
                <a:cs typeface="+mn-lt"/>
              </a:rPr>
              <a:t> + </a:t>
            </a:r>
            <a:r>
              <a:rPr lang="en-US" sz="1600" b="1" err="1">
                <a:ea typeface="+mn-lt"/>
                <a:cs typeface="+mn-lt"/>
              </a:rPr>
              <a:t>ε_prot</a:t>
            </a:r>
            <a:r>
              <a:rPr lang="en-US" sz="1600" b="1">
                <a:ea typeface="+mn-lt"/>
                <a:cs typeface="+mn-lt"/>
              </a:rPr>
              <a:t>)</a:t>
            </a:r>
          </a:p>
          <a:p>
            <a:pPr marL="285750" indent="-285750">
              <a:buFont typeface="Arial"/>
              <a:buChar char="•"/>
            </a:pPr>
            <a:endParaRPr lang="en-US" sz="1600">
              <a:ea typeface="+mn-lt"/>
              <a:cs typeface="+mn-lt"/>
            </a:endParaRPr>
          </a:p>
          <a:p>
            <a:pPr marL="285750" indent="-285750">
              <a:buFont typeface="Arial"/>
              <a:buChar char="•"/>
            </a:pPr>
            <a:r>
              <a:rPr lang="en-US" sz="1600">
                <a:ea typeface="+mn-lt"/>
                <a:cs typeface="+mn-lt"/>
              </a:rPr>
              <a:t>Each term is the mean </a:t>
            </a:r>
            <a:r>
              <a:rPr lang="en-US" sz="1600" err="1">
                <a:ea typeface="+mn-lt"/>
                <a:cs typeface="+mn-lt"/>
              </a:rPr>
              <a:t>MinMax</a:t>
            </a:r>
            <a:r>
              <a:rPr lang="en-US" sz="1600">
                <a:ea typeface="+mn-lt"/>
                <a:cs typeface="+mn-lt"/>
              </a:rPr>
              <a:t>-scaled expression over the n target genes</a:t>
            </a:r>
            <a:endParaRPr lang="en-US" sz="1600"/>
          </a:p>
          <a:p>
            <a:pPr marL="285750" indent="-285750">
              <a:buFont typeface="Arial"/>
              <a:buChar char="•"/>
            </a:pPr>
            <a:r>
              <a:rPr lang="en-US" sz="1600">
                <a:ea typeface="+mn-lt"/>
                <a:cs typeface="+mn-lt"/>
              </a:rPr>
              <a:t>A missing modality contributes 0 while the denominator stays at 3, so one modality caps a line at 1/3, two at 2/3</a:t>
            </a:r>
            <a:endParaRPr lang="en-US" sz="1600"/>
          </a:p>
          <a:p>
            <a:pPr marL="285750" indent="-285750">
              <a:buFont typeface="Arial"/>
              <a:buChar char="•"/>
            </a:pPr>
            <a:r>
              <a:rPr lang="en-US" sz="1600">
                <a:ea typeface="+mn-lt"/>
                <a:cs typeface="+mn-lt"/>
              </a:rPr>
              <a:t>Averages the gene's expression across three sources</a:t>
            </a:r>
          </a:p>
          <a:p>
            <a:pPr marL="285750" indent="-285750">
              <a:buFont typeface="Arial"/>
              <a:buChar char="•"/>
            </a:pPr>
            <a:endParaRPr lang="en-US" sz="1600"/>
          </a:p>
        </p:txBody>
      </p:sp>
      <p:sp>
        <p:nvSpPr>
          <p:cNvPr id="11" name="TextBox 10">
            <a:extLst>
              <a:ext uri="{FF2B5EF4-FFF2-40B4-BE49-F238E27FC236}">
                <a16:creationId xmlns:a16="http://schemas.microsoft.com/office/drawing/2014/main" id="{98D689B2-A6A6-9E6E-648D-228C25B4460E}"/>
              </a:ext>
            </a:extLst>
          </p:cNvPr>
          <p:cNvSpPr txBox="1"/>
          <p:nvPr/>
        </p:nvSpPr>
        <p:spPr>
          <a:xfrm>
            <a:off x="3898606" y="1629586"/>
            <a:ext cx="3797594" cy="32932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1">
                <a:ea typeface="+mn-lt"/>
                <a:cs typeface="+mn-lt"/>
              </a:rPr>
              <a:t>Similarity (MOFA factor space)</a:t>
            </a:r>
            <a:endParaRPr lang="en-US" sz="1600" b="1"/>
          </a:p>
          <a:p>
            <a:r>
              <a:rPr lang="en-US" sz="1600" b="1">
                <a:ea typeface="+mn-lt"/>
                <a:cs typeface="+mn-lt"/>
              </a:rPr>
              <a:t> sim(</a:t>
            </a:r>
            <a:r>
              <a:rPr lang="en-US" sz="1600" b="1" err="1">
                <a:ea typeface="+mn-lt"/>
                <a:cs typeface="+mn-lt"/>
              </a:rPr>
              <a:t>c,g</a:t>
            </a:r>
            <a:r>
              <a:rPr lang="en-US" sz="1600" b="1">
                <a:ea typeface="+mn-lt"/>
                <a:cs typeface="+mn-lt"/>
              </a:rPr>
              <a:t>) = (</a:t>
            </a:r>
            <a:r>
              <a:rPr lang="en-US" sz="1600" b="1" err="1">
                <a:ea typeface="+mn-lt"/>
                <a:cs typeface="+mn-lt"/>
              </a:rPr>
              <a:t>z_c</a:t>
            </a:r>
            <a:r>
              <a:rPr lang="en-US" sz="1600" b="1">
                <a:ea typeface="+mn-lt"/>
                <a:cs typeface="+mn-lt"/>
              </a:rPr>
              <a:t> · </a:t>
            </a:r>
            <a:r>
              <a:rPr lang="en-US" sz="1600" b="1" err="1">
                <a:ea typeface="+mn-lt"/>
                <a:cs typeface="+mn-lt"/>
              </a:rPr>
              <a:t>w_g</a:t>
            </a:r>
            <a:r>
              <a:rPr lang="en-US" sz="1600" b="1">
                <a:ea typeface="+mn-lt"/>
                <a:cs typeface="+mn-lt"/>
              </a:rPr>
              <a:t>) / (||</a:t>
            </a:r>
            <a:r>
              <a:rPr lang="en-US" sz="1600" b="1" err="1">
                <a:ea typeface="+mn-lt"/>
                <a:cs typeface="+mn-lt"/>
              </a:rPr>
              <a:t>z_c</a:t>
            </a:r>
            <a:r>
              <a:rPr lang="en-US" sz="1600" b="1">
                <a:ea typeface="+mn-lt"/>
                <a:cs typeface="+mn-lt"/>
              </a:rPr>
              <a:t>|| ||w||)</a:t>
            </a:r>
          </a:p>
          <a:p>
            <a:endParaRPr lang="en-US" sz="1600" b="1"/>
          </a:p>
          <a:p>
            <a:pPr marL="285750" indent="-285750">
              <a:buFont typeface="Arial"/>
              <a:buChar char="•"/>
            </a:pPr>
            <a:r>
              <a:rPr lang="en-US" sz="1600">
                <a:ea typeface="+mn-lt"/>
                <a:cs typeface="+mn-lt"/>
              </a:rPr>
              <a:t>Cosine, not Euclidean: what matters is which factors a line engages, not how strongly</a:t>
            </a:r>
            <a:endParaRPr lang="en-US" sz="1600"/>
          </a:p>
          <a:p>
            <a:pPr marL="285750" indent="-285750">
              <a:buFont typeface="Arial"/>
              <a:buChar char="•"/>
            </a:pPr>
            <a:r>
              <a:rPr lang="en-US" sz="1600">
                <a:ea typeface="+mn-lt"/>
                <a:cs typeface="+mn-lt"/>
              </a:rPr>
              <a:t>Each gene column </a:t>
            </a:r>
            <a:r>
              <a:rPr lang="en-US" sz="1600" err="1">
                <a:ea typeface="+mn-lt"/>
                <a:cs typeface="+mn-lt"/>
              </a:rPr>
              <a:t>MinMax</a:t>
            </a:r>
            <a:r>
              <a:rPr lang="en-US" sz="1600">
                <a:ea typeface="+mn-lt"/>
                <a:cs typeface="+mn-lt"/>
              </a:rPr>
              <a:t>-scaled independently, as raw cosines are not comparable across genes</a:t>
            </a:r>
            <a:endParaRPr lang="en-US" sz="1600"/>
          </a:p>
          <a:p>
            <a:pPr marL="285750" indent="-285750">
              <a:buFont typeface="Arial"/>
              <a:buChar char="•"/>
            </a:pPr>
            <a:r>
              <a:rPr lang="en-US" sz="1600">
                <a:ea typeface="+mn-lt"/>
                <a:cs typeface="+mn-lt"/>
              </a:rPr>
              <a:t>Evidence is about how much of the gene is there. Similarity is about whether the cell line looks like the kind of cell that uses it</a:t>
            </a:r>
            <a:endParaRPr lang="en-US" sz="1600"/>
          </a:p>
        </p:txBody>
      </p:sp>
      <p:sp>
        <p:nvSpPr>
          <p:cNvPr id="23" name="TextBox 22">
            <a:extLst>
              <a:ext uri="{FF2B5EF4-FFF2-40B4-BE49-F238E27FC236}">
                <a16:creationId xmlns:a16="http://schemas.microsoft.com/office/drawing/2014/main" id="{F9961FCE-8C90-09D4-450A-FF9C04A12DFC}"/>
              </a:ext>
            </a:extLst>
          </p:cNvPr>
          <p:cNvSpPr txBox="1"/>
          <p:nvPr/>
        </p:nvSpPr>
        <p:spPr>
          <a:xfrm>
            <a:off x="8345064" y="1872202"/>
            <a:ext cx="3657600"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1">
                <a:ea typeface="+mn-lt"/>
                <a:cs typeface="+mn-lt"/>
              </a:rPr>
              <a:t>Confidence (data quality)</a:t>
            </a:r>
            <a:br>
              <a:rPr lang="en-US" sz="1600" b="1" i="1">
                <a:ea typeface="+mn-lt"/>
                <a:cs typeface="+mn-lt"/>
              </a:rPr>
            </a:br>
            <a:r>
              <a:rPr lang="en-US" sz="1600" b="1" i="1">
                <a:ea typeface="+mn-lt"/>
                <a:cs typeface="+mn-lt"/>
              </a:rPr>
              <a:t> </a:t>
            </a:r>
            <a:r>
              <a:rPr lang="en-US" sz="1600" b="1" i="1" err="1">
                <a:ea typeface="+mn-lt"/>
                <a:cs typeface="+mn-lt"/>
              </a:rPr>
              <a:t>s_conf</a:t>
            </a:r>
            <a:r>
              <a:rPr lang="en-US" sz="1600" b="1" i="1">
                <a:ea typeface="+mn-lt"/>
                <a:cs typeface="+mn-lt"/>
              </a:rPr>
              <a:t> = (m + a)/2, m = </a:t>
            </a:r>
            <a:r>
              <a:rPr lang="en-US" sz="1600" b="1" i="1" err="1">
                <a:ea typeface="+mn-lt"/>
                <a:cs typeface="+mn-lt"/>
              </a:rPr>
              <a:t>n_avail</a:t>
            </a:r>
            <a:r>
              <a:rPr lang="en-US" sz="1600" b="1" i="1">
                <a:ea typeface="+mn-lt"/>
                <a:cs typeface="+mn-lt"/>
              </a:rPr>
              <a:t>/3, a = 1/(1 + Var)</a:t>
            </a:r>
            <a:endParaRPr lang="en-US" sz="1600" b="1"/>
          </a:p>
          <a:p>
            <a:pPr marL="285750" indent="-285750">
              <a:buFont typeface="Arial"/>
              <a:buChar char="•"/>
            </a:pPr>
            <a:r>
              <a:rPr lang="en-US" sz="1600">
                <a:ea typeface="+mn-lt"/>
                <a:cs typeface="+mn-lt"/>
              </a:rPr>
              <a:t>m rewards modality coverage, a rewards cross-modal agreement (variance over available values, zeros excluded)</a:t>
            </a:r>
            <a:endParaRPr lang="en-US" sz="1600"/>
          </a:p>
          <a:p>
            <a:pPr marL="285750" indent="-285750">
              <a:buFont typeface="Arial"/>
              <a:buChar char="•"/>
            </a:pPr>
            <a:r>
              <a:rPr lang="en-US" sz="1600">
                <a:ea typeface="+mn-lt"/>
                <a:cs typeface="+mn-lt"/>
              </a:rPr>
              <a:t>One modality alone gives a = 1: nothing can contradict it</a:t>
            </a:r>
            <a:endParaRPr lang="en-US" sz="1600"/>
          </a:p>
          <a:p>
            <a:pPr marL="285750" indent="-285750">
              <a:buFont typeface="Arial"/>
              <a:buChar char="•"/>
            </a:pPr>
            <a:r>
              <a:rPr lang="en-US" sz="1600" err="1">
                <a:ea typeface="+mn-lt"/>
                <a:cs typeface="+mn-lt"/>
              </a:rPr>
              <a:t>NaN</a:t>
            </a:r>
            <a:r>
              <a:rPr lang="en-US" sz="1600">
                <a:ea typeface="+mn-lt"/>
                <a:cs typeface="+mn-lt"/>
              </a:rPr>
              <a:t> is never imputed, so absence is scored rather than hidden</a:t>
            </a:r>
            <a:endParaRPr lang="en-US" sz="1600"/>
          </a:p>
          <a:p>
            <a:pPr algn="l"/>
            <a:endParaRPr lang="en-US" sz="1600"/>
          </a:p>
        </p:txBody>
      </p:sp>
      <p:pic>
        <p:nvPicPr>
          <p:cNvPr id="24" name="Picture 23">
            <a:extLst>
              <a:ext uri="{FF2B5EF4-FFF2-40B4-BE49-F238E27FC236}">
                <a16:creationId xmlns:a16="http://schemas.microsoft.com/office/drawing/2014/main" id="{69645EF4-9FA3-213A-D5B9-007F02B979BD}"/>
              </a:ext>
            </a:extLst>
          </p:cNvPr>
          <p:cNvPicPr>
            <a:picLocks noChangeAspect="1"/>
          </p:cNvPicPr>
          <p:nvPr/>
        </p:nvPicPr>
        <p:blipFill>
          <a:blip r:embed="rId4"/>
          <a:stretch>
            <a:fillRect/>
          </a:stretch>
        </p:blipFill>
        <p:spPr>
          <a:xfrm>
            <a:off x="2546536" y="5080332"/>
            <a:ext cx="6696075" cy="1628775"/>
          </a:xfrm>
          <a:prstGeom prst="rect">
            <a:avLst/>
          </a:prstGeom>
        </p:spPr>
      </p:pic>
    </p:spTree>
    <p:extLst>
      <p:ext uri="{BB962C8B-B14F-4D97-AF65-F5344CB8AC3E}">
        <p14:creationId xmlns:p14="http://schemas.microsoft.com/office/powerpoint/2010/main" val="3955071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DCDC5-89AD-8247-26E0-9FE07EC3B15B}"/>
              </a:ext>
            </a:extLst>
          </p:cNvPr>
          <p:cNvSpPr>
            <a:spLocks noGrp="1"/>
          </p:cNvSpPr>
          <p:nvPr>
            <p:ph type="title"/>
          </p:nvPr>
        </p:nvSpPr>
        <p:spPr>
          <a:xfrm>
            <a:off x="0" y="244549"/>
            <a:ext cx="4742122" cy="549613"/>
          </a:xfrm>
        </p:spPr>
        <p:txBody>
          <a:bodyPr>
            <a:normAutofit fontScale="90000"/>
          </a:bodyPr>
          <a:lstStyle/>
          <a:p>
            <a:r>
              <a:rPr lang="en-US" sz="3600" b="1">
                <a:ea typeface="+mj-lt"/>
                <a:cs typeface="+mj-lt"/>
              </a:rPr>
              <a:t>The written explanation</a:t>
            </a:r>
            <a:endParaRPr lang="en-US" sz="3600" b="1"/>
          </a:p>
        </p:txBody>
      </p:sp>
      <p:pic>
        <p:nvPicPr>
          <p:cNvPr id="4" name="Content Placeholder 3">
            <a:extLst>
              <a:ext uri="{FF2B5EF4-FFF2-40B4-BE49-F238E27FC236}">
                <a16:creationId xmlns:a16="http://schemas.microsoft.com/office/drawing/2014/main" id="{994399DE-19B3-8D2F-FC23-E060869920BE}"/>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100000"/>
                    </a14:imgEffect>
                    <a14:imgEffect>
                      <a14:saturation sat="80000"/>
                    </a14:imgEffect>
                    <a14:imgEffect>
                      <a14:brightnessContrast bright="9000" contrast="16000"/>
                    </a14:imgEffect>
                  </a14:imgLayer>
                </a14:imgProps>
              </a:ext>
            </a:extLst>
          </a:blip>
          <a:stretch>
            <a:fillRect/>
          </a:stretch>
        </p:blipFill>
        <p:spPr>
          <a:xfrm>
            <a:off x="831030" y="794162"/>
            <a:ext cx="10186076" cy="2710155"/>
          </a:xfrm>
          <a:prstGeom prst="rect">
            <a:avLst/>
          </a:prstGeom>
        </p:spPr>
      </p:pic>
      <p:sp>
        <p:nvSpPr>
          <p:cNvPr id="5" name="TextBox 4">
            <a:extLst>
              <a:ext uri="{FF2B5EF4-FFF2-40B4-BE49-F238E27FC236}">
                <a16:creationId xmlns:a16="http://schemas.microsoft.com/office/drawing/2014/main" id="{F2EAC951-9636-0589-0DDA-028285B9DAB7}"/>
              </a:ext>
            </a:extLst>
          </p:cNvPr>
          <p:cNvSpPr txBox="1"/>
          <p:nvPr/>
        </p:nvSpPr>
        <p:spPr>
          <a:xfrm>
            <a:off x="-24399" y="3380125"/>
            <a:ext cx="3729547"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i="1">
                <a:ea typeface="+mn-lt"/>
                <a:cs typeface="+mn-lt"/>
              </a:rPr>
              <a:t>Two versions that didn't work</a:t>
            </a:r>
            <a:endParaRPr lang="en-US" sz="2000" b="1"/>
          </a:p>
          <a:p>
            <a:endParaRPr lang="en-US" sz="2000" b="1" i="1">
              <a:ea typeface="+mn-lt"/>
              <a:cs typeface="+mn-lt"/>
            </a:endParaRPr>
          </a:p>
          <a:p>
            <a:pPr marL="285750" indent="-285750">
              <a:buFont typeface="Arial"/>
              <a:buChar char="•"/>
            </a:pPr>
            <a:r>
              <a:rPr lang="en-US">
                <a:ea typeface="+mn-lt"/>
                <a:cs typeface="+mn-lt"/>
              </a:rPr>
              <a:t>We gave the model the numbers and asked it to write the report. It put one cell line's score against another and compared things we never gave it</a:t>
            </a:r>
            <a:endParaRPr lang="en-US"/>
          </a:p>
          <a:p>
            <a:pPr marL="285750" indent="-285750">
              <a:buFont typeface="Arial"/>
              <a:buChar char="•"/>
            </a:pPr>
            <a:r>
              <a:rPr lang="en-US">
                <a:ea typeface="+mn-lt"/>
                <a:cs typeface="+mn-lt"/>
              </a:rPr>
              <a:t>We gave it a finished report and asked it to rewrite it. It made up numbers and moved them between paragraphs</a:t>
            </a:r>
            <a:endParaRPr lang="en-US"/>
          </a:p>
          <a:p>
            <a:pPr algn="l"/>
            <a:endParaRPr lang="en-US"/>
          </a:p>
        </p:txBody>
      </p:sp>
      <p:sp>
        <p:nvSpPr>
          <p:cNvPr id="6" name="TextBox 5">
            <a:extLst>
              <a:ext uri="{FF2B5EF4-FFF2-40B4-BE49-F238E27FC236}">
                <a16:creationId xmlns:a16="http://schemas.microsoft.com/office/drawing/2014/main" id="{AFB35D87-DC32-F334-C2BE-10E2F8F614E4}"/>
              </a:ext>
            </a:extLst>
          </p:cNvPr>
          <p:cNvSpPr txBox="1"/>
          <p:nvPr/>
        </p:nvSpPr>
        <p:spPr>
          <a:xfrm>
            <a:off x="3854021" y="3343483"/>
            <a:ext cx="3723587" cy="37548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i="1">
                <a:ea typeface="+mn-lt"/>
                <a:cs typeface="+mn-lt"/>
              </a:rPr>
              <a:t>So Python writes it first</a:t>
            </a:r>
            <a:endParaRPr lang="en-US" sz="2000" b="1"/>
          </a:p>
          <a:p>
            <a:endParaRPr lang="en-US" sz="2000" b="1" i="1">
              <a:ea typeface="+mn-lt"/>
              <a:cs typeface="+mn-lt"/>
            </a:endParaRPr>
          </a:p>
          <a:p>
            <a:pPr marL="285750" indent="-285750">
              <a:buFont typeface="Arial"/>
              <a:buChar char="•"/>
            </a:pPr>
            <a:r>
              <a:rPr lang="en-US">
                <a:ea typeface="+mn-lt"/>
                <a:cs typeface="+mn-lt"/>
              </a:rPr>
              <a:t>The whole report is assembled in code, straight from the results table. No AI involved at this stage</a:t>
            </a:r>
            <a:endParaRPr lang="en-US"/>
          </a:p>
          <a:p>
            <a:pPr marL="285750" indent="-285750">
              <a:buFont typeface="Arial"/>
              <a:buChar char="•"/>
            </a:pPr>
            <a:r>
              <a:rPr lang="en-US">
                <a:ea typeface="+mn-lt"/>
                <a:cs typeface="+mn-lt"/>
              </a:rPr>
              <a:t>For each cell line it gives the three parts and the final score, how it compares to the others, which part is holding it back, which group it belongs to, and whether low confidence means missing data or disagreeing data</a:t>
            </a:r>
            <a:endParaRPr lang="en-US"/>
          </a:p>
          <a:p>
            <a:pPr algn="l"/>
            <a:endParaRPr lang="en-US"/>
          </a:p>
        </p:txBody>
      </p:sp>
      <p:sp>
        <p:nvSpPr>
          <p:cNvPr id="7" name="TextBox 6">
            <a:extLst>
              <a:ext uri="{FF2B5EF4-FFF2-40B4-BE49-F238E27FC236}">
                <a16:creationId xmlns:a16="http://schemas.microsoft.com/office/drawing/2014/main" id="{80D05384-3CF4-0B99-AB6F-028E7AF3E313}"/>
              </a:ext>
            </a:extLst>
          </p:cNvPr>
          <p:cNvSpPr txBox="1"/>
          <p:nvPr/>
        </p:nvSpPr>
        <p:spPr>
          <a:xfrm>
            <a:off x="7875354" y="2466320"/>
            <a:ext cx="430662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a:p>
            <a:endParaRPr lang="en-US"/>
          </a:p>
          <a:p>
            <a:endParaRPr lang="en-US"/>
          </a:p>
          <a:p>
            <a:endParaRPr lang="en-US"/>
          </a:p>
          <a:p>
            <a:endParaRPr lang="en-US"/>
          </a:p>
          <a:p>
            <a:endParaRPr lang="en-US"/>
          </a:p>
        </p:txBody>
      </p:sp>
      <p:sp>
        <p:nvSpPr>
          <p:cNvPr id="3" name="TextBox 2">
            <a:extLst>
              <a:ext uri="{FF2B5EF4-FFF2-40B4-BE49-F238E27FC236}">
                <a16:creationId xmlns:a16="http://schemas.microsoft.com/office/drawing/2014/main" id="{4B04775D-9C41-BB5D-52D5-AF9E47B62AD5}"/>
              </a:ext>
            </a:extLst>
          </p:cNvPr>
          <p:cNvSpPr txBox="1"/>
          <p:nvPr/>
        </p:nvSpPr>
        <p:spPr>
          <a:xfrm>
            <a:off x="7875354" y="3283649"/>
            <a:ext cx="4146697"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1">
                <a:ea typeface="+mn-lt"/>
                <a:cs typeface="+mn-lt"/>
              </a:rPr>
              <a:t>Then the AI just rewords it</a:t>
            </a:r>
            <a:endParaRPr lang="en-US" sz="1600" b="1"/>
          </a:p>
          <a:p>
            <a:endParaRPr lang="en-US" sz="1600" b="1" i="1">
              <a:ea typeface="+mn-lt"/>
              <a:cs typeface="+mn-lt"/>
            </a:endParaRPr>
          </a:p>
          <a:p>
            <a:pPr marL="285750" indent="-285750">
              <a:buFont typeface="Arial"/>
              <a:buChar char="•"/>
            </a:pPr>
            <a:r>
              <a:rPr lang="en-US" sz="1600">
                <a:ea typeface="+mn-lt"/>
                <a:cs typeface="+mn-lt"/>
              </a:rPr>
              <a:t>Sent one paragraph at a time, so if something goes wrong it only affects that paragraph</a:t>
            </a:r>
            <a:endParaRPr lang="en-US" sz="1600"/>
          </a:p>
          <a:p>
            <a:pPr marL="285750" indent="-285750">
              <a:buFont typeface="Arial"/>
              <a:buChar char="•"/>
            </a:pPr>
            <a:r>
              <a:rPr lang="en-US" sz="1600">
                <a:ea typeface="+mn-lt"/>
                <a:cs typeface="+mn-lt"/>
              </a:rPr>
              <a:t>Each paragraph is checked three ways: are all the numbers still there, in the same order, and still attached to the right label</a:t>
            </a:r>
            <a:endParaRPr lang="en-US" sz="1600"/>
          </a:p>
          <a:p>
            <a:pPr marL="285750" indent="-285750">
              <a:buFont typeface="Arial"/>
              <a:buChar char="•"/>
            </a:pPr>
            <a:r>
              <a:rPr lang="en-US" sz="1600">
                <a:ea typeface="+mn-lt"/>
                <a:cs typeface="+mn-lt"/>
              </a:rPr>
              <a:t>That last check exists because one rewrite kept every number but called a final score a similarity score</a:t>
            </a:r>
            <a:endParaRPr lang="en-US" sz="1600"/>
          </a:p>
          <a:p>
            <a:pPr marL="285750" indent="-285750">
              <a:buFont typeface="Arial"/>
              <a:buChar char="•"/>
            </a:pPr>
            <a:r>
              <a:rPr lang="en-US" sz="1600">
                <a:ea typeface="+mn-lt"/>
                <a:cs typeface="+mn-lt"/>
              </a:rPr>
              <a:t>If a paragraph fails twice, we keep the plain Python version. Worst case the writing is a bit stiff, never wrong</a:t>
            </a:r>
            <a:endParaRPr lang="en-US" sz="1600"/>
          </a:p>
          <a:p>
            <a:pPr algn="l"/>
            <a:endParaRPr lang="en-US" sz="1600"/>
          </a:p>
        </p:txBody>
      </p:sp>
    </p:spTree>
    <p:extLst>
      <p:ext uri="{BB962C8B-B14F-4D97-AF65-F5344CB8AC3E}">
        <p14:creationId xmlns:p14="http://schemas.microsoft.com/office/powerpoint/2010/main" val="2089399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5D4CA38D-B3C4-E5F6-446C-EF82531C55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7E0A5FF-60A5-08AE-B9C1-64D57E78CB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6" name="Title 1">
            <a:extLst>
              <a:ext uri="{FF2B5EF4-FFF2-40B4-BE49-F238E27FC236}">
                <a16:creationId xmlns:a16="http://schemas.microsoft.com/office/drawing/2014/main" id="{D8F41171-A23E-51A8-3E38-5B4D584330AF}"/>
              </a:ext>
            </a:extLst>
          </p:cNvPr>
          <p:cNvSpPr>
            <a:spLocks noGrp="1"/>
          </p:cNvSpPr>
          <p:nvPr>
            <p:ph type="title"/>
          </p:nvPr>
        </p:nvSpPr>
        <p:spPr>
          <a:xfrm>
            <a:off x="3219845" y="910"/>
            <a:ext cx="5614390" cy="1191092"/>
          </a:xfrm>
        </p:spPr>
        <p:txBody>
          <a:bodyPr anchor="b">
            <a:normAutofit/>
          </a:bodyPr>
          <a:lstStyle/>
          <a:p>
            <a:r>
              <a:rPr lang="en-US" sz="3000" b="1">
                <a:latin typeface="Cambria"/>
                <a:ea typeface="Cambria"/>
              </a:rPr>
              <a:t>Exclusion Gene Penalties</a:t>
            </a:r>
            <a:endParaRPr lang="en-US"/>
          </a:p>
          <a:p>
            <a:pPr algn="ctr"/>
            <a:endParaRPr lang="en-US" sz="3600">
              <a:solidFill>
                <a:schemeClr val="tx2"/>
              </a:solidFill>
            </a:endParaRPr>
          </a:p>
        </p:txBody>
      </p:sp>
      <p:grpSp>
        <p:nvGrpSpPr>
          <p:cNvPr id="7" name="Group 6">
            <a:extLst>
              <a:ext uri="{FF2B5EF4-FFF2-40B4-BE49-F238E27FC236}">
                <a16:creationId xmlns:a16="http://schemas.microsoft.com/office/drawing/2014/main" id="{BD151817-E236-9FF9-F4A3-BFEF9560A2B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8" name="Freeform: Shape 7">
              <a:extLst>
                <a:ext uri="{FF2B5EF4-FFF2-40B4-BE49-F238E27FC236}">
                  <a16:creationId xmlns:a16="http://schemas.microsoft.com/office/drawing/2014/main" id="{3E461A8E-FB71-1D11-8A90-0C10CE086C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97081A6E-838A-FAD8-8ACE-4CC55E1F9E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1EAFD40-F925-35D2-5109-F34165ED0C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DC29079-C8B7-D699-02F9-20B1BEF036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Content Placeholder 2">
            <a:extLst>
              <a:ext uri="{FF2B5EF4-FFF2-40B4-BE49-F238E27FC236}">
                <a16:creationId xmlns:a16="http://schemas.microsoft.com/office/drawing/2014/main" id="{51E08109-627E-AE2A-9721-54C01274A73F}"/>
              </a:ext>
            </a:extLst>
          </p:cNvPr>
          <p:cNvSpPr>
            <a:spLocks noGrp="1"/>
          </p:cNvSpPr>
          <p:nvPr>
            <p:ph idx="1"/>
          </p:nvPr>
        </p:nvSpPr>
        <p:spPr>
          <a:xfrm>
            <a:off x="563764" y="873633"/>
            <a:ext cx="9833548" cy="534976"/>
          </a:xfrm>
        </p:spPr>
        <p:txBody>
          <a:bodyPr vert="horz" lIns="91440" tIns="45720" rIns="91440" bIns="45720" rtlCol="0" anchor="t">
            <a:normAutofit/>
          </a:bodyPr>
          <a:lstStyle/>
          <a:p>
            <a:r>
              <a:rPr lang="en-US" sz="1500">
                <a:latin typeface="Calibri"/>
                <a:ea typeface="Calibri"/>
                <a:cs typeface="Calibri"/>
              </a:rPr>
              <a:t>Extending the base formula with exponential decay penalties on both evidence and similarity</a:t>
            </a:r>
            <a:endParaRPr lang="en-US" sz="1800"/>
          </a:p>
          <a:p>
            <a:endParaRPr lang="en-US" sz="1800">
              <a:solidFill>
                <a:schemeClr val="tx2"/>
              </a:solidFill>
            </a:endParaRPr>
          </a:p>
        </p:txBody>
      </p:sp>
      <p:grpSp>
        <p:nvGrpSpPr>
          <p:cNvPr id="13" name="Group 12">
            <a:extLst>
              <a:ext uri="{FF2B5EF4-FFF2-40B4-BE49-F238E27FC236}">
                <a16:creationId xmlns:a16="http://schemas.microsoft.com/office/drawing/2014/main" id="{7650E18A-5A6F-5CB0-0C56-B6A8CB0061F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4" name="Freeform: Shape 13">
              <a:extLst>
                <a:ext uri="{FF2B5EF4-FFF2-40B4-BE49-F238E27FC236}">
                  <a16:creationId xmlns:a16="http://schemas.microsoft.com/office/drawing/2014/main" id="{E201210A-B500-6B6C-5A21-A3E848655A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BDFB2FF0-7810-075A-993C-0FA99D9D7B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CC09C73-B43C-3355-1A32-A133E9C728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62096D11-AA52-3AFD-49EB-BF4AF3C360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IntroBg">
            <a:extLst>
              <a:ext uri="{FF2B5EF4-FFF2-40B4-BE49-F238E27FC236}">
                <a16:creationId xmlns:a16="http://schemas.microsoft.com/office/drawing/2014/main" id="{482E1ED5-13D1-1248-A157-2759B919A286}"/>
              </a:ext>
            </a:extLst>
          </p:cNvPr>
          <p:cNvSpPr/>
          <p:nvPr/>
        </p:nvSpPr>
        <p:spPr>
          <a:xfrm>
            <a:off x="256032" y="1181100"/>
            <a:ext cx="11676888" cy="347472"/>
          </a:xfrm>
          <a:prstGeom prst="rect">
            <a:avLst/>
          </a:prstGeom>
          <a:solidFill>
            <a:srgbClr val="0E2841"/>
          </a:solidFill>
          <a:ln>
            <a:noFill/>
          </a:ln>
        </p:spPr>
        <p:txBody>
          <a:bodyPr wrap="square" rtlCol="0" anchor="ctr"/>
          <a:lstStyle/>
          <a:p>
            <a:pPr>
              <a:buNone/>
            </a:pPr>
            <a:r>
              <a:rPr lang="en-GB" sz="960" b="0">
                <a:solidFill>
                  <a:srgbClr val="FFFFFF"/>
                </a:solidFill>
              </a:rPr>
              <a:t>When exclusion genes are specified, both scores are multiplied by an exponential decay term - penalising cell lines that express or resemble those genes</a:t>
            </a:r>
          </a:p>
        </p:txBody>
      </p:sp>
      <p:sp>
        <p:nvSpPr>
          <p:cNvPr id="19" name="EH">
            <a:extLst>
              <a:ext uri="{FF2B5EF4-FFF2-40B4-BE49-F238E27FC236}">
                <a16:creationId xmlns:a16="http://schemas.microsoft.com/office/drawing/2014/main" id="{F2AD500C-DA69-5562-F3F4-1A7E9BB8EFCA}"/>
              </a:ext>
            </a:extLst>
          </p:cNvPr>
          <p:cNvSpPr/>
          <p:nvPr/>
        </p:nvSpPr>
        <p:spPr>
          <a:xfrm>
            <a:off x="256032" y="1601724"/>
            <a:ext cx="5961888" cy="310896"/>
          </a:xfrm>
          <a:prstGeom prst="rect">
            <a:avLst/>
          </a:prstGeom>
          <a:solidFill>
            <a:srgbClr val="156082"/>
          </a:solidFill>
          <a:ln>
            <a:noFill/>
          </a:ln>
        </p:spPr>
        <p:txBody>
          <a:bodyPr wrap="square" rtlCol="0" anchor="ctr"/>
          <a:lstStyle/>
          <a:p>
            <a:pPr>
              <a:buNone/>
            </a:pPr>
            <a:r>
              <a:rPr lang="en-GB" sz="1000" b="1">
                <a:solidFill>
                  <a:srgbClr val="FFFFFF"/>
                </a:solidFill>
              </a:rPr>
              <a:t>Evidence Penalty   (λ = 1.5)</a:t>
            </a:r>
          </a:p>
        </p:txBody>
      </p:sp>
      <p:sp>
        <p:nvSpPr>
          <p:cNvPr id="20" name="EFBg">
            <a:extLst>
              <a:ext uri="{FF2B5EF4-FFF2-40B4-BE49-F238E27FC236}">
                <a16:creationId xmlns:a16="http://schemas.microsoft.com/office/drawing/2014/main" id="{22CC4001-73A5-F430-324C-FFE0833B2633}"/>
              </a:ext>
            </a:extLst>
          </p:cNvPr>
          <p:cNvSpPr/>
          <p:nvPr/>
        </p:nvSpPr>
        <p:spPr>
          <a:xfrm>
            <a:off x="256032" y="1940052"/>
            <a:ext cx="5961888" cy="347470"/>
          </a:xfrm>
          <a:prstGeom prst="rect">
            <a:avLst/>
          </a:prstGeom>
          <a:solidFill>
            <a:srgbClr val="E8F2F8"/>
          </a:solidFill>
          <a:ln>
            <a:noFill/>
          </a:ln>
        </p:spPr>
        <p:txBody>
          <a:bodyPr/>
          <a:lstStyle/>
          <a:p>
            <a:endParaRPr/>
          </a:p>
        </p:txBody>
      </p:sp>
      <p:sp>
        <p:nvSpPr>
          <p:cNvPr id="21" name="EF">
            <a:extLst>
              <a:ext uri="{FF2B5EF4-FFF2-40B4-BE49-F238E27FC236}">
                <a16:creationId xmlns:a16="http://schemas.microsoft.com/office/drawing/2014/main" id="{BD85CD38-D942-F473-38B4-89898E9044C2}"/>
              </a:ext>
            </a:extLst>
          </p:cNvPr>
          <p:cNvSpPr txBox="1"/>
          <p:nvPr/>
        </p:nvSpPr>
        <p:spPr>
          <a:xfrm>
            <a:off x="347472" y="1967484"/>
            <a:ext cx="5815583" cy="320038"/>
          </a:xfrm>
          <a:prstGeom prst="rect">
            <a:avLst/>
          </a:prstGeom>
          <a:noFill/>
          <a:ln>
            <a:noFill/>
          </a:ln>
        </p:spPr>
        <p:txBody>
          <a:bodyPr wrap="square" rtlCol="0" anchor="t"/>
          <a:lstStyle/>
          <a:p>
            <a:pPr>
              <a:spcAft>
                <a:spcPts val="50"/>
              </a:spcAft>
              <a:buNone/>
            </a:pPr>
            <a:r>
              <a:rPr lang="en-GB" sz="930" b="1">
                <a:solidFill>
                  <a:srgbClr val="156082"/>
                </a:solidFill>
              </a:rPr>
              <a:t>S*</a:t>
            </a:r>
            <a:r>
              <a:rPr lang="en-GB" sz="930" b="0">
                <a:solidFill>
                  <a:srgbClr val="555555"/>
                </a:solidFill>
              </a:rPr>
              <a:t>evid</a:t>
            </a:r>
            <a:r>
              <a:rPr lang="en-GB" sz="940" b="0">
                <a:solidFill>
                  <a:srgbClr val="333333"/>
                </a:solidFill>
              </a:rPr>
              <a:t>  =  S</a:t>
            </a:r>
            <a:r>
              <a:rPr lang="en-GB" sz="930" b="0">
                <a:solidFill>
                  <a:srgbClr val="666666"/>
                </a:solidFill>
              </a:rPr>
              <a:t>evid</a:t>
            </a:r>
            <a:r>
              <a:rPr lang="en-GB" sz="930" b="0">
                <a:solidFill>
                  <a:srgbClr val="333333"/>
                </a:solidFill>
              </a:rPr>
              <a:t>  ×  exp(−1.5 × r</a:t>
            </a:r>
            <a:r>
              <a:rPr lang="en-GB" sz="930" b="0">
                <a:solidFill>
                  <a:srgbClr val="666666"/>
                </a:solidFill>
              </a:rPr>
              <a:t>e</a:t>
            </a:r>
            <a:r>
              <a:rPr lang="en-GB" sz="930" b="0">
                <a:solidFill>
                  <a:srgbClr val="333333"/>
                </a:solidFill>
              </a:rPr>
              <a:t>)   where r</a:t>
            </a:r>
            <a:r>
              <a:rPr lang="en-GB" sz="930" b="0">
                <a:solidFill>
                  <a:srgbClr val="666666"/>
                </a:solidFill>
              </a:rPr>
              <a:t>e</a:t>
            </a:r>
            <a:r>
              <a:rPr lang="en-GB" sz="930" b="0">
                <a:solidFill>
                  <a:srgbClr val="333333"/>
                </a:solidFill>
              </a:rPr>
              <a:t> = percentile rank of exclusion-gene expression</a:t>
            </a:r>
          </a:p>
        </p:txBody>
      </p:sp>
      <p:sp>
        <p:nvSpPr>
          <p:cNvPr id="22" name="EBul">
            <a:extLst>
              <a:ext uri="{FF2B5EF4-FFF2-40B4-BE49-F238E27FC236}">
                <a16:creationId xmlns:a16="http://schemas.microsoft.com/office/drawing/2014/main" id="{A7732CBB-2990-CF8F-C61B-7E31FE800D7F}"/>
              </a:ext>
            </a:extLst>
          </p:cNvPr>
          <p:cNvSpPr txBox="1"/>
          <p:nvPr/>
        </p:nvSpPr>
        <p:spPr>
          <a:xfrm>
            <a:off x="338328" y="2369819"/>
            <a:ext cx="5852159" cy="758956"/>
          </a:xfrm>
          <a:prstGeom prst="rect">
            <a:avLst/>
          </a:prstGeom>
          <a:noFill/>
          <a:ln>
            <a:noFill/>
          </a:ln>
        </p:spPr>
        <p:txBody>
          <a:bodyPr wrap="square" lIns="91440" tIns="45720" rIns="91440" bIns="45720" rtlCol="0" anchor="t"/>
          <a:lstStyle/>
          <a:p>
            <a:pPr>
              <a:spcAft>
                <a:spcPts val="42"/>
              </a:spcAft>
              <a:buChar char="•"/>
            </a:pPr>
            <a:r>
              <a:rPr lang="en-GB" sz="950" b="1"/>
              <a:t>Percentile rank r</a:t>
            </a:r>
            <a:r>
              <a:rPr lang="en-GB" sz="950" b="0"/>
              <a:t>e used instead of raw score</a:t>
            </a:r>
            <a:r>
              <a:rPr lang="en-GB" sz="950"/>
              <a:t> -</a:t>
            </a:r>
            <a:r>
              <a:rPr lang="en-GB" sz="950" b="0"/>
              <a:t> ensures fair comparison across genes with different expression distributions</a:t>
            </a:r>
          </a:p>
          <a:p>
            <a:pPr>
              <a:spcAft>
                <a:spcPts val="42"/>
              </a:spcAft>
              <a:buChar char="•"/>
            </a:pPr>
            <a:r>
              <a:rPr lang="en-GB" sz="950" b="0"/>
              <a:t>At re=0 (no exclusion signal): multiplier = 1.0 (no penalty)</a:t>
            </a:r>
          </a:p>
          <a:p>
            <a:pPr>
              <a:spcAft>
                <a:spcPts val="42"/>
              </a:spcAft>
              <a:buChar char="•"/>
            </a:pPr>
            <a:r>
              <a:rPr lang="en-GB" sz="950" b="0"/>
              <a:t>At re=0.5 (median): multiplier = exp(−0.75) ≈ 0.47</a:t>
            </a:r>
          </a:p>
        </p:txBody>
      </p:sp>
      <p:sp>
        <p:nvSpPr>
          <p:cNvPr id="23" name="EGBg">
            <a:extLst>
              <a:ext uri="{FF2B5EF4-FFF2-40B4-BE49-F238E27FC236}">
                <a16:creationId xmlns:a16="http://schemas.microsoft.com/office/drawing/2014/main" id="{056E6369-5466-1B22-D6B0-49D6F969EA84}"/>
              </a:ext>
            </a:extLst>
          </p:cNvPr>
          <p:cNvSpPr/>
          <p:nvPr/>
        </p:nvSpPr>
        <p:spPr>
          <a:xfrm>
            <a:off x="256032" y="3694176"/>
            <a:ext cx="5961888" cy="2359152"/>
          </a:xfrm>
          <a:prstGeom prst="rect">
            <a:avLst/>
          </a:prstGeom>
          <a:solidFill>
            <a:srgbClr val="F8FBFD"/>
          </a:solidFill>
          <a:ln>
            <a:noFill/>
          </a:ln>
        </p:spPr>
        <p:txBody>
          <a:bodyPr/>
          <a:lstStyle/>
          <a:p>
            <a:endParaRPr/>
          </a:p>
        </p:txBody>
      </p:sp>
      <p:pic>
        <p:nvPicPr>
          <p:cNvPr id="24" name="EGraph">
            <a:extLst>
              <a:ext uri="{FF2B5EF4-FFF2-40B4-BE49-F238E27FC236}">
                <a16:creationId xmlns:a16="http://schemas.microsoft.com/office/drawing/2014/main" id="{1323E595-72B6-A696-0BA6-3E5F46ECE3FE}"/>
              </a:ext>
            </a:extLst>
          </p:cNvPr>
          <p:cNvPicPr>
            <a:picLocks noChangeAspect="1"/>
          </p:cNvPicPr>
          <p:nvPr/>
        </p:nvPicPr>
        <p:blipFill>
          <a:blip r:embed="rId2"/>
          <a:stretch>
            <a:fillRect/>
          </a:stretch>
        </p:blipFill>
        <p:spPr>
          <a:xfrm>
            <a:off x="340389" y="3129672"/>
            <a:ext cx="5815583" cy="3170540"/>
          </a:xfrm>
          <a:prstGeom prst="rect">
            <a:avLst/>
          </a:prstGeom>
        </p:spPr>
      </p:pic>
      <p:sp>
        <p:nvSpPr>
          <p:cNvPr id="25" name="SH">
            <a:extLst>
              <a:ext uri="{FF2B5EF4-FFF2-40B4-BE49-F238E27FC236}">
                <a16:creationId xmlns:a16="http://schemas.microsoft.com/office/drawing/2014/main" id="{E2320C48-E531-170B-059E-AA0A91EF7FC4}"/>
              </a:ext>
            </a:extLst>
          </p:cNvPr>
          <p:cNvSpPr/>
          <p:nvPr/>
        </p:nvSpPr>
        <p:spPr>
          <a:xfrm>
            <a:off x="6419088" y="1601724"/>
            <a:ext cx="5513832" cy="310896"/>
          </a:xfrm>
          <a:prstGeom prst="rect">
            <a:avLst/>
          </a:prstGeom>
          <a:solidFill>
            <a:schemeClr val="accent1"/>
          </a:solidFill>
          <a:ln>
            <a:solidFill>
              <a:schemeClr val="accent1"/>
            </a:solidFill>
          </a:ln>
        </p:spPr>
        <p:txBody>
          <a:bodyPr wrap="square" rtlCol="0" anchor="ctr"/>
          <a:lstStyle/>
          <a:p>
            <a:pPr>
              <a:buNone/>
            </a:pPr>
            <a:r>
              <a:rPr lang="en-GB" sz="1000" b="1">
                <a:solidFill>
                  <a:srgbClr val="FFFFFF"/>
                </a:solidFill>
              </a:rPr>
              <a:t>Similarity Penalty   (λ = 1.2)</a:t>
            </a:r>
          </a:p>
        </p:txBody>
      </p:sp>
      <p:sp>
        <p:nvSpPr>
          <p:cNvPr id="26" name="SFBg">
            <a:extLst>
              <a:ext uri="{FF2B5EF4-FFF2-40B4-BE49-F238E27FC236}">
                <a16:creationId xmlns:a16="http://schemas.microsoft.com/office/drawing/2014/main" id="{C09C8598-C7C3-6EBA-B2FA-689CD67E4F88}"/>
              </a:ext>
            </a:extLst>
          </p:cNvPr>
          <p:cNvSpPr/>
          <p:nvPr/>
        </p:nvSpPr>
        <p:spPr>
          <a:xfrm>
            <a:off x="6419088" y="1940052"/>
            <a:ext cx="5513832" cy="347470"/>
          </a:xfrm>
          <a:prstGeom prst="rect">
            <a:avLst/>
          </a:prstGeom>
          <a:solidFill>
            <a:srgbClr val="E8F2F8"/>
          </a:solidFill>
          <a:ln>
            <a:noFill/>
          </a:ln>
        </p:spPr>
        <p:txBody>
          <a:bodyPr/>
          <a:lstStyle/>
          <a:p>
            <a:endParaRPr/>
          </a:p>
        </p:txBody>
      </p:sp>
      <p:sp>
        <p:nvSpPr>
          <p:cNvPr id="27" name="SF">
            <a:extLst>
              <a:ext uri="{FF2B5EF4-FFF2-40B4-BE49-F238E27FC236}">
                <a16:creationId xmlns:a16="http://schemas.microsoft.com/office/drawing/2014/main" id="{B9787A6F-6D7A-A5CD-E808-ED793B7C3DD7}"/>
              </a:ext>
            </a:extLst>
          </p:cNvPr>
          <p:cNvSpPr txBox="1"/>
          <p:nvPr/>
        </p:nvSpPr>
        <p:spPr>
          <a:xfrm>
            <a:off x="6510527" y="1967484"/>
            <a:ext cx="5367528" cy="270120"/>
          </a:xfrm>
          <a:prstGeom prst="rect">
            <a:avLst/>
          </a:prstGeom>
          <a:noFill/>
          <a:ln>
            <a:noFill/>
          </a:ln>
        </p:spPr>
        <p:txBody>
          <a:bodyPr wrap="square" rtlCol="0" anchor="t"/>
          <a:lstStyle/>
          <a:p>
            <a:pPr>
              <a:spcAft>
                <a:spcPts val="50"/>
              </a:spcAft>
              <a:buNone/>
            </a:pPr>
            <a:r>
              <a:rPr lang="en-GB" sz="930" b="1">
                <a:solidFill>
                  <a:srgbClr val="0E2841"/>
                </a:solidFill>
              </a:rPr>
              <a:t>S*</a:t>
            </a:r>
            <a:r>
              <a:rPr lang="en-GB" sz="930" b="0">
                <a:solidFill>
                  <a:srgbClr val="666666"/>
                </a:solidFill>
              </a:rPr>
              <a:t>sim</a:t>
            </a:r>
            <a:r>
              <a:rPr lang="en-GB" sz="940" b="0">
                <a:solidFill>
                  <a:srgbClr val="333333"/>
                </a:solidFill>
              </a:rPr>
              <a:t>  =  S</a:t>
            </a:r>
            <a:r>
              <a:rPr lang="en-GB" sz="930" b="0">
                <a:solidFill>
                  <a:srgbClr val="666666"/>
                </a:solidFill>
              </a:rPr>
              <a:t>sim</a:t>
            </a:r>
            <a:r>
              <a:rPr lang="en-GB" sz="930" b="0">
                <a:solidFill>
                  <a:srgbClr val="333333"/>
                </a:solidFill>
              </a:rPr>
              <a:t>  ×  exp(−1.2 × r</a:t>
            </a:r>
            <a:r>
              <a:rPr lang="en-GB" sz="930" b="0">
                <a:solidFill>
                  <a:srgbClr val="666666"/>
                </a:solidFill>
              </a:rPr>
              <a:t>s</a:t>
            </a:r>
            <a:r>
              <a:rPr lang="en-GB" sz="930" b="0">
                <a:solidFill>
                  <a:srgbClr val="333333"/>
                </a:solidFill>
              </a:rPr>
              <a:t>)   where r</a:t>
            </a:r>
            <a:r>
              <a:rPr lang="en-GB" sz="930" b="0">
                <a:solidFill>
                  <a:srgbClr val="666666"/>
                </a:solidFill>
              </a:rPr>
              <a:t>s</a:t>
            </a:r>
            <a:r>
              <a:rPr lang="en-GB" sz="930" b="0">
                <a:solidFill>
                  <a:srgbClr val="333333"/>
                </a:solidFill>
              </a:rPr>
              <a:t> = percentile rank of exclusion-gene similarity</a:t>
            </a:r>
          </a:p>
        </p:txBody>
      </p:sp>
      <p:sp>
        <p:nvSpPr>
          <p:cNvPr id="28" name="SBul">
            <a:extLst>
              <a:ext uri="{FF2B5EF4-FFF2-40B4-BE49-F238E27FC236}">
                <a16:creationId xmlns:a16="http://schemas.microsoft.com/office/drawing/2014/main" id="{037E0CC5-0314-138B-A018-5235962A452A}"/>
              </a:ext>
            </a:extLst>
          </p:cNvPr>
          <p:cNvSpPr txBox="1"/>
          <p:nvPr/>
        </p:nvSpPr>
        <p:spPr>
          <a:xfrm>
            <a:off x="6501383" y="2369819"/>
            <a:ext cx="5404104" cy="758956"/>
          </a:xfrm>
          <a:prstGeom prst="rect">
            <a:avLst/>
          </a:prstGeom>
          <a:noFill/>
          <a:ln>
            <a:noFill/>
          </a:ln>
        </p:spPr>
        <p:txBody>
          <a:bodyPr wrap="square" lIns="91440" tIns="45720" rIns="91440" bIns="45720" rtlCol="0" anchor="t"/>
          <a:lstStyle/>
          <a:p>
            <a:pPr>
              <a:spcAft>
                <a:spcPts val="42"/>
              </a:spcAft>
              <a:buChar char="•"/>
            </a:pPr>
            <a:r>
              <a:rPr lang="en-GB" sz="950" b="0"/>
              <a:t>Cosine similarity to the exclusion profile used as input - directly measures how much the MOFA factor space resembles an excluded cell type</a:t>
            </a:r>
          </a:p>
          <a:p>
            <a:pPr>
              <a:spcAft>
                <a:spcPts val="42"/>
              </a:spcAft>
              <a:buChar char="•"/>
            </a:pPr>
            <a:r>
              <a:rPr lang="en-GB" sz="950" b="0"/>
              <a:t>λ = 1.2 (softer than evidence)</a:t>
            </a:r>
            <a:r>
              <a:rPr lang="en-GB" sz="950"/>
              <a:t> -</a:t>
            </a:r>
            <a:r>
              <a:rPr lang="en-GB" sz="950" b="0"/>
              <a:t> similarity space is denser, so a gentler slope avoids over-penalising related-but-valid lines</a:t>
            </a:r>
          </a:p>
          <a:p>
            <a:pPr>
              <a:spcAft>
                <a:spcPts val="42"/>
              </a:spcAft>
              <a:buChar char="•"/>
            </a:pPr>
            <a:r>
              <a:rPr lang="en-GB" sz="950" b="0"/>
              <a:t>If no exclusion gene is given: penalty term = 1.0 → score unchanged</a:t>
            </a:r>
          </a:p>
        </p:txBody>
      </p:sp>
      <p:sp>
        <p:nvSpPr>
          <p:cNvPr id="29" name="SGBg">
            <a:extLst>
              <a:ext uri="{FF2B5EF4-FFF2-40B4-BE49-F238E27FC236}">
                <a16:creationId xmlns:a16="http://schemas.microsoft.com/office/drawing/2014/main" id="{49B77E37-6889-7715-856B-985F2E294395}"/>
              </a:ext>
            </a:extLst>
          </p:cNvPr>
          <p:cNvSpPr/>
          <p:nvPr/>
        </p:nvSpPr>
        <p:spPr>
          <a:xfrm>
            <a:off x="6419088" y="3694176"/>
            <a:ext cx="5513832" cy="2359152"/>
          </a:xfrm>
          <a:prstGeom prst="rect">
            <a:avLst/>
          </a:prstGeom>
          <a:solidFill>
            <a:srgbClr val="F8FBFD"/>
          </a:solidFill>
          <a:ln>
            <a:noFill/>
          </a:ln>
        </p:spPr>
        <p:txBody>
          <a:bodyPr/>
          <a:lstStyle/>
          <a:p>
            <a:endParaRPr/>
          </a:p>
        </p:txBody>
      </p:sp>
      <p:pic>
        <p:nvPicPr>
          <p:cNvPr id="30" name="SGraph">
            <a:extLst>
              <a:ext uri="{FF2B5EF4-FFF2-40B4-BE49-F238E27FC236}">
                <a16:creationId xmlns:a16="http://schemas.microsoft.com/office/drawing/2014/main" id="{3620FDD0-E3A3-3BD9-EFE3-538EC595A900}"/>
              </a:ext>
            </a:extLst>
          </p:cNvPr>
          <p:cNvPicPr>
            <a:picLocks noChangeAspect="1"/>
          </p:cNvPicPr>
          <p:nvPr/>
        </p:nvPicPr>
        <p:blipFill>
          <a:blip r:embed="rId3"/>
          <a:stretch>
            <a:fillRect/>
          </a:stretch>
        </p:blipFill>
        <p:spPr>
          <a:xfrm>
            <a:off x="6503445" y="3148695"/>
            <a:ext cx="5367528" cy="3147319"/>
          </a:xfrm>
          <a:prstGeom prst="rect">
            <a:avLst/>
          </a:prstGeom>
        </p:spPr>
      </p:pic>
      <p:sp>
        <p:nvSpPr>
          <p:cNvPr id="31" name="FinalBg">
            <a:extLst>
              <a:ext uri="{FF2B5EF4-FFF2-40B4-BE49-F238E27FC236}">
                <a16:creationId xmlns:a16="http://schemas.microsoft.com/office/drawing/2014/main" id="{D9F5EB39-BDA9-8224-AE60-46131CDB563A}"/>
              </a:ext>
            </a:extLst>
          </p:cNvPr>
          <p:cNvSpPr/>
          <p:nvPr/>
        </p:nvSpPr>
        <p:spPr>
          <a:xfrm>
            <a:off x="256032" y="6345932"/>
            <a:ext cx="11676888" cy="356619"/>
          </a:xfrm>
          <a:prstGeom prst="rect">
            <a:avLst/>
          </a:prstGeom>
          <a:solidFill>
            <a:srgbClr val="E8F2F8"/>
          </a:solidFill>
          <a:ln>
            <a:noFill/>
          </a:ln>
        </p:spPr>
        <p:txBody>
          <a:bodyPr/>
          <a:lstStyle/>
          <a:p>
            <a:endParaRPr/>
          </a:p>
        </p:txBody>
      </p:sp>
      <p:sp>
        <p:nvSpPr>
          <p:cNvPr id="32" name="FinalLbl">
            <a:extLst>
              <a:ext uri="{FF2B5EF4-FFF2-40B4-BE49-F238E27FC236}">
                <a16:creationId xmlns:a16="http://schemas.microsoft.com/office/drawing/2014/main" id="{7404ED6C-E47C-E31A-DFB1-013404848D78}"/>
              </a:ext>
            </a:extLst>
          </p:cNvPr>
          <p:cNvSpPr txBox="1"/>
          <p:nvPr/>
        </p:nvSpPr>
        <p:spPr>
          <a:xfrm>
            <a:off x="365760" y="6401742"/>
            <a:ext cx="2194560" cy="255090"/>
          </a:xfrm>
          <a:prstGeom prst="rect">
            <a:avLst/>
          </a:prstGeom>
          <a:noFill/>
          <a:ln>
            <a:noFill/>
          </a:ln>
        </p:spPr>
        <p:txBody>
          <a:bodyPr wrap="square" rtlCol="0" anchor="t"/>
          <a:lstStyle/>
          <a:p>
            <a:pPr>
              <a:spcAft>
                <a:spcPts val="50"/>
              </a:spcAft>
              <a:buNone/>
            </a:pPr>
            <a:r>
              <a:rPr lang="en-GB" sz="1020" b="1">
                <a:solidFill>
                  <a:schemeClr val="tx2"/>
                </a:solidFill>
              </a:rPr>
              <a:t>Complete final score:</a:t>
            </a:r>
          </a:p>
        </p:txBody>
      </p:sp>
      <p:sp>
        <p:nvSpPr>
          <p:cNvPr id="33" name="FinalFormula">
            <a:extLst>
              <a:ext uri="{FF2B5EF4-FFF2-40B4-BE49-F238E27FC236}">
                <a16:creationId xmlns:a16="http://schemas.microsoft.com/office/drawing/2014/main" id="{FD63B7C1-1062-E71A-6EE1-1892DADB91A7}"/>
              </a:ext>
            </a:extLst>
          </p:cNvPr>
          <p:cNvSpPr txBox="1"/>
          <p:nvPr/>
        </p:nvSpPr>
        <p:spPr>
          <a:xfrm>
            <a:off x="2633472" y="6382508"/>
            <a:ext cx="9299448" cy="274323"/>
          </a:xfrm>
          <a:prstGeom prst="rect">
            <a:avLst/>
          </a:prstGeom>
          <a:noFill/>
          <a:ln>
            <a:noFill/>
          </a:ln>
        </p:spPr>
        <p:txBody>
          <a:bodyPr wrap="square" rtlCol="0" anchor="t"/>
          <a:lstStyle/>
          <a:p>
            <a:pPr>
              <a:spcAft>
                <a:spcPts val="50"/>
              </a:spcAft>
              <a:buNone/>
            </a:pPr>
            <a:r>
              <a:rPr lang="en-GB" sz="1120" b="1">
                <a:solidFill>
                  <a:schemeClr val="tx2"/>
                </a:solidFill>
              </a:rPr>
              <a:t>Score</a:t>
            </a:r>
            <a:r>
              <a:rPr lang="en-GB" sz="1120" b="0">
                <a:solidFill>
                  <a:srgbClr val="156082"/>
                </a:solidFill>
              </a:rPr>
              <a:t>final</a:t>
            </a:r>
            <a:r>
              <a:rPr lang="en-GB" sz="1120" b="0">
                <a:solidFill>
                  <a:srgbClr val="FFFFFF"/>
                </a:solidFill>
              </a:rPr>
              <a:t>  </a:t>
            </a:r>
            <a:r>
              <a:rPr lang="en-GB" sz="1120" b="0">
                <a:solidFill>
                  <a:schemeClr val="tx2"/>
                </a:solidFill>
              </a:rPr>
              <a:t>=</a:t>
            </a:r>
            <a:r>
              <a:rPr lang="en-GB" sz="1120" b="0">
                <a:solidFill>
                  <a:srgbClr val="FFFFFF"/>
                </a:solidFill>
              </a:rPr>
              <a:t>  </a:t>
            </a:r>
            <a:r>
              <a:rPr lang="en-GB" sz="1120" b="0">
                <a:solidFill>
                  <a:schemeClr val="tx2"/>
                </a:solidFill>
              </a:rPr>
              <a:t>[ S</a:t>
            </a:r>
            <a:r>
              <a:rPr lang="en-GB" sz="1120" b="0">
                <a:solidFill>
                  <a:srgbClr val="666666"/>
                </a:solidFill>
              </a:rPr>
              <a:t>evid</a:t>
            </a:r>
            <a:r>
              <a:rPr lang="en-GB" sz="1120" b="0">
                <a:solidFill>
                  <a:srgbClr val="FFFFFF"/>
                </a:solidFill>
              </a:rPr>
              <a:t> </a:t>
            </a:r>
            <a:r>
              <a:rPr lang="en-GB" sz="1120" b="0">
                <a:solidFill>
                  <a:schemeClr val="tx2"/>
                </a:solidFill>
              </a:rPr>
              <a:t>× exp(−1.5 × r</a:t>
            </a:r>
            <a:r>
              <a:rPr lang="en-GB" sz="1120" b="0">
                <a:solidFill>
                  <a:srgbClr val="666666"/>
                </a:solidFill>
              </a:rPr>
              <a:t>e</a:t>
            </a:r>
            <a:r>
              <a:rPr lang="en-GB" sz="1120" b="0">
                <a:solidFill>
                  <a:schemeClr val="tx2"/>
                </a:solidFill>
              </a:rPr>
              <a:t>) ]  ×  [ S</a:t>
            </a:r>
            <a:r>
              <a:rPr lang="en-GB" sz="1120" b="0">
                <a:solidFill>
                  <a:srgbClr val="666666"/>
                </a:solidFill>
              </a:rPr>
              <a:t>sim</a:t>
            </a:r>
            <a:r>
              <a:rPr lang="en-GB" sz="1120" b="0">
                <a:solidFill>
                  <a:srgbClr val="FFFFFF"/>
                </a:solidFill>
              </a:rPr>
              <a:t> </a:t>
            </a:r>
            <a:r>
              <a:rPr lang="en-GB" sz="1120" b="0">
                <a:solidFill>
                  <a:schemeClr val="tx2"/>
                </a:solidFill>
              </a:rPr>
              <a:t>× exp(−1.2 × r</a:t>
            </a:r>
            <a:r>
              <a:rPr lang="en-GB" sz="1120" b="0">
                <a:solidFill>
                  <a:srgbClr val="666666"/>
                </a:solidFill>
              </a:rPr>
              <a:t>s</a:t>
            </a:r>
            <a:r>
              <a:rPr lang="en-GB" sz="1120" b="0">
                <a:solidFill>
                  <a:schemeClr val="tx2"/>
                </a:solidFill>
              </a:rPr>
              <a:t>) ]  ×  S</a:t>
            </a:r>
            <a:r>
              <a:rPr lang="en-GB" sz="1120" b="0">
                <a:solidFill>
                  <a:srgbClr val="666666"/>
                </a:solidFill>
              </a:rPr>
              <a:t>conf</a:t>
            </a:r>
            <a:r>
              <a:rPr lang="en-GB" sz="1120" b="1">
                <a:solidFill>
                  <a:srgbClr val="156082"/>
                </a:solidFill>
              </a:rPr>
              <a:t>   ∈  [0, 1]</a:t>
            </a:r>
          </a:p>
        </p:txBody>
      </p:sp>
    </p:spTree>
    <p:extLst>
      <p:ext uri="{BB962C8B-B14F-4D97-AF65-F5344CB8AC3E}">
        <p14:creationId xmlns:p14="http://schemas.microsoft.com/office/powerpoint/2010/main" val="1956763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E3E13-D166-999C-94A7-A6ADE1A95B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5CDEC7-0F88-C17B-FF26-8719A943C5C2}"/>
              </a:ext>
            </a:extLst>
          </p:cNvPr>
          <p:cNvSpPr>
            <a:spLocks noGrp="1"/>
          </p:cNvSpPr>
          <p:nvPr>
            <p:ph type="title"/>
          </p:nvPr>
        </p:nvSpPr>
        <p:spPr>
          <a:xfrm>
            <a:off x="4328" y="5120"/>
            <a:ext cx="12182443" cy="686313"/>
          </a:xfrm>
        </p:spPr>
        <p:txBody>
          <a:bodyPr>
            <a:normAutofit/>
          </a:bodyPr>
          <a:lstStyle/>
          <a:p>
            <a:pPr algn="ctr"/>
            <a:r>
              <a:rPr lang="en-US" sz="3300" b="1">
                <a:latin typeface="Cambria"/>
                <a:ea typeface="Cambria"/>
                <a:cs typeface="+mj-lt"/>
              </a:rPr>
              <a:t>Clustering the Cell Lines</a:t>
            </a:r>
            <a:endParaRPr lang="en-US"/>
          </a:p>
        </p:txBody>
      </p:sp>
      <p:sp>
        <p:nvSpPr>
          <p:cNvPr id="7" name="TextBox 6">
            <a:extLst>
              <a:ext uri="{FF2B5EF4-FFF2-40B4-BE49-F238E27FC236}">
                <a16:creationId xmlns:a16="http://schemas.microsoft.com/office/drawing/2014/main" id="{914B79E6-534A-D017-A896-B73FC7E22F5E}"/>
              </a:ext>
            </a:extLst>
          </p:cNvPr>
          <p:cNvSpPr txBox="1"/>
          <p:nvPr/>
        </p:nvSpPr>
        <p:spPr>
          <a:xfrm>
            <a:off x="7875354" y="2466320"/>
            <a:ext cx="430662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a:p>
            <a:endParaRPr lang="en-US"/>
          </a:p>
          <a:p>
            <a:endParaRPr lang="en-US"/>
          </a:p>
          <a:p>
            <a:endParaRPr lang="en-US"/>
          </a:p>
          <a:p>
            <a:endParaRPr lang="en-US"/>
          </a:p>
          <a:p>
            <a:endParaRPr lang="en-US"/>
          </a:p>
        </p:txBody>
      </p:sp>
      <p:sp>
        <p:nvSpPr>
          <p:cNvPr id="13" name="TextBox 12">
            <a:extLst>
              <a:ext uri="{FF2B5EF4-FFF2-40B4-BE49-F238E27FC236}">
                <a16:creationId xmlns:a16="http://schemas.microsoft.com/office/drawing/2014/main" id="{B79C7028-65EE-BFEA-98E7-49F5DBE08363}"/>
              </a:ext>
            </a:extLst>
          </p:cNvPr>
          <p:cNvSpPr txBox="1"/>
          <p:nvPr/>
        </p:nvSpPr>
        <p:spPr>
          <a:xfrm>
            <a:off x="524446" y="855676"/>
            <a:ext cx="1128939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tos"/>
                <a:cs typeface="Arial"/>
              </a:rPr>
              <a:t>•</a:t>
            </a:r>
            <a:r>
              <a:rPr lang="en-US" sz="1600" err="1">
                <a:latin typeface="Aptos"/>
                <a:ea typeface="Calibri"/>
                <a:cs typeface="Calibri"/>
              </a:rPr>
              <a:t>KMeans</a:t>
            </a:r>
            <a:r>
              <a:rPr lang="en-US" sz="1600">
                <a:latin typeface="Aptos"/>
                <a:ea typeface="Calibri"/>
                <a:cs typeface="Calibri"/>
              </a:rPr>
              <a:t> (K = 31) partitions the 20-dimensional MOFA factor space into biological sub-groups and the cluster tab situates each recommendation within the wider population.</a:t>
            </a:r>
            <a:endParaRPr lang="en-US" sz="1600">
              <a:latin typeface="Aptos"/>
            </a:endParaRPr>
          </a:p>
        </p:txBody>
      </p:sp>
      <p:sp>
        <p:nvSpPr>
          <p:cNvPr id="14" name="TextBox 13">
            <a:extLst>
              <a:ext uri="{FF2B5EF4-FFF2-40B4-BE49-F238E27FC236}">
                <a16:creationId xmlns:a16="http://schemas.microsoft.com/office/drawing/2014/main" id="{F944E24B-2925-50F2-2F96-C572186151F3}"/>
              </a:ext>
            </a:extLst>
          </p:cNvPr>
          <p:cNvSpPr txBox="1"/>
          <p:nvPr/>
        </p:nvSpPr>
        <p:spPr>
          <a:xfrm>
            <a:off x="607253" y="1738953"/>
            <a:ext cx="817032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Choosing the clustering model</a:t>
            </a:r>
          </a:p>
        </p:txBody>
      </p:sp>
      <p:sp>
        <p:nvSpPr>
          <p:cNvPr id="15" name="TextBox 14">
            <a:extLst>
              <a:ext uri="{FF2B5EF4-FFF2-40B4-BE49-F238E27FC236}">
                <a16:creationId xmlns:a16="http://schemas.microsoft.com/office/drawing/2014/main" id="{45FADF4B-4651-912B-B209-9D383F0DA385}"/>
              </a:ext>
            </a:extLst>
          </p:cNvPr>
          <p:cNvSpPr txBox="1"/>
          <p:nvPr/>
        </p:nvSpPr>
        <p:spPr>
          <a:xfrm>
            <a:off x="717663" y="2278972"/>
            <a:ext cx="7043569"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latin typeface="Aptos"/>
                <a:ea typeface="Calibri"/>
                <a:cs typeface="Calibri"/>
              </a:rPr>
              <a:t> KMeans swept K = 2–49 had no elblow so silhouette score was used as the main metric</a:t>
            </a:r>
            <a:endParaRPr lang="en-US" sz="1600">
              <a:latin typeface="Aptos"/>
            </a:endParaRPr>
          </a:p>
          <a:p>
            <a:pPr marL="285750" indent="-285750">
              <a:buFont typeface="Arial"/>
              <a:buChar char="•"/>
            </a:pPr>
            <a:r>
              <a:rPr lang="en-US" sz="1600">
                <a:latin typeface="Aptos"/>
                <a:ea typeface="Calibri"/>
                <a:cs typeface="Calibri"/>
              </a:rPr>
              <a:t>K = 31 sits on the silhouette plateau with silhouette 0.165 and inertia 66K</a:t>
            </a:r>
            <a:endParaRPr lang="en-US" sz="1600">
              <a:latin typeface="Aptos"/>
            </a:endParaRPr>
          </a:p>
          <a:p>
            <a:pPr marL="285750" indent="-285750">
              <a:buFont typeface="Arial"/>
              <a:buChar char="•"/>
            </a:pPr>
            <a:r>
              <a:rPr lang="en-US" sz="1600">
                <a:latin typeface="Aptos"/>
                <a:ea typeface="Calibri"/>
                <a:cs typeface="Calibri"/>
              </a:rPr>
              <a:t>HDBSCAN scored ≤ 0.08 with only 3–8 clusters</a:t>
            </a:r>
            <a:endParaRPr lang="en-US" sz="1600">
              <a:latin typeface="Aptos"/>
            </a:endParaRPr>
          </a:p>
          <a:p>
            <a:pPr marL="285750" indent="-285750">
              <a:buFont typeface="Arial"/>
              <a:buChar char="•"/>
            </a:pPr>
            <a:r>
              <a:rPr lang="en-US" sz="1600">
                <a:latin typeface="Aptos"/>
                <a:ea typeface="Calibri"/>
                <a:cs typeface="Calibri"/>
              </a:rPr>
              <a:t>KNN alternative-search did not add much meaning and was unstable</a:t>
            </a:r>
            <a:endParaRPr lang="en-US" sz="1600">
              <a:latin typeface="Aptos"/>
            </a:endParaRPr>
          </a:p>
        </p:txBody>
      </p:sp>
      <p:sp>
        <p:nvSpPr>
          <p:cNvPr id="18" name="TextBox 17">
            <a:extLst>
              <a:ext uri="{FF2B5EF4-FFF2-40B4-BE49-F238E27FC236}">
                <a16:creationId xmlns:a16="http://schemas.microsoft.com/office/drawing/2014/main" id="{705F18F6-E8A9-44E3-535A-AAAF5784B175}"/>
              </a:ext>
            </a:extLst>
          </p:cNvPr>
          <p:cNvSpPr txBox="1"/>
          <p:nvPr/>
        </p:nvSpPr>
        <p:spPr>
          <a:xfrm>
            <a:off x="8561062" y="1348822"/>
            <a:ext cx="282796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err="1">
                <a:latin typeface="Calibri"/>
                <a:ea typeface="Calibri"/>
                <a:cs typeface="Calibri"/>
              </a:rPr>
              <a:t>KMeans</a:t>
            </a:r>
            <a:r>
              <a:rPr lang="en-US" b="1">
                <a:latin typeface="Calibri"/>
                <a:ea typeface="Calibri"/>
                <a:cs typeface="Calibri"/>
              </a:rPr>
              <a:t> vs HDBSCAN</a:t>
            </a:r>
            <a:endParaRPr lang="en-US"/>
          </a:p>
        </p:txBody>
      </p:sp>
      <p:graphicFrame>
        <p:nvGraphicFramePr>
          <p:cNvPr id="21" name="Table 20">
            <a:extLst>
              <a:ext uri="{FF2B5EF4-FFF2-40B4-BE49-F238E27FC236}">
                <a16:creationId xmlns:a16="http://schemas.microsoft.com/office/drawing/2014/main" id="{1A07E533-4C08-F4D1-9E9E-FED233A2CB25}"/>
              </a:ext>
            </a:extLst>
          </p:cNvPr>
          <p:cNvGraphicFramePr>
            <a:graphicFrameLocks noGrp="1"/>
          </p:cNvGraphicFramePr>
          <p:nvPr>
            <p:extLst>
              <p:ext uri="{D42A27DB-BD31-4B8C-83A1-F6EECF244321}">
                <p14:modId xmlns:p14="http://schemas.microsoft.com/office/powerpoint/2010/main" val="3632736650"/>
              </p:ext>
            </p:extLst>
          </p:nvPr>
        </p:nvGraphicFramePr>
        <p:xfrm>
          <a:off x="7872356" y="1753317"/>
          <a:ext cx="4136628" cy="1036320"/>
        </p:xfrm>
        <a:graphic>
          <a:graphicData uri="http://schemas.openxmlformats.org/drawingml/2006/table">
            <a:tbl>
              <a:tblPr firstRow="1" bandRow="1">
                <a:tableStyleId>{5C22544A-7EE6-4342-B048-85BDC9FD1C3A}</a:tableStyleId>
              </a:tblPr>
              <a:tblGrid>
                <a:gridCol w="1378876">
                  <a:extLst>
                    <a:ext uri="{9D8B030D-6E8A-4147-A177-3AD203B41FA5}">
                      <a16:colId xmlns:a16="http://schemas.microsoft.com/office/drawing/2014/main" val="2706847598"/>
                    </a:ext>
                  </a:extLst>
                </a:gridCol>
                <a:gridCol w="1378876">
                  <a:extLst>
                    <a:ext uri="{9D8B030D-6E8A-4147-A177-3AD203B41FA5}">
                      <a16:colId xmlns:a16="http://schemas.microsoft.com/office/drawing/2014/main" val="3199025954"/>
                    </a:ext>
                  </a:extLst>
                </a:gridCol>
                <a:gridCol w="1378876">
                  <a:extLst>
                    <a:ext uri="{9D8B030D-6E8A-4147-A177-3AD203B41FA5}">
                      <a16:colId xmlns:a16="http://schemas.microsoft.com/office/drawing/2014/main" val="2013213732"/>
                    </a:ext>
                  </a:extLst>
                </a:gridCol>
              </a:tblGrid>
              <a:tr h="303905">
                <a:tc>
                  <a:txBody>
                    <a:bodyPr/>
                    <a:lstStyle/>
                    <a:p>
                      <a:r>
                        <a:rPr lang="en-US"/>
                        <a:t>Method</a:t>
                      </a:r>
                    </a:p>
                  </a:txBody>
                  <a:tcPr/>
                </a:tc>
                <a:tc>
                  <a:txBody>
                    <a:bodyPr/>
                    <a:lstStyle/>
                    <a:p>
                      <a:r>
                        <a:rPr lang="en-US"/>
                        <a:t>Silhouette</a:t>
                      </a:r>
                    </a:p>
                  </a:txBody>
                  <a:tcPr/>
                </a:tc>
                <a:tc>
                  <a:txBody>
                    <a:bodyPr/>
                    <a:lstStyle/>
                    <a:p>
                      <a:r>
                        <a:rPr lang="en-US"/>
                        <a:t>Clusters</a:t>
                      </a:r>
                    </a:p>
                  </a:txBody>
                  <a:tcPr/>
                </a:tc>
                <a:extLst>
                  <a:ext uri="{0D108BD9-81ED-4DB2-BD59-A6C34878D82A}">
                    <a16:rowId xmlns:a16="http://schemas.microsoft.com/office/drawing/2014/main" val="2416546808"/>
                  </a:ext>
                </a:extLst>
              </a:tr>
              <a:tr h="281393">
                <a:tc>
                  <a:txBody>
                    <a:bodyPr/>
                    <a:lstStyle/>
                    <a:p>
                      <a:pPr lvl="0" algn="l">
                        <a:lnSpc>
                          <a:spcPct val="100000"/>
                        </a:lnSpc>
                        <a:spcBef>
                          <a:spcPts val="0"/>
                        </a:spcBef>
                        <a:spcAft>
                          <a:spcPts val="0"/>
                        </a:spcAft>
                        <a:buNone/>
                      </a:pPr>
                      <a:r>
                        <a:rPr lang="en-US" sz="1400" b="1" i="0" u="none" strike="noStrike" noProof="0" err="1">
                          <a:solidFill>
                            <a:srgbClr val="000000"/>
                          </a:solidFill>
                          <a:latin typeface="Calibri"/>
                          <a:ea typeface="Calibri"/>
                          <a:cs typeface="Calibri"/>
                        </a:rPr>
                        <a:t>KMeans</a:t>
                      </a:r>
                      <a:r>
                        <a:rPr lang="en-US" sz="1400" b="1" i="0" u="none" strike="noStrike" noProof="0">
                          <a:solidFill>
                            <a:srgbClr val="000000"/>
                          </a:solidFill>
                          <a:latin typeface="Calibri"/>
                          <a:ea typeface="Calibri"/>
                          <a:cs typeface="Calibri"/>
                        </a:rPr>
                        <a:t> (K=31)</a:t>
                      </a:r>
                      <a:endParaRPr lang="en-US" sz="1400"/>
                    </a:p>
                  </a:txBody>
                  <a:tcPr/>
                </a:tc>
                <a:tc>
                  <a:txBody>
                    <a:bodyPr/>
                    <a:lstStyle/>
                    <a:p>
                      <a:pPr lvl="0" algn="ctr">
                        <a:buNone/>
                      </a:pPr>
                      <a:r>
                        <a:rPr lang="en-US" sz="1600" b="0" i="0" u="none" strike="noStrike" noProof="0">
                          <a:solidFill>
                            <a:srgbClr val="000000"/>
                          </a:solidFill>
                          <a:latin typeface="Calibri"/>
                          <a:ea typeface="Calibri"/>
                          <a:cs typeface="Calibri"/>
                        </a:rPr>
                        <a:t>0.165</a:t>
                      </a:r>
                      <a:endParaRPr lang="en-US" sz="1600"/>
                    </a:p>
                  </a:txBody>
                  <a:tcPr/>
                </a:tc>
                <a:tc>
                  <a:txBody>
                    <a:bodyPr/>
                    <a:lstStyle/>
                    <a:p>
                      <a:pPr lvl="0" algn="ctr">
                        <a:lnSpc>
                          <a:spcPct val="100000"/>
                        </a:lnSpc>
                        <a:spcBef>
                          <a:spcPts val="0"/>
                        </a:spcBef>
                        <a:spcAft>
                          <a:spcPts val="0"/>
                        </a:spcAft>
                        <a:buNone/>
                      </a:pPr>
                      <a:r>
                        <a:rPr lang="en-US" sz="1600" b="0" i="0" u="none" strike="noStrike" noProof="0">
                          <a:solidFill>
                            <a:srgbClr val="000000"/>
                          </a:solidFill>
                          <a:latin typeface="Calibri"/>
                          <a:ea typeface="Calibri"/>
                          <a:cs typeface="Calibri"/>
                        </a:rPr>
                        <a:t>31</a:t>
                      </a:r>
                      <a:endParaRPr lang="en-US" sz="1600"/>
                    </a:p>
                  </a:txBody>
                  <a:tcPr/>
                </a:tc>
                <a:extLst>
                  <a:ext uri="{0D108BD9-81ED-4DB2-BD59-A6C34878D82A}">
                    <a16:rowId xmlns:a16="http://schemas.microsoft.com/office/drawing/2014/main" val="2642474381"/>
                  </a:ext>
                </a:extLst>
              </a:tr>
              <a:tr h="281393">
                <a:tc>
                  <a:txBody>
                    <a:bodyPr/>
                    <a:lstStyle/>
                    <a:p>
                      <a:pPr lvl="0" algn="l">
                        <a:lnSpc>
                          <a:spcPct val="100000"/>
                        </a:lnSpc>
                        <a:spcBef>
                          <a:spcPts val="0"/>
                        </a:spcBef>
                        <a:spcAft>
                          <a:spcPts val="0"/>
                        </a:spcAft>
                        <a:buNone/>
                      </a:pPr>
                      <a:r>
                        <a:rPr lang="en-US" sz="1400" b="1" i="0" u="none" strike="noStrike" noProof="0">
                          <a:solidFill>
                            <a:srgbClr val="000000"/>
                          </a:solidFill>
                          <a:latin typeface="Calibri"/>
                          <a:ea typeface="Calibri"/>
                          <a:cs typeface="Calibri"/>
                        </a:rPr>
                        <a:t>HDBSCAN</a:t>
                      </a:r>
                      <a:endParaRPr lang="en-US" sz="1400"/>
                    </a:p>
                  </a:txBody>
                  <a:tcPr/>
                </a:tc>
                <a:tc>
                  <a:txBody>
                    <a:bodyPr/>
                    <a:lstStyle/>
                    <a:p>
                      <a:pPr lvl="0" algn="ctr">
                        <a:lnSpc>
                          <a:spcPct val="100000"/>
                        </a:lnSpc>
                        <a:spcBef>
                          <a:spcPts val="0"/>
                        </a:spcBef>
                        <a:spcAft>
                          <a:spcPts val="0"/>
                        </a:spcAft>
                        <a:buNone/>
                      </a:pPr>
                      <a:r>
                        <a:rPr lang="en-US" sz="1600" b="0" i="0" u="none" strike="noStrike" noProof="0">
                          <a:solidFill>
                            <a:srgbClr val="000000"/>
                          </a:solidFill>
                          <a:latin typeface="Calibri"/>
                          <a:ea typeface="Calibri"/>
                          <a:cs typeface="Calibri"/>
                        </a:rPr>
                        <a:t>≤ 0.08</a:t>
                      </a:r>
                      <a:endParaRPr lang="en-US" sz="1600"/>
                    </a:p>
                  </a:txBody>
                  <a:tcPr/>
                </a:tc>
                <a:tc>
                  <a:txBody>
                    <a:bodyPr/>
                    <a:lstStyle/>
                    <a:p>
                      <a:pPr lvl="0" algn="ctr">
                        <a:buNone/>
                      </a:pPr>
                      <a:r>
                        <a:rPr lang="en-US" sz="1600" b="0" i="0" u="none" strike="noStrike" noProof="0">
                          <a:solidFill>
                            <a:srgbClr val="000000"/>
                          </a:solidFill>
                          <a:latin typeface="Calibri"/>
                          <a:ea typeface="Calibri"/>
                          <a:cs typeface="Calibri"/>
                        </a:rPr>
                        <a:t>3–8</a:t>
                      </a:r>
                      <a:endParaRPr lang="en-US" sz="1600"/>
                    </a:p>
                  </a:txBody>
                  <a:tcPr/>
                </a:tc>
                <a:extLst>
                  <a:ext uri="{0D108BD9-81ED-4DB2-BD59-A6C34878D82A}">
                    <a16:rowId xmlns:a16="http://schemas.microsoft.com/office/drawing/2014/main" val="3000350997"/>
                  </a:ext>
                </a:extLst>
              </a:tr>
            </a:tbl>
          </a:graphicData>
        </a:graphic>
      </p:graphicFrame>
      <p:sp>
        <p:nvSpPr>
          <p:cNvPr id="22" name="TextBox 21">
            <a:extLst>
              <a:ext uri="{FF2B5EF4-FFF2-40B4-BE49-F238E27FC236}">
                <a16:creationId xmlns:a16="http://schemas.microsoft.com/office/drawing/2014/main" id="{2E963227-565F-81F6-667F-C1CF400C7362}"/>
              </a:ext>
            </a:extLst>
          </p:cNvPr>
          <p:cNvSpPr txBox="1"/>
          <p:nvPr/>
        </p:nvSpPr>
        <p:spPr>
          <a:xfrm>
            <a:off x="518432" y="4249952"/>
            <a:ext cx="734683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latin typeface="Aptos"/>
                <a:ea typeface="Calibri"/>
                <a:cs typeface="Calibri"/>
              </a:rPr>
              <a:t>A 2-D UMAP view of Z for display only and the pipeline keeps all 20 dimensions</a:t>
            </a:r>
            <a:endParaRPr lang="en-US" sz="1600">
              <a:latin typeface="Aptos"/>
            </a:endParaRPr>
          </a:p>
          <a:p>
            <a:pPr marL="285750" indent="-285750">
              <a:buFont typeface="Arial"/>
              <a:buChar char="•"/>
            </a:pPr>
            <a:r>
              <a:rPr lang="en-US" sz="1600">
                <a:latin typeface="Aptos"/>
                <a:ea typeface="Calibri"/>
                <a:cs typeface="Calibri"/>
              </a:rPr>
              <a:t>KMeans sub-groups shown as colours an axis independent of disease label</a:t>
            </a:r>
            <a:endParaRPr lang="en-US" sz="1600">
              <a:latin typeface="Aptos"/>
            </a:endParaRPr>
          </a:p>
          <a:p>
            <a:pPr marL="285750" indent="-285750">
              <a:buFont typeface="Arial"/>
              <a:buChar char="•"/>
            </a:pPr>
            <a:r>
              <a:rPr lang="en-US" sz="1600">
                <a:latin typeface="Aptos"/>
                <a:ea typeface="Calibri"/>
                <a:cs typeface="Calibri"/>
              </a:rPr>
              <a:t>Top-10 in one sub-group = coherent </a:t>
            </a:r>
          </a:p>
          <a:p>
            <a:pPr marL="285750" indent="-285750">
              <a:buFont typeface="Arial"/>
              <a:buChar char="•"/>
            </a:pPr>
            <a:r>
              <a:rPr lang="en-US" sz="1600">
                <a:latin typeface="Aptos"/>
                <a:ea typeface="Calibri"/>
                <a:cs typeface="Calibri"/>
              </a:rPr>
              <a:t>Top-10 spread across several = many contexts</a:t>
            </a:r>
            <a:endParaRPr lang="en-US" sz="1600">
              <a:latin typeface="Aptos"/>
            </a:endParaRPr>
          </a:p>
        </p:txBody>
      </p:sp>
      <p:sp>
        <p:nvSpPr>
          <p:cNvPr id="23" name="TextBox 22">
            <a:extLst>
              <a:ext uri="{FF2B5EF4-FFF2-40B4-BE49-F238E27FC236}">
                <a16:creationId xmlns:a16="http://schemas.microsoft.com/office/drawing/2014/main" id="{4DECF9DE-8F03-EBED-07C8-36EEDD52E985}"/>
              </a:ext>
            </a:extLst>
          </p:cNvPr>
          <p:cNvSpPr txBox="1"/>
          <p:nvPr/>
        </p:nvSpPr>
        <p:spPr>
          <a:xfrm>
            <a:off x="525972" y="3811742"/>
            <a:ext cx="456202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Aptos"/>
                <a:ea typeface="Calibri"/>
                <a:cs typeface="Calibri"/>
              </a:rPr>
              <a:t>What the cluster tab shows</a:t>
            </a:r>
            <a:endParaRPr lang="en-US" sz="2000" b="1">
              <a:latin typeface="Aptos"/>
            </a:endParaRPr>
          </a:p>
        </p:txBody>
      </p:sp>
      <p:pic>
        <p:nvPicPr>
          <p:cNvPr id="25" name="Picture 24">
            <a:extLst>
              <a:ext uri="{FF2B5EF4-FFF2-40B4-BE49-F238E27FC236}">
                <a16:creationId xmlns:a16="http://schemas.microsoft.com/office/drawing/2014/main" id="{4BCEA7CC-BF08-7C07-2408-7A1B65C0A65D}"/>
              </a:ext>
            </a:extLst>
          </p:cNvPr>
          <p:cNvPicPr>
            <a:picLocks noChangeAspect="1"/>
          </p:cNvPicPr>
          <p:nvPr/>
        </p:nvPicPr>
        <p:blipFill>
          <a:blip r:embed="rId2"/>
          <a:stretch>
            <a:fillRect/>
          </a:stretch>
        </p:blipFill>
        <p:spPr>
          <a:xfrm>
            <a:off x="7872196" y="3081617"/>
            <a:ext cx="4202082" cy="3406590"/>
          </a:xfrm>
          <a:prstGeom prst="rect">
            <a:avLst/>
          </a:prstGeom>
        </p:spPr>
      </p:pic>
    </p:spTree>
    <p:extLst>
      <p:ext uri="{BB962C8B-B14F-4D97-AF65-F5344CB8AC3E}">
        <p14:creationId xmlns:p14="http://schemas.microsoft.com/office/powerpoint/2010/main" val="3642897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74E64-5359-9BD4-E67E-E1E7066A2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31D986-31FB-E6FA-D067-993E5B23D8DF}"/>
              </a:ext>
            </a:extLst>
          </p:cNvPr>
          <p:cNvSpPr>
            <a:spLocks noGrp="1"/>
          </p:cNvSpPr>
          <p:nvPr>
            <p:ph type="title"/>
          </p:nvPr>
        </p:nvSpPr>
        <p:spPr>
          <a:xfrm>
            <a:off x="4328" y="5120"/>
            <a:ext cx="12182443" cy="686313"/>
          </a:xfrm>
        </p:spPr>
        <p:txBody>
          <a:bodyPr>
            <a:normAutofit/>
          </a:bodyPr>
          <a:lstStyle/>
          <a:p>
            <a:pPr algn="ctr"/>
            <a:r>
              <a:rPr lang="en-US" sz="3300" b="1">
                <a:latin typeface="Cambria"/>
                <a:ea typeface="Cambria"/>
                <a:cs typeface="+mj-lt"/>
              </a:rPr>
              <a:t>Clustering Images</a:t>
            </a:r>
            <a:endParaRPr lang="en-US"/>
          </a:p>
        </p:txBody>
      </p:sp>
      <p:sp>
        <p:nvSpPr>
          <p:cNvPr id="7" name="TextBox 6">
            <a:extLst>
              <a:ext uri="{FF2B5EF4-FFF2-40B4-BE49-F238E27FC236}">
                <a16:creationId xmlns:a16="http://schemas.microsoft.com/office/drawing/2014/main" id="{C91DC513-C024-AC93-4E32-E5C19BB8E4D7}"/>
              </a:ext>
            </a:extLst>
          </p:cNvPr>
          <p:cNvSpPr txBox="1"/>
          <p:nvPr/>
        </p:nvSpPr>
        <p:spPr>
          <a:xfrm>
            <a:off x="7875354" y="2466320"/>
            <a:ext cx="430662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a:p>
            <a:endParaRPr lang="en-US"/>
          </a:p>
          <a:p>
            <a:endParaRPr lang="en-US"/>
          </a:p>
          <a:p>
            <a:endParaRPr lang="en-US"/>
          </a:p>
          <a:p>
            <a:endParaRPr lang="en-US"/>
          </a:p>
          <a:p>
            <a:endParaRPr lang="en-US"/>
          </a:p>
        </p:txBody>
      </p:sp>
      <p:pic>
        <p:nvPicPr>
          <p:cNvPr id="3" name="Picture 2">
            <a:extLst>
              <a:ext uri="{FF2B5EF4-FFF2-40B4-BE49-F238E27FC236}">
                <a16:creationId xmlns:a16="http://schemas.microsoft.com/office/drawing/2014/main" id="{D2B878EF-8D23-6B9C-EACD-989448FBAFB5}"/>
              </a:ext>
            </a:extLst>
          </p:cNvPr>
          <p:cNvPicPr>
            <a:picLocks noChangeAspect="1"/>
          </p:cNvPicPr>
          <p:nvPr/>
        </p:nvPicPr>
        <p:blipFill>
          <a:blip r:embed="rId2"/>
          <a:stretch>
            <a:fillRect/>
          </a:stretch>
        </p:blipFill>
        <p:spPr>
          <a:xfrm>
            <a:off x="7499948" y="796459"/>
            <a:ext cx="4012902" cy="3426124"/>
          </a:xfrm>
          <a:prstGeom prst="rect">
            <a:avLst/>
          </a:prstGeom>
        </p:spPr>
      </p:pic>
      <p:pic>
        <p:nvPicPr>
          <p:cNvPr id="4" name="Picture 3">
            <a:extLst>
              <a:ext uri="{FF2B5EF4-FFF2-40B4-BE49-F238E27FC236}">
                <a16:creationId xmlns:a16="http://schemas.microsoft.com/office/drawing/2014/main" id="{CE753ED1-9123-91BC-3DB3-D8E9FF0AC63E}"/>
              </a:ext>
            </a:extLst>
          </p:cNvPr>
          <p:cNvPicPr>
            <a:picLocks noChangeAspect="1"/>
          </p:cNvPicPr>
          <p:nvPr/>
        </p:nvPicPr>
        <p:blipFill>
          <a:blip r:embed="rId3"/>
          <a:stretch>
            <a:fillRect/>
          </a:stretch>
        </p:blipFill>
        <p:spPr>
          <a:xfrm>
            <a:off x="511181" y="795618"/>
            <a:ext cx="3823811" cy="3272865"/>
          </a:xfrm>
          <a:prstGeom prst="rect">
            <a:avLst/>
          </a:prstGeom>
        </p:spPr>
      </p:pic>
      <p:pic>
        <p:nvPicPr>
          <p:cNvPr id="5" name="Picture 4">
            <a:extLst>
              <a:ext uri="{FF2B5EF4-FFF2-40B4-BE49-F238E27FC236}">
                <a16:creationId xmlns:a16="http://schemas.microsoft.com/office/drawing/2014/main" id="{F7AFDBAB-D6EC-A05A-C590-D1E01955219F}"/>
              </a:ext>
            </a:extLst>
          </p:cNvPr>
          <p:cNvPicPr>
            <a:picLocks noChangeAspect="1"/>
          </p:cNvPicPr>
          <p:nvPr/>
        </p:nvPicPr>
        <p:blipFill>
          <a:blip r:embed="rId4"/>
          <a:stretch>
            <a:fillRect/>
          </a:stretch>
        </p:blipFill>
        <p:spPr>
          <a:xfrm>
            <a:off x="7062470" y="4218305"/>
            <a:ext cx="4447540" cy="2536190"/>
          </a:xfrm>
          <a:prstGeom prst="rect">
            <a:avLst/>
          </a:prstGeom>
        </p:spPr>
      </p:pic>
      <p:pic>
        <p:nvPicPr>
          <p:cNvPr id="6" name="Picture 5">
            <a:extLst>
              <a:ext uri="{FF2B5EF4-FFF2-40B4-BE49-F238E27FC236}">
                <a16:creationId xmlns:a16="http://schemas.microsoft.com/office/drawing/2014/main" id="{8B57F95C-AF8E-9A03-71DB-BA9FF609108F}"/>
              </a:ext>
            </a:extLst>
          </p:cNvPr>
          <p:cNvPicPr>
            <a:picLocks noChangeAspect="1"/>
          </p:cNvPicPr>
          <p:nvPr/>
        </p:nvPicPr>
        <p:blipFill>
          <a:blip r:embed="rId5"/>
          <a:stretch>
            <a:fillRect/>
          </a:stretch>
        </p:blipFill>
        <p:spPr>
          <a:xfrm>
            <a:off x="510730" y="4236720"/>
            <a:ext cx="3672461" cy="2519680"/>
          </a:xfrm>
          <a:prstGeom prst="rect">
            <a:avLst/>
          </a:prstGeom>
        </p:spPr>
      </p:pic>
      <p:sp>
        <p:nvSpPr>
          <p:cNvPr id="8" name="TextBox 7">
            <a:extLst>
              <a:ext uri="{FF2B5EF4-FFF2-40B4-BE49-F238E27FC236}">
                <a16:creationId xmlns:a16="http://schemas.microsoft.com/office/drawing/2014/main" id="{A4B74636-8B38-BF43-9606-0DA829E24ED8}"/>
              </a:ext>
            </a:extLst>
          </p:cNvPr>
          <p:cNvSpPr txBox="1"/>
          <p:nvPr/>
        </p:nvSpPr>
        <p:spPr>
          <a:xfrm>
            <a:off x="5389183" y="998403"/>
            <a:ext cx="105112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err="1"/>
              <a:t>Kmeans</a:t>
            </a:r>
          </a:p>
        </p:txBody>
      </p:sp>
      <p:sp>
        <p:nvSpPr>
          <p:cNvPr id="9" name="TextBox 8">
            <a:extLst>
              <a:ext uri="{FF2B5EF4-FFF2-40B4-BE49-F238E27FC236}">
                <a16:creationId xmlns:a16="http://schemas.microsoft.com/office/drawing/2014/main" id="{6C40F941-2C32-2FCA-163F-A9689898DA01}"/>
              </a:ext>
            </a:extLst>
          </p:cNvPr>
          <p:cNvSpPr txBox="1"/>
          <p:nvPr/>
        </p:nvSpPr>
        <p:spPr>
          <a:xfrm>
            <a:off x="5344360" y="4214938"/>
            <a:ext cx="13864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HDBSCAN</a:t>
            </a:r>
          </a:p>
        </p:txBody>
      </p:sp>
      <p:sp>
        <p:nvSpPr>
          <p:cNvPr id="13" name="Arrow: Left 12">
            <a:extLst>
              <a:ext uri="{FF2B5EF4-FFF2-40B4-BE49-F238E27FC236}">
                <a16:creationId xmlns:a16="http://schemas.microsoft.com/office/drawing/2014/main" id="{085FE5C9-D903-FE1C-1463-742673F4BCEE}"/>
              </a:ext>
            </a:extLst>
          </p:cNvPr>
          <p:cNvSpPr/>
          <p:nvPr/>
        </p:nvSpPr>
        <p:spPr>
          <a:xfrm>
            <a:off x="5581812" y="2329478"/>
            <a:ext cx="664340" cy="35959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Left 13">
            <a:extLst>
              <a:ext uri="{FF2B5EF4-FFF2-40B4-BE49-F238E27FC236}">
                <a16:creationId xmlns:a16="http://schemas.microsoft.com/office/drawing/2014/main" id="{4B039B70-C7BF-5C8E-C2C7-8C68577940AE}"/>
              </a:ext>
            </a:extLst>
          </p:cNvPr>
          <p:cNvSpPr/>
          <p:nvPr/>
        </p:nvSpPr>
        <p:spPr>
          <a:xfrm rot="10800000">
            <a:off x="5586443" y="5733676"/>
            <a:ext cx="664340" cy="35959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3C6B925-8C2B-1604-8C2A-3D26AEEF27FA}"/>
              </a:ext>
            </a:extLst>
          </p:cNvPr>
          <p:cNvSpPr txBox="1"/>
          <p:nvPr/>
        </p:nvSpPr>
        <p:spPr>
          <a:xfrm>
            <a:off x="4328759" y="1420240"/>
            <a:ext cx="316411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sz="1200" dirty="0"/>
              <a:t>Above image is the </a:t>
            </a:r>
            <a:r>
              <a:rPr lang="en-US" sz="1200" dirty="0" err="1"/>
              <a:t>Kmeans</a:t>
            </a:r>
            <a:r>
              <a:rPr lang="en-US" sz="1200" dirty="0"/>
              <a:t> projection of cell lines across all the 20 factors</a:t>
            </a:r>
          </a:p>
          <a:p>
            <a:pPr marL="342900" indent="-342900">
              <a:buAutoNum type="arabicPeriod"/>
            </a:pPr>
            <a:r>
              <a:rPr lang="en-US" sz="1200" dirty="0"/>
              <a:t>Below is the Silhouette score from 2 to 49 for </a:t>
            </a:r>
            <a:r>
              <a:rPr lang="en-US" sz="1200" dirty="0" err="1"/>
              <a:t>kmeans</a:t>
            </a:r>
            <a:endParaRPr lang="en-US" sz="1200" dirty="0"/>
          </a:p>
        </p:txBody>
      </p:sp>
      <p:sp>
        <p:nvSpPr>
          <p:cNvPr id="11" name="TextBox 10">
            <a:extLst>
              <a:ext uri="{FF2B5EF4-FFF2-40B4-BE49-F238E27FC236}">
                <a16:creationId xmlns:a16="http://schemas.microsoft.com/office/drawing/2014/main" id="{4F4EC955-E0FA-9577-AB40-61D7E950A795}"/>
              </a:ext>
            </a:extLst>
          </p:cNvPr>
          <p:cNvSpPr txBox="1"/>
          <p:nvPr/>
        </p:nvSpPr>
        <p:spPr>
          <a:xfrm>
            <a:off x="4328759" y="4602711"/>
            <a:ext cx="2738290"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sz="1200"/>
              <a:t>Above image is the HDBSCAN projection of cell lines across all the 20 factors</a:t>
            </a:r>
          </a:p>
          <a:p>
            <a:pPr marL="342900" indent="-342900">
              <a:buAutoNum type="arabicPeriod"/>
            </a:pPr>
            <a:r>
              <a:rPr lang="en-US" sz="1200"/>
              <a:t>Below is the Silhouette score from 2 to 20 for HDBSCAN</a:t>
            </a:r>
          </a:p>
        </p:txBody>
      </p:sp>
    </p:spTree>
    <p:extLst>
      <p:ext uri="{BB962C8B-B14F-4D97-AF65-F5344CB8AC3E}">
        <p14:creationId xmlns:p14="http://schemas.microsoft.com/office/powerpoint/2010/main" val="2736303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FA12F-1171-F1AE-A704-E94A4B1F1E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DCD184-51DE-7020-EED6-5E2497EF77BE}"/>
              </a:ext>
            </a:extLst>
          </p:cNvPr>
          <p:cNvSpPr>
            <a:spLocks noGrp="1"/>
          </p:cNvSpPr>
          <p:nvPr>
            <p:ph type="title"/>
          </p:nvPr>
        </p:nvSpPr>
        <p:spPr>
          <a:xfrm>
            <a:off x="4328" y="5120"/>
            <a:ext cx="12182443" cy="686313"/>
          </a:xfrm>
        </p:spPr>
        <p:txBody>
          <a:bodyPr>
            <a:normAutofit/>
          </a:bodyPr>
          <a:lstStyle/>
          <a:p>
            <a:pPr algn="ctr"/>
            <a:r>
              <a:rPr lang="en-US" sz="3300" b="1">
                <a:latin typeface="Cambria"/>
                <a:ea typeface="Cambria"/>
                <a:cs typeface="+mj-lt"/>
              </a:rPr>
              <a:t>Query and Results</a:t>
            </a:r>
            <a:endParaRPr lang="en-US"/>
          </a:p>
        </p:txBody>
      </p:sp>
      <p:sp>
        <p:nvSpPr>
          <p:cNvPr id="7" name="TextBox 6">
            <a:extLst>
              <a:ext uri="{FF2B5EF4-FFF2-40B4-BE49-F238E27FC236}">
                <a16:creationId xmlns:a16="http://schemas.microsoft.com/office/drawing/2014/main" id="{2902E6B6-889A-0C85-2707-6AAF65DF7152}"/>
              </a:ext>
            </a:extLst>
          </p:cNvPr>
          <p:cNvSpPr txBox="1"/>
          <p:nvPr/>
        </p:nvSpPr>
        <p:spPr>
          <a:xfrm>
            <a:off x="7875354" y="2466320"/>
            <a:ext cx="430662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a:p>
            <a:endParaRPr lang="en-US"/>
          </a:p>
          <a:p>
            <a:endParaRPr lang="en-US"/>
          </a:p>
          <a:p>
            <a:endParaRPr lang="en-US"/>
          </a:p>
          <a:p>
            <a:endParaRPr lang="en-US"/>
          </a:p>
          <a:p>
            <a:endParaRPr lang="en-US"/>
          </a:p>
        </p:txBody>
      </p:sp>
      <p:sp>
        <p:nvSpPr>
          <p:cNvPr id="3" name="TextBox 2">
            <a:extLst>
              <a:ext uri="{FF2B5EF4-FFF2-40B4-BE49-F238E27FC236}">
                <a16:creationId xmlns:a16="http://schemas.microsoft.com/office/drawing/2014/main" id="{CB80B1C8-04FC-BBB9-6FEA-4C6AF9EC30B6}"/>
              </a:ext>
            </a:extLst>
          </p:cNvPr>
          <p:cNvSpPr txBox="1"/>
          <p:nvPr/>
        </p:nvSpPr>
        <p:spPr>
          <a:xfrm>
            <a:off x="540361" y="857026"/>
            <a:ext cx="1160682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tos"/>
                <a:ea typeface="Calibri"/>
                <a:cs typeface="Calibri"/>
              </a:rPr>
              <a:t>A query is one or more target genes with optional exclusions, disease and flag filters</a:t>
            </a:r>
            <a:br>
              <a:rPr lang="en-US" sz="1600">
                <a:latin typeface="Aptos"/>
                <a:ea typeface="Calibri"/>
                <a:cs typeface="Calibri"/>
              </a:rPr>
            </a:br>
            <a:r>
              <a:rPr lang="en-US" sz="1600">
                <a:latin typeface="Aptos"/>
                <a:ea typeface="Calibri"/>
                <a:cs typeface="Calibri"/>
              </a:rPr>
              <a:t>we have performed three validation queries to confirm the ranking and verify if it tracks real target biology.</a:t>
            </a:r>
            <a:endParaRPr lang="en-US" sz="1600">
              <a:latin typeface="Aptos"/>
            </a:endParaRPr>
          </a:p>
        </p:txBody>
      </p:sp>
      <p:sp>
        <p:nvSpPr>
          <p:cNvPr id="4" name="TextBox 3">
            <a:extLst>
              <a:ext uri="{FF2B5EF4-FFF2-40B4-BE49-F238E27FC236}">
                <a16:creationId xmlns:a16="http://schemas.microsoft.com/office/drawing/2014/main" id="{301EBE15-397C-3423-B511-DB34893F109C}"/>
              </a:ext>
            </a:extLst>
          </p:cNvPr>
          <p:cNvSpPr txBox="1"/>
          <p:nvPr/>
        </p:nvSpPr>
        <p:spPr>
          <a:xfrm>
            <a:off x="538247" y="1738954"/>
            <a:ext cx="663838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Aptos"/>
                <a:ea typeface="Calibri"/>
                <a:cs typeface="Calibri"/>
              </a:rPr>
              <a:t>CONSTRUCTING A QUERY</a:t>
            </a:r>
            <a:endParaRPr lang="en-US" sz="2000">
              <a:latin typeface="Aptos"/>
            </a:endParaRPr>
          </a:p>
        </p:txBody>
      </p:sp>
      <p:sp>
        <p:nvSpPr>
          <p:cNvPr id="5" name="TextBox 4">
            <a:extLst>
              <a:ext uri="{FF2B5EF4-FFF2-40B4-BE49-F238E27FC236}">
                <a16:creationId xmlns:a16="http://schemas.microsoft.com/office/drawing/2014/main" id="{A172ECAE-5F8D-3C4D-FF5F-1BF211F240C2}"/>
              </a:ext>
            </a:extLst>
          </p:cNvPr>
          <p:cNvSpPr txBox="1"/>
          <p:nvPr/>
        </p:nvSpPr>
        <p:spPr>
          <a:xfrm>
            <a:off x="703861" y="2452212"/>
            <a:ext cx="7148269" cy="11076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latin typeface="Aptos"/>
                <a:ea typeface="Calibri"/>
                <a:cs typeface="Calibri"/>
              </a:rPr>
              <a:t>Target &amp; exclusion genes drawn from 19,900 protein-coding symbols</a:t>
            </a:r>
            <a:endParaRPr lang="en-US" sz="1600">
              <a:latin typeface="Aptos"/>
            </a:endParaRPr>
          </a:p>
          <a:p>
            <a:pPr marL="285750" indent="-285750">
              <a:buFont typeface="Arial"/>
              <a:buChar char="•"/>
            </a:pPr>
            <a:r>
              <a:rPr lang="en-US" sz="1600">
                <a:latin typeface="Aptos"/>
                <a:ea typeface="Calibri"/>
                <a:cs typeface="Calibri"/>
              </a:rPr>
              <a:t>Optional disease filter and 3-state mutation / fusion filters</a:t>
            </a:r>
            <a:endParaRPr lang="en-US" sz="1600">
              <a:latin typeface="Aptos"/>
            </a:endParaRPr>
          </a:p>
          <a:p>
            <a:pPr marL="285750" indent="-285750">
              <a:buFont typeface="Arial"/>
              <a:buChar char="•"/>
            </a:pPr>
            <a:r>
              <a:rPr lang="en-US" sz="1600">
                <a:latin typeface="Aptos"/>
                <a:ea typeface="Calibri"/>
                <a:cs typeface="Calibri"/>
              </a:rPr>
              <a:t>Empty targets, or a gene in both target and exclusion sets, are blocked</a:t>
            </a:r>
            <a:endParaRPr lang="en-US" sz="1600">
              <a:latin typeface="Aptos"/>
            </a:endParaRPr>
          </a:p>
          <a:p>
            <a:pPr marL="285750" indent="-285750">
              <a:buFont typeface="Arial"/>
              <a:buChar char="•"/>
            </a:pPr>
            <a:r>
              <a:rPr lang="en-US" sz="1600">
                <a:latin typeface="Aptos"/>
                <a:ea typeface="Calibri"/>
                <a:cs typeface="Calibri"/>
              </a:rPr>
              <a:t>Filters change what is shown, never the scores (full-population scoring)</a:t>
            </a:r>
            <a:endParaRPr lang="en-US" sz="1600">
              <a:latin typeface="Aptos"/>
            </a:endParaRPr>
          </a:p>
        </p:txBody>
      </p:sp>
      <p:sp>
        <p:nvSpPr>
          <p:cNvPr id="6" name="TextBox 5">
            <a:extLst>
              <a:ext uri="{FF2B5EF4-FFF2-40B4-BE49-F238E27FC236}">
                <a16:creationId xmlns:a16="http://schemas.microsoft.com/office/drawing/2014/main" id="{44549BC5-F3D2-6D04-1DAE-9084870A96EC}"/>
              </a:ext>
            </a:extLst>
          </p:cNvPr>
          <p:cNvSpPr txBox="1"/>
          <p:nvPr/>
        </p:nvSpPr>
        <p:spPr>
          <a:xfrm>
            <a:off x="700807" y="3882714"/>
            <a:ext cx="663838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Aptos"/>
                <a:ea typeface="Calibri"/>
                <a:cs typeface="Calibri"/>
              </a:rPr>
              <a:t>VALIDATION OF QUERY</a:t>
            </a:r>
            <a:endParaRPr lang="en-US" sz="2000">
              <a:latin typeface="Aptos"/>
            </a:endParaRPr>
          </a:p>
        </p:txBody>
      </p:sp>
      <p:sp>
        <p:nvSpPr>
          <p:cNvPr id="8" name="TextBox 7">
            <a:extLst>
              <a:ext uri="{FF2B5EF4-FFF2-40B4-BE49-F238E27FC236}">
                <a16:creationId xmlns:a16="http://schemas.microsoft.com/office/drawing/2014/main" id="{ED0F5F6B-2E49-EA50-9B5B-9927F73CB3A9}"/>
              </a:ext>
            </a:extLst>
          </p:cNvPr>
          <p:cNvSpPr txBox="1"/>
          <p:nvPr/>
        </p:nvSpPr>
        <p:spPr>
          <a:xfrm>
            <a:off x="703861" y="4433412"/>
            <a:ext cx="7148269"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latin typeface="Aptos"/>
                <a:ea typeface="Calibri"/>
                <a:cs typeface="Calibri"/>
              </a:rPr>
              <a:t>EGFR :-  lung &amp; head-and-neck lines recovered with HCC827 taking the lead (0.719)</a:t>
            </a:r>
            <a:endParaRPr lang="en-US" sz="1600">
              <a:latin typeface="Aptos"/>
            </a:endParaRPr>
          </a:p>
          <a:p>
            <a:pPr marL="285750" indent="-285750">
              <a:buFont typeface="Arial"/>
              <a:buChar char="•"/>
            </a:pPr>
            <a:r>
              <a:rPr lang="en-US" sz="1600">
                <a:latin typeface="Aptos"/>
                <a:ea typeface="Calibri"/>
                <a:cs typeface="Calibri"/>
              </a:rPr>
              <a:t>ERBB2:-  HER2-amplified breast/</a:t>
            </a:r>
            <a:r>
              <a:rPr lang="en-US" sz="1600" err="1">
                <a:latin typeface="Aptos"/>
                <a:ea typeface="Calibri"/>
                <a:cs typeface="Calibri"/>
              </a:rPr>
              <a:t>oesophageal</a:t>
            </a:r>
            <a:r>
              <a:rPr lang="en-US" sz="1600">
                <a:latin typeface="Aptos"/>
                <a:ea typeface="Calibri"/>
                <a:cs typeface="Calibri"/>
              </a:rPr>
              <a:t> lines with EFM-192A taking the lead (0.871)</a:t>
            </a:r>
            <a:endParaRPr lang="en-US" sz="1600">
              <a:latin typeface="Aptos"/>
            </a:endParaRPr>
          </a:p>
          <a:p>
            <a:pPr marL="285750" indent="-285750">
              <a:buFont typeface="Arial"/>
              <a:buChar char="•"/>
            </a:pPr>
            <a:r>
              <a:rPr lang="en-US" sz="1600">
                <a:latin typeface="Aptos"/>
                <a:ea typeface="Calibri"/>
                <a:cs typeface="Calibri"/>
              </a:rPr>
              <a:t>ERBB2 with CD86 exclusion:- scores fall due to exclusion, EFM-19 takes the lead (0.404)</a:t>
            </a:r>
          </a:p>
          <a:p>
            <a:endParaRPr lang="en-US" sz="1600">
              <a:latin typeface="Aptos"/>
              <a:ea typeface="Calibri"/>
              <a:cs typeface="Calibri"/>
            </a:endParaRPr>
          </a:p>
        </p:txBody>
      </p:sp>
      <p:graphicFrame>
        <p:nvGraphicFramePr>
          <p:cNvPr id="22" name="Table 21">
            <a:extLst>
              <a:ext uri="{FF2B5EF4-FFF2-40B4-BE49-F238E27FC236}">
                <a16:creationId xmlns:a16="http://schemas.microsoft.com/office/drawing/2014/main" id="{63F392CC-9EE5-D84D-7B06-63669B52F670}"/>
              </a:ext>
            </a:extLst>
          </p:cNvPr>
          <p:cNvGraphicFramePr>
            <a:graphicFrameLocks noGrp="1"/>
          </p:cNvGraphicFramePr>
          <p:nvPr>
            <p:extLst>
              <p:ext uri="{D42A27DB-BD31-4B8C-83A1-F6EECF244321}">
                <p14:modId xmlns:p14="http://schemas.microsoft.com/office/powerpoint/2010/main" val="146520602"/>
              </p:ext>
            </p:extLst>
          </p:nvPr>
        </p:nvGraphicFramePr>
        <p:xfrm>
          <a:off x="7599680" y="2143760"/>
          <a:ext cx="4358298" cy="2139956"/>
        </p:xfrm>
        <a:graphic>
          <a:graphicData uri="http://schemas.openxmlformats.org/drawingml/2006/table">
            <a:tbl>
              <a:tblPr firstRow="1" bandRow="1">
                <a:tableStyleId>{5C22544A-7EE6-4342-B048-85BDC9FD1C3A}</a:tableStyleId>
              </a:tblPr>
              <a:tblGrid>
                <a:gridCol w="507798">
                  <a:extLst>
                    <a:ext uri="{9D8B030D-6E8A-4147-A177-3AD203B41FA5}">
                      <a16:colId xmlns:a16="http://schemas.microsoft.com/office/drawing/2014/main" val="3249158507"/>
                    </a:ext>
                  </a:extLst>
                </a:gridCol>
                <a:gridCol w="1236948">
                  <a:extLst>
                    <a:ext uri="{9D8B030D-6E8A-4147-A177-3AD203B41FA5}">
                      <a16:colId xmlns:a16="http://schemas.microsoft.com/office/drawing/2014/main" val="3823647979"/>
                    </a:ext>
                  </a:extLst>
                </a:gridCol>
                <a:gridCol w="1523977">
                  <a:extLst>
                    <a:ext uri="{9D8B030D-6E8A-4147-A177-3AD203B41FA5}">
                      <a16:colId xmlns:a16="http://schemas.microsoft.com/office/drawing/2014/main" val="1350472463"/>
                    </a:ext>
                  </a:extLst>
                </a:gridCol>
                <a:gridCol w="1089575">
                  <a:extLst>
                    <a:ext uri="{9D8B030D-6E8A-4147-A177-3AD203B41FA5}">
                      <a16:colId xmlns:a16="http://schemas.microsoft.com/office/drawing/2014/main" val="398824594"/>
                    </a:ext>
                  </a:extLst>
                </a:gridCol>
              </a:tblGrid>
              <a:tr h="305708">
                <a:tc>
                  <a:txBody>
                    <a:bodyPr/>
                    <a:lstStyle/>
                    <a:p>
                      <a:pPr algn="ctr" rtl="0">
                        <a:buNone/>
                      </a:pPr>
                      <a:r>
                        <a:rPr lang="en-US">
                          <a:effectLst/>
                        </a:rPr>
                        <a:t>#</a:t>
                      </a:r>
                    </a:p>
                  </a:txBody>
                  <a:tcPr marL="0" marR="0" marT="0" marB="0" anchor="ctr">
                    <a:lnL>
                      <a:noFill/>
                    </a:lnL>
                    <a:lnR>
                      <a:noFill/>
                    </a:lnR>
                    <a:lnT>
                      <a:noFill/>
                    </a:lnT>
                    <a:lnB>
                      <a:noFill/>
                    </a:lnB>
                    <a:solidFill>
                      <a:srgbClr val="156082"/>
                    </a:solidFill>
                  </a:tcPr>
                </a:tc>
                <a:tc>
                  <a:txBody>
                    <a:bodyPr/>
                    <a:lstStyle/>
                    <a:p>
                      <a:pPr algn="ctr" rtl="0">
                        <a:buNone/>
                      </a:pPr>
                      <a:r>
                        <a:rPr lang="en-US">
                          <a:effectLst/>
                        </a:rPr>
                        <a:t>Cell line</a:t>
                      </a:r>
                    </a:p>
                  </a:txBody>
                  <a:tcPr marL="0" marR="0" marT="0" marB="0" anchor="ctr">
                    <a:lnL>
                      <a:noFill/>
                    </a:lnL>
                    <a:lnR>
                      <a:noFill/>
                    </a:lnR>
                    <a:lnT>
                      <a:noFill/>
                    </a:lnT>
                    <a:lnB>
                      <a:noFill/>
                    </a:lnB>
                    <a:solidFill>
                      <a:srgbClr val="156082"/>
                    </a:solidFill>
                  </a:tcPr>
                </a:tc>
                <a:tc>
                  <a:txBody>
                    <a:bodyPr/>
                    <a:lstStyle/>
                    <a:p>
                      <a:pPr algn="ctr" rtl="0">
                        <a:buNone/>
                      </a:pPr>
                      <a:r>
                        <a:rPr lang="en-US">
                          <a:effectLst/>
                        </a:rPr>
                        <a:t>Disease</a:t>
                      </a:r>
                    </a:p>
                  </a:txBody>
                  <a:tcPr marL="0" marR="0" marT="0" marB="0" anchor="ctr">
                    <a:lnL>
                      <a:noFill/>
                    </a:lnL>
                    <a:lnR>
                      <a:noFill/>
                    </a:lnR>
                    <a:lnT>
                      <a:noFill/>
                    </a:lnT>
                    <a:lnB>
                      <a:noFill/>
                    </a:lnB>
                    <a:solidFill>
                      <a:srgbClr val="156082"/>
                    </a:solidFill>
                  </a:tcPr>
                </a:tc>
                <a:tc>
                  <a:txBody>
                    <a:bodyPr/>
                    <a:lstStyle/>
                    <a:p>
                      <a:pPr algn="ctr" rtl="0">
                        <a:buNone/>
                      </a:pPr>
                      <a:r>
                        <a:rPr lang="en-US">
                          <a:effectLst/>
                        </a:rPr>
                        <a:t>Score</a:t>
                      </a:r>
                    </a:p>
                  </a:txBody>
                  <a:tcPr marL="0" marR="0" marT="0" marB="0" anchor="ctr">
                    <a:lnL>
                      <a:noFill/>
                    </a:lnL>
                    <a:lnR>
                      <a:noFill/>
                    </a:lnR>
                    <a:lnT>
                      <a:noFill/>
                    </a:lnT>
                    <a:lnB>
                      <a:noFill/>
                    </a:lnB>
                    <a:solidFill>
                      <a:srgbClr val="156082"/>
                    </a:solidFill>
                  </a:tcPr>
                </a:tc>
                <a:extLst>
                  <a:ext uri="{0D108BD9-81ED-4DB2-BD59-A6C34878D82A}">
                    <a16:rowId xmlns:a16="http://schemas.microsoft.com/office/drawing/2014/main" val="2519512157"/>
                  </a:ext>
                </a:extLst>
              </a:tr>
              <a:tr h="305708">
                <a:tc>
                  <a:txBody>
                    <a:bodyPr/>
                    <a:lstStyle/>
                    <a:p>
                      <a:pPr algn="ctr" rtl="0">
                        <a:buNone/>
                      </a:pPr>
                      <a:r>
                        <a:rPr lang="en-US">
                          <a:effectLst/>
                        </a:rPr>
                        <a:t>1</a:t>
                      </a:r>
                    </a:p>
                  </a:txBody>
                  <a:tcPr marL="0" marR="0" marT="0" marB="0" anchor="ctr">
                    <a:lnL>
                      <a:noFill/>
                    </a:lnL>
                    <a:lnR>
                      <a:noFill/>
                    </a:lnR>
                    <a:lnT>
                      <a:noFill/>
                    </a:lnT>
                    <a:lnB>
                      <a:noFill/>
                    </a:lnB>
                    <a:solidFill>
                      <a:srgbClr val="CCD2D8"/>
                    </a:solidFill>
                  </a:tcPr>
                </a:tc>
                <a:tc>
                  <a:txBody>
                    <a:bodyPr/>
                    <a:lstStyle/>
                    <a:p>
                      <a:pPr algn="ctr" rtl="0">
                        <a:buNone/>
                      </a:pPr>
                      <a:r>
                        <a:rPr lang="en-US">
                          <a:effectLst/>
                        </a:rPr>
                        <a:t>HCC827</a:t>
                      </a:r>
                    </a:p>
                  </a:txBody>
                  <a:tcPr marL="0" marR="0" marT="0" marB="0" anchor="ctr">
                    <a:lnL>
                      <a:noFill/>
                    </a:lnL>
                    <a:lnR>
                      <a:noFill/>
                    </a:lnR>
                    <a:lnT>
                      <a:noFill/>
                    </a:lnT>
                    <a:lnB>
                      <a:noFill/>
                    </a:lnB>
                    <a:solidFill>
                      <a:srgbClr val="CCD2D8"/>
                    </a:solidFill>
                  </a:tcPr>
                </a:tc>
                <a:tc>
                  <a:txBody>
                    <a:bodyPr/>
                    <a:lstStyle/>
                    <a:p>
                      <a:pPr algn="ctr" rtl="0">
                        <a:buNone/>
                      </a:pPr>
                      <a:r>
                        <a:rPr lang="en-US">
                          <a:effectLst/>
                        </a:rPr>
                        <a:t>Lung</a:t>
                      </a:r>
                    </a:p>
                  </a:txBody>
                  <a:tcPr marL="0" marR="0" marT="0" marB="0" anchor="ctr">
                    <a:lnL>
                      <a:noFill/>
                    </a:lnL>
                    <a:lnR>
                      <a:noFill/>
                    </a:lnR>
                    <a:lnT>
                      <a:noFill/>
                    </a:lnT>
                    <a:lnB>
                      <a:noFill/>
                    </a:lnB>
                    <a:solidFill>
                      <a:srgbClr val="CCD2D8"/>
                    </a:solidFill>
                  </a:tcPr>
                </a:tc>
                <a:tc>
                  <a:txBody>
                    <a:bodyPr/>
                    <a:lstStyle/>
                    <a:p>
                      <a:pPr algn="ctr" rtl="0">
                        <a:buNone/>
                      </a:pPr>
                      <a:r>
                        <a:rPr lang="en-US">
                          <a:effectLst/>
                        </a:rPr>
                        <a:t>0.719</a:t>
                      </a:r>
                    </a:p>
                  </a:txBody>
                  <a:tcPr marL="0" marR="0" marT="0" marB="0" anchor="ctr">
                    <a:lnL>
                      <a:noFill/>
                    </a:lnL>
                    <a:lnR>
                      <a:noFill/>
                    </a:lnR>
                    <a:lnT>
                      <a:noFill/>
                    </a:lnT>
                    <a:lnB>
                      <a:noFill/>
                    </a:lnB>
                    <a:solidFill>
                      <a:srgbClr val="CCD2D8"/>
                    </a:solidFill>
                  </a:tcPr>
                </a:tc>
                <a:extLst>
                  <a:ext uri="{0D108BD9-81ED-4DB2-BD59-A6C34878D82A}">
                    <a16:rowId xmlns:a16="http://schemas.microsoft.com/office/drawing/2014/main" val="2624373583"/>
                  </a:ext>
                </a:extLst>
              </a:tr>
              <a:tr h="305708">
                <a:tc>
                  <a:txBody>
                    <a:bodyPr/>
                    <a:lstStyle/>
                    <a:p>
                      <a:pPr algn="ctr" rtl="0">
                        <a:buNone/>
                      </a:pPr>
                      <a:r>
                        <a:rPr lang="en-US">
                          <a:effectLst/>
                        </a:rPr>
                        <a:t>2</a:t>
                      </a:r>
                    </a:p>
                  </a:txBody>
                  <a:tcPr marL="0" marR="0" marT="0" marB="0" anchor="ctr">
                    <a:lnL>
                      <a:noFill/>
                    </a:lnL>
                    <a:lnR>
                      <a:noFill/>
                    </a:lnR>
                    <a:lnT>
                      <a:noFill/>
                    </a:lnT>
                    <a:lnB>
                      <a:noFill/>
                    </a:lnB>
                  </a:tcPr>
                </a:tc>
                <a:tc>
                  <a:txBody>
                    <a:bodyPr/>
                    <a:lstStyle/>
                    <a:p>
                      <a:pPr algn="ctr" rtl="0">
                        <a:buNone/>
                      </a:pPr>
                      <a:r>
                        <a:rPr lang="en-US">
                          <a:effectLst/>
                        </a:rPr>
                        <a:t>U-BLC1</a:t>
                      </a:r>
                    </a:p>
                  </a:txBody>
                  <a:tcPr marL="0" marR="0" marT="0" marB="0" anchor="ctr">
                    <a:lnL>
                      <a:noFill/>
                    </a:lnL>
                    <a:lnR>
                      <a:noFill/>
                    </a:lnR>
                    <a:lnT>
                      <a:noFill/>
                    </a:lnT>
                    <a:lnB>
                      <a:noFill/>
                    </a:lnB>
                  </a:tcPr>
                </a:tc>
                <a:tc>
                  <a:txBody>
                    <a:bodyPr/>
                    <a:lstStyle/>
                    <a:p>
                      <a:pPr algn="ctr" rtl="0">
                        <a:buNone/>
                      </a:pPr>
                      <a:r>
                        <a:rPr lang="en-US">
                          <a:effectLst/>
                        </a:rPr>
                        <a:t>Bladder</a:t>
                      </a:r>
                    </a:p>
                  </a:txBody>
                  <a:tcPr marL="0" marR="0" marT="0" marB="0" anchor="ctr">
                    <a:lnL>
                      <a:noFill/>
                    </a:lnL>
                    <a:lnR>
                      <a:noFill/>
                    </a:lnR>
                    <a:lnT>
                      <a:noFill/>
                    </a:lnT>
                    <a:lnB>
                      <a:noFill/>
                    </a:lnB>
                  </a:tcPr>
                </a:tc>
                <a:tc>
                  <a:txBody>
                    <a:bodyPr/>
                    <a:lstStyle/>
                    <a:p>
                      <a:pPr algn="ctr" rtl="0">
                        <a:buNone/>
                      </a:pPr>
                      <a:r>
                        <a:rPr lang="en-US">
                          <a:effectLst/>
                        </a:rPr>
                        <a:t>0.664</a:t>
                      </a:r>
                    </a:p>
                  </a:txBody>
                  <a:tcPr marL="0" marR="0" marT="0" marB="0" anchor="ctr">
                    <a:lnL>
                      <a:noFill/>
                    </a:lnL>
                    <a:lnR>
                      <a:noFill/>
                    </a:lnR>
                    <a:lnT>
                      <a:noFill/>
                    </a:lnT>
                    <a:lnB>
                      <a:noFill/>
                    </a:lnB>
                  </a:tcPr>
                </a:tc>
                <a:extLst>
                  <a:ext uri="{0D108BD9-81ED-4DB2-BD59-A6C34878D82A}">
                    <a16:rowId xmlns:a16="http://schemas.microsoft.com/office/drawing/2014/main" val="3566581633"/>
                  </a:ext>
                </a:extLst>
              </a:tr>
              <a:tr h="458562">
                <a:tc>
                  <a:txBody>
                    <a:bodyPr/>
                    <a:lstStyle/>
                    <a:p>
                      <a:pPr marL="0" algn="ctr" defTabSz="914400" rtl="0" eaLnBrk="1" latinLnBrk="0" hangingPunct="1">
                        <a:buNone/>
                      </a:pPr>
                      <a:r>
                        <a:rPr lang="en-US">
                          <a:effectLst/>
                        </a:rPr>
                        <a:t>3</a:t>
                      </a:r>
                    </a:p>
                  </a:txBody>
                  <a:tcPr marL="0" marR="0" marT="0" marB="0" anchor="ctr">
                    <a:lnL>
                      <a:noFill/>
                    </a:lnL>
                    <a:lnR>
                      <a:noFill/>
                    </a:lnR>
                    <a:lnT>
                      <a:noFill/>
                    </a:lnT>
                    <a:lnB>
                      <a:noFill/>
                    </a:lnB>
                    <a:solidFill>
                      <a:srgbClr val="CCD2D8"/>
                    </a:solidFill>
                  </a:tcPr>
                </a:tc>
                <a:tc>
                  <a:txBody>
                    <a:bodyPr/>
                    <a:lstStyle/>
                    <a:p>
                      <a:pPr marL="0" algn="ctr" defTabSz="914400" rtl="0" eaLnBrk="1" latinLnBrk="0" hangingPunct="1">
                        <a:buNone/>
                      </a:pPr>
                      <a:r>
                        <a:rPr lang="en-US">
                          <a:effectLst/>
                        </a:rPr>
                        <a:t>CAL 27</a:t>
                      </a:r>
                    </a:p>
                  </a:txBody>
                  <a:tcPr marL="0" marR="0" marT="0" marB="0" anchor="ctr">
                    <a:lnL>
                      <a:noFill/>
                    </a:lnL>
                    <a:lnR>
                      <a:noFill/>
                    </a:lnR>
                    <a:lnT>
                      <a:noFill/>
                    </a:lnT>
                    <a:lnB>
                      <a:noFill/>
                    </a:lnB>
                    <a:solidFill>
                      <a:srgbClr val="CCD2D8"/>
                    </a:solidFill>
                  </a:tcPr>
                </a:tc>
                <a:tc>
                  <a:txBody>
                    <a:bodyPr/>
                    <a:lstStyle/>
                    <a:p>
                      <a:pPr marL="0" algn="ctr" defTabSz="914400" rtl="0" eaLnBrk="1" latinLnBrk="0" hangingPunct="1">
                        <a:buNone/>
                      </a:pPr>
                      <a:r>
                        <a:rPr lang="en-US">
                          <a:effectLst/>
                        </a:rPr>
                        <a:t>Head &amp; Neck</a:t>
                      </a:r>
                    </a:p>
                  </a:txBody>
                  <a:tcPr marL="0" marR="0" marT="0" marB="0" anchor="ctr">
                    <a:lnL>
                      <a:noFill/>
                    </a:lnL>
                    <a:lnR>
                      <a:noFill/>
                    </a:lnR>
                    <a:lnT>
                      <a:noFill/>
                    </a:lnT>
                    <a:lnB>
                      <a:noFill/>
                    </a:lnB>
                    <a:solidFill>
                      <a:srgbClr val="CCD2D8"/>
                    </a:solidFill>
                  </a:tcPr>
                </a:tc>
                <a:tc>
                  <a:txBody>
                    <a:bodyPr/>
                    <a:lstStyle/>
                    <a:p>
                      <a:pPr marL="0" algn="ctr" defTabSz="914400" rtl="0" eaLnBrk="1" latinLnBrk="0" hangingPunct="1">
                        <a:buNone/>
                      </a:pPr>
                      <a:r>
                        <a:rPr lang="en-US">
                          <a:effectLst/>
                        </a:rPr>
                        <a:t>0.646</a:t>
                      </a:r>
                    </a:p>
                  </a:txBody>
                  <a:tcPr marL="0" marR="0" marT="0" marB="0" anchor="ctr">
                    <a:lnL>
                      <a:noFill/>
                    </a:lnL>
                    <a:lnR>
                      <a:noFill/>
                    </a:lnR>
                    <a:lnT>
                      <a:noFill/>
                    </a:lnT>
                    <a:lnB>
                      <a:noFill/>
                    </a:lnB>
                    <a:solidFill>
                      <a:srgbClr val="CCD2D8"/>
                    </a:solidFill>
                  </a:tcPr>
                </a:tc>
                <a:extLst>
                  <a:ext uri="{0D108BD9-81ED-4DB2-BD59-A6C34878D82A}">
                    <a16:rowId xmlns:a16="http://schemas.microsoft.com/office/drawing/2014/main" val="2150767796"/>
                  </a:ext>
                </a:extLst>
              </a:tr>
              <a:tr h="305708">
                <a:tc>
                  <a:txBody>
                    <a:bodyPr/>
                    <a:lstStyle/>
                    <a:p>
                      <a:pPr marL="0" algn="ctr" defTabSz="914400" rtl="0" eaLnBrk="1" latinLnBrk="0" hangingPunct="1">
                        <a:buNone/>
                      </a:pPr>
                      <a:r>
                        <a:rPr lang="en-US">
                          <a:effectLst/>
                        </a:rPr>
                        <a:t>4</a:t>
                      </a:r>
                    </a:p>
                  </a:txBody>
                  <a:tcPr marL="0" marR="0" marT="0" marB="0" anchor="ctr">
                    <a:lnL>
                      <a:noFill/>
                    </a:lnL>
                    <a:lnR>
                      <a:noFill/>
                    </a:lnR>
                    <a:lnT>
                      <a:noFill/>
                    </a:lnT>
                    <a:lnB>
                      <a:noFill/>
                    </a:lnB>
                  </a:tcPr>
                </a:tc>
                <a:tc>
                  <a:txBody>
                    <a:bodyPr/>
                    <a:lstStyle/>
                    <a:p>
                      <a:pPr marL="0" algn="ctr" defTabSz="914400" rtl="0" eaLnBrk="1" latinLnBrk="0" hangingPunct="1">
                        <a:buNone/>
                      </a:pPr>
                      <a:r>
                        <a:rPr lang="en-US">
                          <a:effectLst/>
                        </a:rPr>
                        <a:t>NCI-H292</a:t>
                      </a:r>
                    </a:p>
                  </a:txBody>
                  <a:tcPr marL="0" marR="0" marT="0" marB="0" anchor="ctr">
                    <a:lnL>
                      <a:noFill/>
                    </a:lnL>
                    <a:lnR>
                      <a:noFill/>
                    </a:lnR>
                    <a:lnT>
                      <a:noFill/>
                    </a:lnT>
                    <a:lnB>
                      <a:noFill/>
                    </a:lnB>
                  </a:tcPr>
                </a:tc>
                <a:tc>
                  <a:txBody>
                    <a:bodyPr/>
                    <a:lstStyle/>
                    <a:p>
                      <a:pPr marL="0" algn="ctr" defTabSz="914400" rtl="0" eaLnBrk="1" latinLnBrk="0" hangingPunct="1">
                        <a:buNone/>
                      </a:pPr>
                      <a:r>
                        <a:rPr lang="en-US">
                          <a:effectLst/>
                        </a:rPr>
                        <a:t>Lung</a:t>
                      </a:r>
                    </a:p>
                  </a:txBody>
                  <a:tcPr marL="0" marR="0" marT="0" marB="0" anchor="ctr">
                    <a:lnL>
                      <a:noFill/>
                    </a:lnL>
                    <a:lnR>
                      <a:noFill/>
                    </a:lnR>
                    <a:lnT>
                      <a:noFill/>
                    </a:lnT>
                    <a:lnB>
                      <a:noFill/>
                    </a:lnB>
                  </a:tcPr>
                </a:tc>
                <a:tc>
                  <a:txBody>
                    <a:bodyPr/>
                    <a:lstStyle/>
                    <a:p>
                      <a:pPr marL="0" algn="ctr" defTabSz="914400" rtl="0" eaLnBrk="1" latinLnBrk="0" hangingPunct="1">
                        <a:buNone/>
                      </a:pPr>
                      <a:r>
                        <a:rPr lang="en-US">
                          <a:effectLst/>
                        </a:rPr>
                        <a:t>0.622</a:t>
                      </a:r>
                    </a:p>
                  </a:txBody>
                  <a:tcPr marL="0" marR="0" marT="0" marB="0" anchor="ctr">
                    <a:lnL>
                      <a:noFill/>
                    </a:lnL>
                    <a:lnR>
                      <a:noFill/>
                    </a:lnR>
                    <a:lnT>
                      <a:noFill/>
                    </a:lnT>
                    <a:lnB>
                      <a:noFill/>
                    </a:lnB>
                  </a:tcPr>
                </a:tc>
                <a:extLst>
                  <a:ext uri="{0D108BD9-81ED-4DB2-BD59-A6C34878D82A}">
                    <a16:rowId xmlns:a16="http://schemas.microsoft.com/office/drawing/2014/main" val="1948365852"/>
                  </a:ext>
                </a:extLst>
              </a:tr>
              <a:tr h="458562">
                <a:tc>
                  <a:txBody>
                    <a:bodyPr/>
                    <a:lstStyle/>
                    <a:p>
                      <a:pPr marL="0" algn="ctr" defTabSz="914400" rtl="0" eaLnBrk="1" latinLnBrk="0" hangingPunct="1">
                        <a:buNone/>
                      </a:pPr>
                      <a:r>
                        <a:rPr lang="en-US">
                          <a:effectLst/>
                        </a:rPr>
                        <a:t>5</a:t>
                      </a:r>
                    </a:p>
                  </a:txBody>
                  <a:tcPr marL="0" marR="0" marT="0" marB="0" anchor="ctr">
                    <a:lnL>
                      <a:noFill/>
                    </a:lnL>
                    <a:lnR>
                      <a:noFill/>
                    </a:lnR>
                    <a:lnT>
                      <a:noFill/>
                    </a:lnT>
                    <a:lnB>
                      <a:noFill/>
                    </a:lnB>
                    <a:solidFill>
                      <a:srgbClr val="CCD2D8"/>
                    </a:solidFill>
                  </a:tcPr>
                </a:tc>
                <a:tc>
                  <a:txBody>
                    <a:bodyPr/>
                    <a:lstStyle/>
                    <a:p>
                      <a:pPr marL="0" algn="ctr" defTabSz="914400" rtl="0" eaLnBrk="1" latinLnBrk="0" hangingPunct="1">
                        <a:buNone/>
                      </a:pPr>
                      <a:r>
                        <a:rPr lang="en-US">
                          <a:effectLst/>
                        </a:rPr>
                        <a:t>KYSE-150</a:t>
                      </a:r>
                    </a:p>
                  </a:txBody>
                  <a:tcPr marL="0" marR="0" marT="0" marB="0" anchor="ctr">
                    <a:lnL>
                      <a:noFill/>
                    </a:lnL>
                    <a:lnR>
                      <a:noFill/>
                    </a:lnR>
                    <a:lnT>
                      <a:noFill/>
                    </a:lnT>
                    <a:lnB>
                      <a:noFill/>
                    </a:lnB>
                    <a:solidFill>
                      <a:srgbClr val="CCD2D8"/>
                    </a:solidFill>
                  </a:tcPr>
                </a:tc>
                <a:tc>
                  <a:txBody>
                    <a:bodyPr/>
                    <a:lstStyle/>
                    <a:p>
                      <a:pPr marL="0" algn="ctr" defTabSz="914400" rtl="0" eaLnBrk="1" latinLnBrk="0" hangingPunct="1">
                        <a:buNone/>
                      </a:pPr>
                      <a:r>
                        <a:rPr lang="en-US">
                          <a:effectLst/>
                        </a:rPr>
                        <a:t>Esophageal</a:t>
                      </a:r>
                    </a:p>
                  </a:txBody>
                  <a:tcPr marL="0" marR="0" marT="0" marB="0" anchor="ctr">
                    <a:lnL>
                      <a:noFill/>
                    </a:lnL>
                    <a:lnR>
                      <a:noFill/>
                    </a:lnR>
                    <a:lnT>
                      <a:noFill/>
                    </a:lnT>
                    <a:lnB>
                      <a:noFill/>
                    </a:lnB>
                    <a:solidFill>
                      <a:srgbClr val="CCD2D8"/>
                    </a:solidFill>
                  </a:tcPr>
                </a:tc>
                <a:tc>
                  <a:txBody>
                    <a:bodyPr/>
                    <a:lstStyle/>
                    <a:p>
                      <a:pPr marL="0" algn="ctr" defTabSz="914400" rtl="0" eaLnBrk="1" latinLnBrk="0" hangingPunct="1">
                        <a:buNone/>
                      </a:pPr>
                      <a:r>
                        <a:rPr lang="en-US">
                          <a:effectLst/>
                        </a:rPr>
                        <a:t>0.605</a:t>
                      </a:r>
                    </a:p>
                  </a:txBody>
                  <a:tcPr marL="0" marR="0" marT="0" marB="0" anchor="ctr">
                    <a:lnL>
                      <a:noFill/>
                    </a:lnL>
                    <a:lnR>
                      <a:noFill/>
                    </a:lnR>
                    <a:lnT>
                      <a:noFill/>
                    </a:lnT>
                    <a:lnB>
                      <a:noFill/>
                    </a:lnB>
                    <a:solidFill>
                      <a:srgbClr val="CCD2D8"/>
                    </a:solidFill>
                  </a:tcPr>
                </a:tc>
                <a:extLst>
                  <a:ext uri="{0D108BD9-81ED-4DB2-BD59-A6C34878D82A}">
                    <a16:rowId xmlns:a16="http://schemas.microsoft.com/office/drawing/2014/main" val="1887134476"/>
                  </a:ext>
                </a:extLst>
              </a:tr>
            </a:tbl>
          </a:graphicData>
        </a:graphic>
      </p:graphicFrame>
      <p:sp>
        <p:nvSpPr>
          <p:cNvPr id="24" name="TextBox 23">
            <a:extLst>
              <a:ext uri="{FF2B5EF4-FFF2-40B4-BE49-F238E27FC236}">
                <a16:creationId xmlns:a16="http://schemas.microsoft.com/office/drawing/2014/main" id="{EF3A1AF5-8223-C354-4F6B-C5D2A1E4A0BF}"/>
              </a:ext>
            </a:extLst>
          </p:cNvPr>
          <p:cNvSpPr txBox="1"/>
          <p:nvPr/>
        </p:nvSpPr>
        <p:spPr>
          <a:xfrm>
            <a:off x="9113287" y="1718634"/>
            <a:ext cx="184286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latin typeface="Aptos"/>
                <a:ea typeface="Calibri"/>
                <a:cs typeface="Calibri"/>
              </a:rPr>
              <a:t>EGFR Ranking</a:t>
            </a:r>
          </a:p>
        </p:txBody>
      </p:sp>
    </p:spTree>
    <p:extLst>
      <p:ext uri="{BB962C8B-B14F-4D97-AF65-F5344CB8AC3E}">
        <p14:creationId xmlns:p14="http://schemas.microsoft.com/office/powerpoint/2010/main" val="2119347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319CA-6CCA-AA8C-B45D-69CD688D78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4A67FC-84EB-059E-013F-6E7C5FB3C114}"/>
              </a:ext>
            </a:extLst>
          </p:cNvPr>
          <p:cNvSpPr>
            <a:spLocks noGrp="1"/>
          </p:cNvSpPr>
          <p:nvPr>
            <p:ph type="title"/>
          </p:nvPr>
        </p:nvSpPr>
        <p:spPr>
          <a:xfrm>
            <a:off x="4328" y="5120"/>
            <a:ext cx="12182443" cy="686313"/>
          </a:xfrm>
        </p:spPr>
        <p:txBody>
          <a:bodyPr>
            <a:normAutofit/>
          </a:bodyPr>
          <a:lstStyle/>
          <a:p>
            <a:pPr algn="ctr"/>
            <a:r>
              <a:rPr lang="en-US" sz="3000" b="1">
                <a:latin typeface="Cambria"/>
                <a:ea typeface="Cambria"/>
                <a:cs typeface="+mj-lt"/>
              </a:rPr>
              <a:t>Limitations And Future Work</a:t>
            </a:r>
            <a:endParaRPr lang="en-US"/>
          </a:p>
        </p:txBody>
      </p:sp>
      <p:sp>
        <p:nvSpPr>
          <p:cNvPr id="7" name="TextBox 6">
            <a:extLst>
              <a:ext uri="{FF2B5EF4-FFF2-40B4-BE49-F238E27FC236}">
                <a16:creationId xmlns:a16="http://schemas.microsoft.com/office/drawing/2014/main" id="{8BAD6BF9-D504-32A2-FED0-12F33A8AC17B}"/>
              </a:ext>
            </a:extLst>
          </p:cNvPr>
          <p:cNvSpPr txBox="1"/>
          <p:nvPr/>
        </p:nvSpPr>
        <p:spPr>
          <a:xfrm>
            <a:off x="7875354" y="2466320"/>
            <a:ext cx="430662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a:p>
            <a:endParaRPr lang="en-US"/>
          </a:p>
          <a:p>
            <a:endParaRPr lang="en-US"/>
          </a:p>
          <a:p>
            <a:endParaRPr lang="en-US"/>
          </a:p>
          <a:p>
            <a:endParaRPr lang="en-US"/>
          </a:p>
          <a:p>
            <a:endParaRPr lang="en-US"/>
          </a:p>
        </p:txBody>
      </p:sp>
      <p:sp>
        <p:nvSpPr>
          <p:cNvPr id="3" name="TextBox 2">
            <a:extLst>
              <a:ext uri="{FF2B5EF4-FFF2-40B4-BE49-F238E27FC236}">
                <a16:creationId xmlns:a16="http://schemas.microsoft.com/office/drawing/2014/main" id="{59EB90DD-EE55-A054-DBA5-A242FA67C3C5}"/>
              </a:ext>
            </a:extLst>
          </p:cNvPr>
          <p:cNvSpPr txBox="1"/>
          <p:nvPr/>
        </p:nvSpPr>
        <p:spPr>
          <a:xfrm>
            <a:off x="540361" y="857026"/>
            <a:ext cx="1162714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tos"/>
                <a:ea typeface="Calibri"/>
                <a:cs typeface="Calibri"/>
              </a:rPr>
              <a:t>Validation is qualitative on a couple well-understood genes</a:t>
            </a:r>
            <a:endParaRPr lang="en-US"/>
          </a:p>
          <a:p>
            <a:r>
              <a:rPr lang="en-US" sz="1600">
                <a:latin typeface="Aptos"/>
                <a:ea typeface="Calibri"/>
                <a:cs typeface="Calibri"/>
              </a:rPr>
              <a:t>The priority next step is turning that concordance into a quantitative, benchmarked result.</a:t>
            </a:r>
            <a:endParaRPr lang="en-US"/>
          </a:p>
        </p:txBody>
      </p:sp>
      <p:sp>
        <p:nvSpPr>
          <p:cNvPr id="4" name="TextBox 3">
            <a:extLst>
              <a:ext uri="{FF2B5EF4-FFF2-40B4-BE49-F238E27FC236}">
                <a16:creationId xmlns:a16="http://schemas.microsoft.com/office/drawing/2014/main" id="{0C4332DE-0F42-E2E5-DB95-79E52B8E4807}"/>
              </a:ext>
            </a:extLst>
          </p:cNvPr>
          <p:cNvSpPr txBox="1"/>
          <p:nvPr/>
        </p:nvSpPr>
        <p:spPr>
          <a:xfrm>
            <a:off x="538247" y="1738954"/>
            <a:ext cx="663838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Aptos"/>
                <a:ea typeface="Calibri"/>
                <a:cs typeface="Calibri"/>
              </a:rPr>
              <a:t>LIMITATIONS</a:t>
            </a:r>
            <a:endParaRPr lang="en-US" sz="2000">
              <a:latin typeface="Aptos"/>
            </a:endParaRPr>
          </a:p>
        </p:txBody>
      </p:sp>
      <p:sp>
        <p:nvSpPr>
          <p:cNvPr id="5" name="TextBox 4">
            <a:extLst>
              <a:ext uri="{FF2B5EF4-FFF2-40B4-BE49-F238E27FC236}">
                <a16:creationId xmlns:a16="http://schemas.microsoft.com/office/drawing/2014/main" id="{D8F1EB9F-6EFE-B8C9-772D-3A8429918CC3}"/>
              </a:ext>
            </a:extLst>
          </p:cNvPr>
          <p:cNvSpPr txBox="1"/>
          <p:nvPr/>
        </p:nvSpPr>
        <p:spPr>
          <a:xfrm>
            <a:off x="703861" y="2452212"/>
            <a:ext cx="7148269"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latin typeface="Aptos"/>
                <a:ea typeface="Calibri"/>
                <a:cs typeface="Calibri"/>
              </a:rPr>
              <a:t>Qualitative validation on three genes with no labelled benchmark yet</a:t>
            </a:r>
            <a:endParaRPr lang="en-US" sz="1600">
              <a:latin typeface="Aptos"/>
            </a:endParaRPr>
          </a:p>
          <a:p>
            <a:pPr marL="285750" indent="-285750">
              <a:buFont typeface="Arial"/>
              <a:buChar char="•"/>
            </a:pPr>
            <a:r>
              <a:rPr lang="en-US" sz="1600">
                <a:latin typeface="Aptos"/>
                <a:ea typeface="Calibri"/>
                <a:cs typeface="Calibri"/>
              </a:rPr>
              <a:t>Cluster silhouette 0.165 gives real structure but not sharply separated</a:t>
            </a:r>
            <a:endParaRPr lang="en-US" sz="1600">
              <a:latin typeface="Aptos"/>
            </a:endParaRPr>
          </a:p>
          <a:p>
            <a:pPr marL="285750" indent="-285750">
              <a:buFont typeface="Arial"/>
              <a:buChar char="•"/>
            </a:pPr>
            <a:r>
              <a:rPr lang="en-US" sz="1600">
                <a:latin typeface="Aptos"/>
                <a:ea typeface="Calibri"/>
                <a:cs typeface="Calibri"/>
              </a:rPr>
              <a:t> </a:t>
            </a:r>
            <a:r>
              <a:rPr lang="en-US" sz="1600">
                <a:ea typeface="+mn-lt"/>
                <a:cs typeface="+mn-lt"/>
              </a:rPr>
              <a:t>Explanation fluency limited by the 3B model </a:t>
            </a:r>
            <a:endParaRPr lang="en-US" sz="1600">
              <a:latin typeface="Aptos"/>
            </a:endParaRPr>
          </a:p>
          <a:p>
            <a:pPr>
              <a:buFont typeface="Arial"/>
            </a:pPr>
            <a:endParaRPr lang="en-US" sz="1600">
              <a:latin typeface="Aptos"/>
              <a:ea typeface="Calibri"/>
              <a:cs typeface="Calibri"/>
            </a:endParaRPr>
          </a:p>
        </p:txBody>
      </p:sp>
      <p:sp>
        <p:nvSpPr>
          <p:cNvPr id="6" name="TextBox 5">
            <a:extLst>
              <a:ext uri="{FF2B5EF4-FFF2-40B4-BE49-F238E27FC236}">
                <a16:creationId xmlns:a16="http://schemas.microsoft.com/office/drawing/2014/main" id="{9677DF53-303B-D46A-196E-118B1D844B84}"/>
              </a:ext>
            </a:extLst>
          </p:cNvPr>
          <p:cNvSpPr txBox="1"/>
          <p:nvPr/>
        </p:nvSpPr>
        <p:spPr>
          <a:xfrm>
            <a:off x="700807" y="3811594"/>
            <a:ext cx="663838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Aptos"/>
                <a:ea typeface="Calibri"/>
                <a:cs typeface="Calibri"/>
              </a:rPr>
              <a:t>FUTURE WORK</a:t>
            </a:r>
            <a:endParaRPr lang="en-US" sz="2000">
              <a:latin typeface="Aptos"/>
            </a:endParaRPr>
          </a:p>
        </p:txBody>
      </p:sp>
      <p:sp>
        <p:nvSpPr>
          <p:cNvPr id="8" name="TextBox 7">
            <a:extLst>
              <a:ext uri="{FF2B5EF4-FFF2-40B4-BE49-F238E27FC236}">
                <a16:creationId xmlns:a16="http://schemas.microsoft.com/office/drawing/2014/main" id="{44AEFEAE-8F7F-BD23-6769-885D49FD9EBD}"/>
              </a:ext>
            </a:extLst>
          </p:cNvPr>
          <p:cNvSpPr txBox="1"/>
          <p:nvPr/>
        </p:nvSpPr>
        <p:spPr>
          <a:xfrm>
            <a:off x="724181" y="4595972"/>
            <a:ext cx="7148269"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latin typeface="Aptos"/>
                <a:ea typeface="Calibri"/>
                <a:cs typeface="Calibri"/>
              </a:rPr>
              <a:t>Labelled gene–line pairs that is NDCG@10 and tuning of λ, </a:t>
            </a:r>
            <a:r>
              <a:rPr lang="en-US" sz="1600" err="1">
                <a:latin typeface="Aptos"/>
                <a:ea typeface="Calibri"/>
                <a:cs typeface="Calibri"/>
              </a:rPr>
              <a:t>λ_sim</a:t>
            </a:r>
            <a:r>
              <a:rPr lang="en-US" sz="1600">
                <a:latin typeface="Aptos"/>
                <a:ea typeface="Calibri"/>
                <a:cs typeface="Calibri"/>
              </a:rPr>
              <a:t> on evidence</a:t>
            </a:r>
            <a:endParaRPr lang="en-US" sz="1600">
              <a:latin typeface="Aptos"/>
            </a:endParaRPr>
          </a:p>
          <a:p>
            <a:r>
              <a:rPr lang="en-US" sz="1600" err="1">
                <a:latin typeface="Aptos"/>
                <a:ea typeface="Calibri"/>
                <a:cs typeface="Calibri"/>
              </a:rPr>
              <a:t>Parallelise</a:t>
            </a:r>
            <a:r>
              <a:rPr lang="en-US" sz="1600">
                <a:latin typeface="Aptos"/>
                <a:ea typeface="Calibri"/>
                <a:cs typeface="Calibri"/>
              </a:rPr>
              <a:t> the per-section LLM calls that dominate query time</a:t>
            </a:r>
            <a:endParaRPr lang="en-US" sz="1600">
              <a:latin typeface="Aptos"/>
            </a:endParaRPr>
          </a:p>
          <a:p>
            <a:r>
              <a:rPr lang="en-US" sz="1600">
                <a:latin typeface="Aptos"/>
                <a:ea typeface="Calibri"/>
                <a:cs typeface="Calibri"/>
              </a:rPr>
              <a:t>Test a larger local model against the same verification checks</a:t>
            </a:r>
            <a:endParaRPr lang="en-US" sz="1600">
              <a:latin typeface="Aptos"/>
            </a:endParaRPr>
          </a:p>
          <a:p>
            <a:endParaRPr lang="en-US" sz="1600">
              <a:latin typeface="Aptos"/>
              <a:ea typeface="Calibri"/>
              <a:cs typeface="Calibri"/>
            </a:endParaRPr>
          </a:p>
        </p:txBody>
      </p:sp>
    </p:spTree>
    <p:extLst>
      <p:ext uri="{BB962C8B-B14F-4D97-AF65-F5344CB8AC3E}">
        <p14:creationId xmlns:p14="http://schemas.microsoft.com/office/powerpoint/2010/main" val="3209653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B0227-DDFF-2C12-BAD7-E6461100B335}"/>
            </a:ext>
          </a:extLst>
        </p:cNvPr>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39744E62-358E-D15E-AE96-1DB94FD1C5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EF6D947-0309-3402-4B6D-855C0242E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6" name="Title 1">
            <a:extLst>
              <a:ext uri="{FF2B5EF4-FFF2-40B4-BE49-F238E27FC236}">
                <a16:creationId xmlns:a16="http://schemas.microsoft.com/office/drawing/2014/main" id="{CA3B7830-FF6D-50E8-6C56-80F8E1EDC79F}"/>
              </a:ext>
            </a:extLst>
          </p:cNvPr>
          <p:cNvSpPr txBox="1">
            <a:spLocks/>
          </p:cNvSpPr>
          <p:nvPr/>
        </p:nvSpPr>
        <p:spPr>
          <a:xfrm>
            <a:off x="4236720" y="3094914"/>
            <a:ext cx="3732644" cy="6599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a:solidFill>
                  <a:schemeClr val="tx2"/>
                </a:solidFill>
                <a:ea typeface="+mj-lt"/>
                <a:cs typeface="+mj-lt"/>
              </a:rPr>
              <a:t>Thank you</a:t>
            </a:r>
            <a:endParaRPr lang="en-US" sz="4800">
              <a:solidFill>
                <a:schemeClr val="tx2"/>
              </a:solidFill>
            </a:endParaRPr>
          </a:p>
        </p:txBody>
      </p:sp>
      <p:grpSp>
        <p:nvGrpSpPr>
          <p:cNvPr id="7" name="Group 6">
            <a:extLst>
              <a:ext uri="{FF2B5EF4-FFF2-40B4-BE49-F238E27FC236}">
                <a16:creationId xmlns:a16="http://schemas.microsoft.com/office/drawing/2014/main" id="{6E4B583A-5707-0289-8393-E00AC5216E4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8" name="Freeform: Shape 12">
              <a:extLst>
                <a:ext uri="{FF2B5EF4-FFF2-40B4-BE49-F238E27FC236}">
                  <a16:creationId xmlns:a16="http://schemas.microsoft.com/office/drawing/2014/main" id="{90F153E6-AB00-121B-92E3-136643A02D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3">
              <a:extLst>
                <a:ext uri="{FF2B5EF4-FFF2-40B4-BE49-F238E27FC236}">
                  <a16:creationId xmlns:a16="http://schemas.microsoft.com/office/drawing/2014/main" id="{AEB43E36-83B7-6C90-E242-A9A679E476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14">
              <a:extLst>
                <a:ext uri="{FF2B5EF4-FFF2-40B4-BE49-F238E27FC236}">
                  <a16:creationId xmlns:a16="http://schemas.microsoft.com/office/drawing/2014/main" id="{375ABDDE-5D10-3216-C019-BBA7E37E60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5">
              <a:extLst>
                <a:ext uri="{FF2B5EF4-FFF2-40B4-BE49-F238E27FC236}">
                  <a16:creationId xmlns:a16="http://schemas.microsoft.com/office/drawing/2014/main" id="{30D58B60-A4D9-CBFD-39AC-94DF101893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A2E5F6DE-15E5-73C1-981B-AFCD1E0C191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4" name="Freeform: Shape 18">
              <a:extLst>
                <a:ext uri="{FF2B5EF4-FFF2-40B4-BE49-F238E27FC236}">
                  <a16:creationId xmlns:a16="http://schemas.microsoft.com/office/drawing/2014/main" id="{9DA529F9-22B0-781E-7DAB-0AAF83251C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9">
              <a:extLst>
                <a:ext uri="{FF2B5EF4-FFF2-40B4-BE49-F238E27FC236}">
                  <a16:creationId xmlns:a16="http://schemas.microsoft.com/office/drawing/2014/main" id="{44CF0451-E34B-D585-4E33-5318C7A212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20">
              <a:extLst>
                <a:ext uri="{FF2B5EF4-FFF2-40B4-BE49-F238E27FC236}">
                  <a16:creationId xmlns:a16="http://schemas.microsoft.com/office/drawing/2014/main" id="{670404BA-5E72-A379-E00B-EE42A81FC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21">
              <a:extLst>
                <a:ext uri="{FF2B5EF4-FFF2-40B4-BE49-F238E27FC236}">
                  <a16:creationId xmlns:a16="http://schemas.microsoft.com/office/drawing/2014/main" id="{676FB33A-B2FC-25ED-619C-6C9AAAB752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29094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C9522-DE7F-32FA-892A-0501D6326E7A}"/>
            </a:ext>
          </a:extLst>
        </p:cNvPr>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DEAD8E3-4540-0060-117F-F9E3085B51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08E6734-CA33-0844-E324-3B8FBDED7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7" name="Group 6">
            <a:extLst>
              <a:ext uri="{FF2B5EF4-FFF2-40B4-BE49-F238E27FC236}">
                <a16:creationId xmlns:a16="http://schemas.microsoft.com/office/drawing/2014/main" id="{3D2430EE-ADF6-FD94-0A9D-78780753CA3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8" name="Freeform: Shape 12">
              <a:extLst>
                <a:ext uri="{FF2B5EF4-FFF2-40B4-BE49-F238E27FC236}">
                  <a16:creationId xmlns:a16="http://schemas.microsoft.com/office/drawing/2014/main" id="{BA95D4BE-A979-CB1D-7CA5-AC3222BA9E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3">
              <a:extLst>
                <a:ext uri="{FF2B5EF4-FFF2-40B4-BE49-F238E27FC236}">
                  <a16:creationId xmlns:a16="http://schemas.microsoft.com/office/drawing/2014/main" id="{299B5E76-8456-1CF8-69C9-02CAE4B3E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14">
              <a:extLst>
                <a:ext uri="{FF2B5EF4-FFF2-40B4-BE49-F238E27FC236}">
                  <a16:creationId xmlns:a16="http://schemas.microsoft.com/office/drawing/2014/main" id="{000DC83E-8F6B-3978-756E-0C478D7E16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5">
              <a:extLst>
                <a:ext uri="{FF2B5EF4-FFF2-40B4-BE49-F238E27FC236}">
                  <a16:creationId xmlns:a16="http://schemas.microsoft.com/office/drawing/2014/main" id="{4EB4512B-88D7-5F5D-F9A4-63BBC105D8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14B658BA-CDCE-4663-66B2-4DAB76D609D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4" name="Freeform: Shape 18">
              <a:extLst>
                <a:ext uri="{FF2B5EF4-FFF2-40B4-BE49-F238E27FC236}">
                  <a16:creationId xmlns:a16="http://schemas.microsoft.com/office/drawing/2014/main" id="{B1FEB4B2-08FA-673B-F61A-A9ABFDE7AA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9">
              <a:extLst>
                <a:ext uri="{FF2B5EF4-FFF2-40B4-BE49-F238E27FC236}">
                  <a16:creationId xmlns:a16="http://schemas.microsoft.com/office/drawing/2014/main" id="{EF67473E-3890-BDA2-73B6-1FD7118C33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20">
              <a:extLst>
                <a:ext uri="{FF2B5EF4-FFF2-40B4-BE49-F238E27FC236}">
                  <a16:creationId xmlns:a16="http://schemas.microsoft.com/office/drawing/2014/main" id="{84BD815D-05AF-3B8C-3FD0-1440D529B0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21">
              <a:extLst>
                <a:ext uri="{FF2B5EF4-FFF2-40B4-BE49-F238E27FC236}">
                  <a16:creationId xmlns:a16="http://schemas.microsoft.com/office/drawing/2014/main" id="{0F15F821-7FCE-F86C-62E8-59447A2ACF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258DC81E-964D-D435-DDD5-781114278433}"/>
              </a:ext>
            </a:extLst>
          </p:cNvPr>
          <p:cNvSpPr txBox="1"/>
          <p:nvPr/>
        </p:nvSpPr>
        <p:spPr>
          <a:xfrm>
            <a:off x="420997" y="624231"/>
            <a:ext cx="11358405"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dirty="0">
                <a:latin typeface="Aptos"/>
                <a:cs typeface="Arial"/>
              </a:rPr>
              <a:t>The original discrepancy was caused by the mapping order, not by a fundamental difference between Model ID and CVCL ID.</a:t>
            </a:r>
            <a:endParaRPr lang="en-US" sz="1600" dirty="0">
              <a:latin typeface="Aptos"/>
            </a:endParaRPr>
          </a:p>
          <a:p>
            <a:pPr marL="285750" indent="-285750">
              <a:buFont typeface="Arial"/>
              <a:buChar char="•"/>
            </a:pPr>
            <a:r>
              <a:rPr lang="en-US" sz="1600" dirty="0">
                <a:latin typeface="Aptos"/>
                <a:cs typeface="Arial"/>
              </a:rPr>
              <a:t>After correcting the mapping pipeline, the missing count was 438 out of 1479 </a:t>
            </a:r>
            <a:r>
              <a:rPr lang="en-US" sz="1600" dirty="0" err="1">
                <a:latin typeface="Aptos"/>
                <a:cs typeface="Arial"/>
              </a:rPr>
              <a:t>DepMap</a:t>
            </a:r>
            <a:r>
              <a:rPr lang="en-US" sz="1600" dirty="0">
                <a:latin typeface="Aptos"/>
                <a:cs typeface="Arial"/>
              </a:rPr>
              <a:t> cell lines. </a:t>
            </a:r>
            <a:endParaRPr lang="en-US" sz="1600" dirty="0">
              <a:latin typeface="Aptos"/>
            </a:endParaRPr>
          </a:p>
          <a:p>
            <a:pPr marL="285750" indent="-285750">
              <a:buFont typeface="Arial"/>
              <a:buChar char="•"/>
            </a:pPr>
            <a:r>
              <a:rPr lang="en-US" sz="1600" dirty="0">
                <a:latin typeface="Aptos"/>
                <a:cs typeface="Arial"/>
              </a:rPr>
              <a:t>This primarily reflects the different baseline coverage of the datasets: </a:t>
            </a:r>
            <a:endParaRPr lang="en-US" sz="1600" dirty="0">
              <a:latin typeface="Aptos"/>
            </a:endParaRPr>
          </a:p>
          <a:p>
            <a:pPr marL="285750" indent="-285750">
              <a:buFont typeface="Arial"/>
              <a:buChar char="•"/>
            </a:pPr>
            <a:r>
              <a:rPr lang="en-US" sz="1600" dirty="0" err="1">
                <a:latin typeface="Aptos"/>
                <a:cs typeface="Arial"/>
              </a:rPr>
              <a:t>DepMap</a:t>
            </a:r>
            <a:r>
              <a:rPr lang="en-US" sz="1600" dirty="0">
                <a:latin typeface="Aptos"/>
                <a:cs typeface="Arial"/>
              </a:rPr>
              <a:t>: 1479 cell lines </a:t>
            </a:r>
            <a:endParaRPr lang="en-US" sz="1600" dirty="0">
              <a:latin typeface="Aptos"/>
            </a:endParaRPr>
          </a:p>
          <a:p>
            <a:pPr marL="285750" indent="-285750">
              <a:buFont typeface="Arial"/>
              <a:buChar char="•"/>
            </a:pPr>
            <a:r>
              <a:rPr lang="en-US" sz="1600" dirty="0">
                <a:latin typeface="Aptos"/>
                <a:cs typeface="Arial"/>
              </a:rPr>
              <a:t>HPA RNA: 1206 cell lines </a:t>
            </a:r>
            <a:endParaRPr lang="en-US" sz="1600" dirty="0">
              <a:latin typeface="Aptos"/>
            </a:endParaRPr>
          </a:p>
          <a:p>
            <a:pPr marL="285750" indent="-285750">
              <a:buFont typeface="Arial"/>
              <a:buChar char="•"/>
            </a:pPr>
            <a:r>
              <a:rPr lang="en-US" sz="1600" dirty="0">
                <a:latin typeface="Aptos"/>
                <a:cs typeface="Arial"/>
              </a:rPr>
              <a:t>Therefore, the unmatched cell lines represent differences in dataset coverage, rather than data being lost because of the merge. </a:t>
            </a:r>
            <a:endParaRPr lang="en-US" sz="1600" dirty="0">
              <a:latin typeface="Aptos"/>
            </a:endParaRPr>
          </a:p>
          <a:p>
            <a:pPr marL="285750" indent="-285750">
              <a:buFont typeface="Arial"/>
              <a:buChar char="•"/>
            </a:pPr>
            <a:r>
              <a:rPr lang="en-US" sz="1600" dirty="0">
                <a:latin typeface="Aptos"/>
                <a:cs typeface="Arial"/>
              </a:rPr>
              <a:t>Once the mapping is performed correctly, using Model ID or CVCL ID as the link ultimately leads to the same mapped HPA RNA relationships.</a:t>
            </a:r>
            <a:endParaRPr lang="en-US" sz="1600" dirty="0">
              <a:latin typeface="Aptos"/>
            </a:endParaRPr>
          </a:p>
          <a:p>
            <a:pPr marL="285750" indent="-285750">
              <a:buFont typeface="Arial"/>
              <a:buChar char="•"/>
            </a:pPr>
            <a:r>
              <a:rPr lang="en-US" sz="1600" dirty="0">
                <a:latin typeface="Aptos"/>
                <a:cs typeface="Arial"/>
              </a:rPr>
              <a:t>Some valid </a:t>
            </a:r>
            <a:r>
              <a:rPr lang="en-US" sz="1600" dirty="0" err="1">
                <a:latin typeface="Aptos"/>
                <a:cs typeface="Arial"/>
              </a:rPr>
              <a:t>DepMap</a:t>
            </a:r>
            <a:r>
              <a:rPr lang="en-US" sz="1600" dirty="0">
                <a:latin typeface="Aptos"/>
                <a:cs typeface="Arial"/>
              </a:rPr>
              <a:t> models do not have a CVCL ID. Using CVCL ID as the primary base would unnecessarily exclude 80 valid cell lines.</a:t>
            </a:r>
          </a:p>
        </p:txBody>
      </p:sp>
      <p:sp>
        <p:nvSpPr>
          <p:cNvPr id="12" name="TextBox 11">
            <a:extLst>
              <a:ext uri="{FF2B5EF4-FFF2-40B4-BE49-F238E27FC236}">
                <a16:creationId xmlns:a16="http://schemas.microsoft.com/office/drawing/2014/main" id="{9B24A026-477D-9F51-3F0E-030A18EEF39A}"/>
              </a:ext>
            </a:extLst>
          </p:cNvPr>
          <p:cNvSpPr txBox="1"/>
          <p:nvPr/>
        </p:nvSpPr>
        <p:spPr>
          <a:xfrm>
            <a:off x="1035091" y="5453497"/>
            <a:ext cx="999208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latin typeface="Avenir Next LT Pro"/>
              </a:rPr>
              <a:t>When combined using </a:t>
            </a:r>
            <a:r>
              <a:rPr lang="en-US" err="1">
                <a:latin typeface="Avenir Next LT Pro"/>
              </a:rPr>
              <a:t>hpa</a:t>
            </a:r>
            <a:r>
              <a:rPr lang="en-US">
                <a:latin typeface="Avenir Next LT Pro"/>
              </a:rPr>
              <a:t> </a:t>
            </a:r>
            <a:r>
              <a:rPr lang="en-US" err="1">
                <a:latin typeface="Avenir Next LT Pro"/>
              </a:rPr>
              <a:t>rna</a:t>
            </a:r>
            <a:r>
              <a:rPr lang="en-US">
                <a:latin typeface="Avenir Next LT Pro"/>
              </a:rPr>
              <a:t> cell line description and then on the </a:t>
            </a:r>
            <a:r>
              <a:rPr lang="en-US" err="1">
                <a:latin typeface="Avenir Next LT Pro"/>
              </a:rPr>
              <a:t>depmap</a:t>
            </a:r>
            <a:r>
              <a:rPr lang="en-US">
                <a:latin typeface="Avenir Next LT Pro"/>
              </a:rPr>
              <a:t> sample info</a:t>
            </a:r>
            <a:endParaRPr lang="en-US"/>
          </a:p>
          <a:p>
            <a:pPr algn="l"/>
            <a:endParaRPr lang="en-US"/>
          </a:p>
        </p:txBody>
      </p:sp>
      <p:pic>
        <p:nvPicPr>
          <p:cNvPr id="6" name="Picture 5">
            <a:extLst>
              <a:ext uri="{FF2B5EF4-FFF2-40B4-BE49-F238E27FC236}">
                <a16:creationId xmlns:a16="http://schemas.microsoft.com/office/drawing/2014/main" id="{B617B945-D701-5D20-69F5-3C205D17CD08}"/>
              </a:ext>
            </a:extLst>
          </p:cNvPr>
          <p:cNvPicPr>
            <a:picLocks noChangeAspect="1"/>
          </p:cNvPicPr>
          <p:nvPr/>
        </p:nvPicPr>
        <p:blipFill>
          <a:blip r:embed="rId2"/>
          <a:stretch>
            <a:fillRect/>
          </a:stretch>
        </p:blipFill>
        <p:spPr>
          <a:xfrm>
            <a:off x="2149008" y="3842217"/>
            <a:ext cx="7770719" cy="1448360"/>
          </a:xfrm>
          <a:prstGeom prst="rect">
            <a:avLst/>
          </a:prstGeom>
        </p:spPr>
      </p:pic>
    </p:spTree>
    <p:extLst>
      <p:ext uri="{BB962C8B-B14F-4D97-AF65-F5344CB8AC3E}">
        <p14:creationId xmlns:p14="http://schemas.microsoft.com/office/powerpoint/2010/main" val="967119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5E570-AF8D-1B28-57EA-EFF373990666}"/>
            </a:ext>
          </a:extLst>
        </p:cNvPr>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405DF44-02F5-BAEF-3977-78179272F4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4F56912-5671-9CEE-1CF1-DCFC5496F4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7" name="Group 6">
            <a:extLst>
              <a:ext uri="{FF2B5EF4-FFF2-40B4-BE49-F238E27FC236}">
                <a16:creationId xmlns:a16="http://schemas.microsoft.com/office/drawing/2014/main" id="{76E34922-F643-CE43-0323-74C03820D19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8" name="Freeform: Shape 12">
              <a:extLst>
                <a:ext uri="{FF2B5EF4-FFF2-40B4-BE49-F238E27FC236}">
                  <a16:creationId xmlns:a16="http://schemas.microsoft.com/office/drawing/2014/main" id="{8B997430-B28A-2FBD-9FBE-F61A97EC2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3">
              <a:extLst>
                <a:ext uri="{FF2B5EF4-FFF2-40B4-BE49-F238E27FC236}">
                  <a16:creationId xmlns:a16="http://schemas.microsoft.com/office/drawing/2014/main" id="{B7325AEA-551E-E569-DEB5-1CB66D2F6E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14">
              <a:extLst>
                <a:ext uri="{FF2B5EF4-FFF2-40B4-BE49-F238E27FC236}">
                  <a16:creationId xmlns:a16="http://schemas.microsoft.com/office/drawing/2014/main" id="{41CC12A3-7A13-6EDE-5B39-73F15BAEE4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5">
              <a:extLst>
                <a:ext uri="{FF2B5EF4-FFF2-40B4-BE49-F238E27FC236}">
                  <a16:creationId xmlns:a16="http://schemas.microsoft.com/office/drawing/2014/main" id="{32B9ECDF-34DD-F067-5AE6-44E1ACF2C7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15885144-3A98-B0CB-32AE-AEB05F1FA01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4" name="Freeform: Shape 18">
              <a:extLst>
                <a:ext uri="{FF2B5EF4-FFF2-40B4-BE49-F238E27FC236}">
                  <a16:creationId xmlns:a16="http://schemas.microsoft.com/office/drawing/2014/main" id="{02CC35AD-EE65-5C5F-821B-7ABE1C417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9">
              <a:extLst>
                <a:ext uri="{FF2B5EF4-FFF2-40B4-BE49-F238E27FC236}">
                  <a16:creationId xmlns:a16="http://schemas.microsoft.com/office/drawing/2014/main" id="{15AA17AF-A838-61CA-5E8A-1B0168AB73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20">
              <a:extLst>
                <a:ext uri="{FF2B5EF4-FFF2-40B4-BE49-F238E27FC236}">
                  <a16:creationId xmlns:a16="http://schemas.microsoft.com/office/drawing/2014/main" id="{B60EE510-8D5C-888D-5392-F49F51AA69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21">
              <a:extLst>
                <a:ext uri="{FF2B5EF4-FFF2-40B4-BE49-F238E27FC236}">
                  <a16:creationId xmlns:a16="http://schemas.microsoft.com/office/drawing/2014/main" id="{2D04EA70-6D99-655B-275B-C0FB6D182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8629BFCE-C0AC-8E99-ABF0-F41F2278F34E}"/>
              </a:ext>
            </a:extLst>
          </p:cNvPr>
          <p:cNvSpPr txBox="1"/>
          <p:nvPr/>
        </p:nvSpPr>
        <p:spPr>
          <a:xfrm>
            <a:off x="420997" y="1296584"/>
            <a:ext cx="1135840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err="1">
                <a:latin typeface="Aptos"/>
                <a:cs typeface="Arial"/>
              </a:rPr>
              <a:t>DepMap</a:t>
            </a:r>
            <a:r>
              <a:rPr lang="en-US" sz="1600">
                <a:latin typeface="Aptos"/>
                <a:cs typeface="Arial"/>
              </a:rPr>
              <a:t>: 1479 cell lines </a:t>
            </a:r>
            <a:endParaRPr lang="en-US" sz="1600">
              <a:latin typeface="Aptos"/>
            </a:endParaRPr>
          </a:p>
          <a:p>
            <a:pPr marL="285750" indent="-285750">
              <a:buFont typeface="Arial"/>
              <a:buChar char="•"/>
            </a:pPr>
            <a:r>
              <a:rPr lang="en-US" sz="1600">
                <a:latin typeface="Aptos"/>
                <a:cs typeface="Arial"/>
              </a:rPr>
              <a:t>Harmonized </a:t>
            </a:r>
            <a:r>
              <a:rPr lang="en-US" sz="1600" err="1">
                <a:latin typeface="Aptos"/>
                <a:cs typeface="Arial"/>
              </a:rPr>
              <a:t>Cellline</a:t>
            </a:r>
            <a:r>
              <a:rPr lang="en-US" sz="1600">
                <a:latin typeface="Aptos"/>
                <a:cs typeface="Arial"/>
              </a:rPr>
              <a:t>:  375 cell lines</a:t>
            </a:r>
          </a:p>
          <a:p>
            <a:pPr marL="285750" indent="-285750">
              <a:buFont typeface="Arial"/>
              <a:buChar char="•"/>
            </a:pPr>
            <a:r>
              <a:rPr lang="en-US" sz="1600">
                <a:latin typeface="Aptos"/>
                <a:cs typeface="Arial"/>
              </a:rPr>
              <a:t>Missing percentage is </a:t>
            </a:r>
            <a:r>
              <a:rPr lang="en-US" sz="1600" err="1">
                <a:latin typeface="Aptos"/>
                <a:cs typeface="Arial"/>
              </a:rPr>
              <a:t>equalent</a:t>
            </a:r>
            <a:r>
              <a:rPr lang="en-US" sz="1600">
                <a:latin typeface="Aptos"/>
                <a:cs typeface="Arial"/>
              </a:rPr>
              <a:t> to 75.1% for </a:t>
            </a:r>
            <a:r>
              <a:rPr lang="en-US" sz="1600" err="1">
                <a:latin typeface="Aptos"/>
                <a:cs typeface="Arial"/>
              </a:rPr>
              <a:t>proteomnics</a:t>
            </a:r>
            <a:r>
              <a:rPr lang="en-US" sz="1600">
                <a:latin typeface="Aptos"/>
                <a:cs typeface="Arial"/>
              </a:rPr>
              <a:t> layer</a:t>
            </a:r>
          </a:p>
        </p:txBody>
      </p:sp>
      <p:sp>
        <p:nvSpPr>
          <p:cNvPr id="19" name="TextBox 18">
            <a:extLst>
              <a:ext uri="{FF2B5EF4-FFF2-40B4-BE49-F238E27FC236}">
                <a16:creationId xmlns:a16="http://schemas.microsoft.com/office/drawing/2014/main" id="{E17D44FD-5D77-488E-7CB6-B17EDE586200}"/>
              </a:ext>
            </a:extLst>
          </p:cNvPr>
          <p:cNvSpPr txBox="1"/>
          <p:nvPr/>
        </p:nvSpPr>
        <p:spPr>
          <a:xfrm>
            <a:off x="420996" y="366495"/>
            <a:ext cx="316690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Aptos"/>
                <a:cs typeface="Arial"/>
              </a:rPr>
              <a:t>Protein Data missing</a:t>
            </a:r>
            <a:endParaRPr lang="en-US" sz="2400" b="1"/>
          </a:p>
        </p:txBody>
      </p:sp>
      <p:pic>
        <p:nvPicPr>
          <p:cNvPr id="20" name="Picture 19">
            <a:extLst>
              <a:ext uri="{FF2B5EF4-FFF2-40B4-BE49-F238E27FC236}">
                <a16:creationId xmlns:a16="http://schemas.microsoft.com/office/drawing/2014/main" id="{3E670517-9679-42FB-0664-6B10B3AE1C9D}"/>
              </a:ext>
            </a:extLst>
          </p:cNvPr>
          <p:cNvPicPr>
            <a:picLocks noChangeAspect="1"/>
          </p:cNvPicPr>
          <p:nvPr/>
        </p:nvPicPr>
        <p:blipFill>
          <a:blip r:embed="rId2"/>
          <a:srcRect r="123" b="-621"/>
          <a:stretch>
            <a:fillRect/>
          </a:stretch>
        </p:blipFill>
        <p:spPr>
          <a:xfrm>
            <a:off x="1519238" y="2524125"/>
            <a:ext cx="9142308" cy="1820991"/>
          </a:xfrm>
          <a:prstGeom prst="rect">
            <a:avLst/>
          </a:prstGeom>
        </p:spPr>
      </p:pic>
    </p:spTree>
    <p:extLst>
      <p:ext uri="{BB962C8B-B14F-4D97-AF65-F5344CB8AC3E}">
        <p14:creationId xmlns:p14="http://schemas.microsoft.com/office/powerpoint/2010/main" val="23103651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052DC-612C-15B3-A37C-D337AAD2A409}"/>
            </a:ext>
          </a:extLst>
        </p:cNvPr>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54E6F661-FED9-4761-51BC-2D316C01DE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D4FA242-A0A7-EB49-04D0-BBE8BA3BE7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6" name="Title 1">
            <a:extLst>
              <a:ext uri="{FF2B5EF4-FFF2-40B4-BE49-F238E27FC236}">
                <a16:creationId xmlns:a16="http://schemas.microsoft.com/office/drawing/2014/main" id="{9664E32E-F34E-5ED5-218E-44D9051DC132}"/>
              </a:ext>
            </a:extLst>
          </p:cNvPr>
          <p:cNvSpPr txBox="1">
            <a:spLocks/>
          </p:cNvSpPr>
          <p:nvPr/>
        </p:nvSpPr>
        <p:spPr>
          <a:xfrm>
            <a:off x="168985" y="158972"/>
            <a:ext cx="8562379" cy="6599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a:solidFill>
                  <a:schemeClr val="tx2"/>
                </a:solidFill>
                <a:cs typeface="Arial"/>
              </a:rPr>
              <a:t>How is the cell line selected?</a:t>
            </a:r>
          </a:p>
        </p:txBody>
      </p:sp>
      <p:grpSp>
        <p:nvGrpSpPr>
          <p:cNvPr id="7" name="Group 6">
            <a:extLst>
              <a:ext uri="{FF2B5EF4-FFF2-40B4-BE49-F238E27FC236}">
                <a16:creationId xmlns:a16="http://schemas.microsoft.com/office/drawing/2014/main" id="{59CFDBCF-FF6A-226D-6A93-7B34642E289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8" name="Freeform: Shape 12">
              <a:extLst>
                <a:ext uri="{FF2B5EF4-FFF2-40B4-BE49-F238E27FC236}">
                  <a16:creationId xmlns:a16="http://schemas.microsoft.com/office/drawing/2014/main" id="{0BECC48A-1485-5DCF-A846-591460277D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3">
              <a:extLst>
                <a:ext uri="{FF2B5EF4-FFF2-40B4-BE49-F238E27FC236}">
                  <a16:creationId xmlns:a16="http://schemas.microsoft.com/office/drawing/2014/main" id="{84759570-DA2B-47FE-77E2-24375220F8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14">
              <a:extLst>
                <a:ext uri="{FF2B5EF4-FFF2-40B4-BE49-F238E27FC236}">
                  <a16:creationId xmlns:a16="http://schemas.microsoft.com/office/drawing/2014/main" id="{056AABBD-6075-B20F-E665-BEB1ACE754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5">
              <a:extLst>
                <a:ext uri="{FF2B5EF4-FFF2-40B4-BE49-F238E27FC236}">
                  <a16:creationId xmlns:a16="http://schemas.microsoft.com/office/drawing/2014/main" id="{00967EBE-C132-07C7-7F4C-04CEE6069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F5480FDF-9E8D-3E93-A402-EF7BECF2BCA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4" name="Freeform: Shape 18">
              <a:extLst>
                <a:ext uri="{FF2B5EF4-FFF2-40B4-BE49-F238E27FC236}">
                  <a16:creationId xmlns:a16="http://schemas.microsoft.com/office/drawing/2014/main" id="{7739B354-DDBA-D424-85AC-D9D8B8A59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9">
              <a:extLst>
                <a:ext uri="{FF2B5EF4-FFF2-40B4-BE49-F238E27FC236}">
                  <a16:creationId xmlns:a16="http://schemas.microsoft.com/office/drawing/2014/main" id="{A9286CB1-2884-C21F-8983-863851B003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20">
              <a:extLst>
                <a:ext uri="{FF2B5EF4-FFF2-40B4-BE49-F238E27FC236}">
                  <a16:creationId xmlns:a16="http://schemas.microsoft.com/office/drawing/2014/main" id="{1559E710-E9D6-13C0-145B-D20CF14854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21">
              <a:extLst>
                <a:ext uri="{FF2B5EF4-FFF2-40B4-BE49-F238E27FC236}">
                  <a16:creationId xmlns:a16="http://schemas.microsoft.com/office/drawing/2014/main" id="{C75B115F-B172-C2A7-C95A-48108A8C31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 name="Picture 1">
            <a:extLst>
              <a:ext uri="{FF2B5EF4-FFF2-40B4-BE49-F238E27FC236}">
                <a16:creationId xmlns:a16="http://schemas.microsoft.com/office/drawing/2014/main" id="{C8217BB6-13E5-FB52-F19A-FB696A61CFF1}"/>
              </a:ext>
            </a:extLst>
          </p:cNvPr>
          <p:cNvPicPr>
            <a:picLocks noChangeAspect="1"/>
          </p:cNvPicPr>
          <p:nvPr/>
        </p:nvPicPr>
        <p:blipFill>
          <a:blip r:embed="rId2"/>
          <a:stretch>
            <a:fillRect/>
          </a:stretch>
        </p:blipFill>
        <p:spPr>
          <a:xfrm>
            <a:off x="694765" y="815670"/>
            <a:ext cx="11060207" cy="3456132"/>
          </a:xfrm>
          <a:prstGeom prst="rect">
            <a:avLst/>
          </a:prstGeom>
        </p:spPr>
      </p:pic>
      <p:sp>
        <p:nvSpPr>
          <p:cNvPr id="3" name="TextBox 2">
            <a:extLst>
              <a:ext uri="{FF2B5EF4-FFF2-40B4-BE49-F238E27FC236}">
                <a16:creationId xmlns:a16="http://schemas.microsoft.com/office/drawing/2014/main" id="{84A0202A-E769-71B8-8E89-75B0734CD5EA}"/>
              </a:ext>
            </a:extLst>
          </p:cNvPr>
          <p:cNvSpPr txBox="1"/>
          <p:nvPr/>
        </p:nvSpPr>
        <p:spPr>
          <a:xfrm>
            <a:off x="317428" y="4485397"/>
            <a:ext cx="11731038"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latin typeface="Aptos"/>
                <a:cs typeface="Arial"/>
              </a:rPr>
              <a:t>A gene originates in DNA and is transcribed into mRNA, then translated into protein a cell line is selected only if evidence of this active journey is confirmed at both the RNA and protein layer, since either step can be silenced before the gene becomes functional</a:t>
            </a:r>
            <a:endParaRPr lang="en-US" sz="1600">
              <a:latin typeface="Aptos"/>
            </a:endParaRPr>
          </a:p>
          <a:p>
            <a:pPr marL="285750" indent="-285750">
              <a:buFont typeface="Arial"/>
              <a:buChar char="•"/>
            </a:pPr>
            <a:r>
              <a:rPr lang="en-US" sz="1600">
                <a:latin typeface="Aptos"/>
                <a:cs typeface="Arial"/>
              </a:rPr>
              <a:t>The metabolome reflects the combined output of all active genes and pathways two cell lines expressing the same gene can behave very differently if their underlying metabolic states differ, making metabolic similarity a critical factor in identifying truly equivalent cell lines.</a:t>
            </a:r>
            <a:endParaRPr lang="en-US" sz="1600">
              <a:latin typeface="Aptos"/>
            </a:endParaRPr>
          </a:p>
          <a:p>
            <a:pPr marL="285750" indent="-285750">
              <a:buFont typeface="Arial"/>
              <a:buChar char="•"/>
            </a:pPr>
            <a:r>
              <a:rPr lang="en-US" sz="1600">
                <a:latin typeface="Aptos"/>
                <a:cs typeface="Arial"/>
              </a:rPr>
              <a:t>Expression at one biological layer does not guarantee function at the next  which is why cell line selection requires evidence across multiple layers rather than relying on any single measurement alone</a:t>
            </a:r>
            <a:endParaRPr lang="en-US" sz="1600">
              <a:latin typeface="Aptos"/>
            </a:endParaRPr>
          </a:p>
        </p:txBody>
      </p:sp>
    </p:spTree>
    <p:extLst>
      <p:ext uri="{BB962C8B-B14F-4D97-AF65-F5344CB8AC3E}">
        <p14:creationId xmlns:p14="http://schemas.microsoft.com/office/powerpoint/2010/main" val="32299454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4A91B-F01C-71E2-ED47-74597F930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A0312A-9A75-725C-D60B-140BFAD05225}"/>
              </a:ext>
            </a:extLst>
          </p:cNvPr>
          <p:cNvSpPr>
            <a:spLocks noGrp="1"/>
          </p:cNvSpPr>
          <p:nvPr>
            <p:ph type="title"/>
          </p:nvPr>
        </p:nvSpPr>
        <p:spPr>
          <a:xfrm>
            <a:off x="4328" y="5120"/>
            <a:ext cx="12182443" cy="686313"/>
          </a:xfrm>
        </p:spPr>
        <p:txBody>
          <a:bodyPr>
            <a:normAutofit/>
          </a:bodyPr>
          <a:lstStyle/>
          <a:p>
            <a:pPr algn="ctr"/>
            <a:r>
              <a:rPr lang="en-US" sz="3300" b="1">
                <a:latin typeface="Cambria"/>
                <a:ea typeface="Cambria"/>
                <a:cs typeface="+mj-lt"/>
              </a:rPr>
              <a:t>Clustering Images</a:t>
            </a:r>
            <a:endParaRPr lang="en-US" sz="3300">
              <a:latin typeface="Cambria"/>
              <a:ea typeface="Cambria"/>
              <a:cs typeface="+mj-lt"/>
            </a:endParaRPr>
          </a:p>
        </p:txBody>
      </p:sp>
      <p:sp>
        <p:nvSpPr>
          <p:cNvPr id="7" name="TextBox 6">
            <a:extLst>
              <a:ext uri="{FF2B5EF4-FFF2-40B4-BE49-F238E27FC236}">
                <a16:creationId xmlns:a16="http://schemas.microsoft.com/office/drawing/2014/main" id="{5437CC9C-9463-6B64-5479-01BE052C8660}"/>
              </a:ext>
            </a:extLst>
          </p:cNvPr>
          <p:cNvSpPr txBox="1"/>
          <p:nvPr/>
        </p:nvSpPr>
        <p:spPr>
          <a:xfrm>
            <a:off x="7875354" y="2466320"/>
            <a:ext cx="430662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a:p>
            <a:endParaRPr lang="en-US"/>
          </a:p>
          <a:p>
            <a:endParaRPr lang="en-US"/>
          </a:p>
          <a:p>
            <a:endParaRPr lang="en-US"/>
          </a:p>
          <a:p>
            <a:endParaRPr lang="en-US"/>
          </a:p>
          <a:p>
            <a:endParaRPr lang="en-US"/>
          </a:p>
        </p:txBody>
      </p:sp>
      <p:pic>
        <p:nvPicPr>
          <p:cNvPr id="6" name="Picture 5">
            <a:extLst>
              <a:ext uri="{FF2B5EF4-FFF2-40B4-BE49-F238E27FC236}">
                <a16:creationId xmlns:a16="http://schemas.microsoft.com/office/drawing/2014/main" id="{AEA1A6D9-B173-6715-3DD8-EF9E6FC19C73}"/>
              </a:ext>
            </a:extLst>
          </p:cNvPr>
          <p:cNvPicPr>
            <a:picLocks noChangeAspect="1"/>
          </p:cNvPicPr>
          <p:nvPr/>
        </p:nvPicPr>
        <p:blipFill>
          <a:blip r:embed="rId2"/>
          <a:srcRect r="220" b="-293"/>
          <a:stretch>
            <a:fillRect/>
          </a:stretch>
        </p:blipFill>
        <p:spPr>
          <a:xfrm>
            <a:off x="7218961" y="512071"/>
            <a:ext cx="4515691" cy="3413559"/>
          </a:xfrm>
          <a:prstGeom prst="rect">
            <a:avLst/>
          </a:prstGeom>
        </p:spPr>
      </p:pic>
      <p:pic>
        <p:nvPicPr>
          <p:cNvPr id="8" name="Picture 7">
            <a:extLst>
              <a:ext uri="{FF2B5EF4-FFF2-40B4-BE49-F238E27FC236}">
                <a16:creationId xmlns:a16="http://schemas.microsoft.com/office/drawing/2014/main" id="{CCFCCD7F-1938-22EB-0226-5A833E65C5AA}"/>
              </a:ext>
            </a:extLst>
          </p:cNvPr>
          <p:cNvPicPr>
            <a:picLocks noChangeAspect="1"/>
          </p:cNvPicPr>
          <p:nvPr/>
        </p:nvPicPr>
        <p:blipFill>
          <a:blip r:embed="rId3"/>
          <a:stretch>
            <a:fillRect/>
          </a:stretch>
        </p:blipFill>
        <p:spPr>
          <a:xfrm>
            <a:off x="438954" y="683952"/>
            <a:ext cx="4019215" cy="2922009"/>
          </a:xfrm>
          <a:prstGeom prst="rect">
            <a:avLst/>
          </a:prstGeom>
        </p:spPr>
      </p:pic>
      <p:pic>
        <p:nvPicPr>
          <p:cNvPr id="3" name="Picture 2">
            <a:extLst>
              <a:ext uri="{FF2B5EF4-FFF2-40B4-BE49-F238E27FC236}">
                <a16:creationId xmlns:a16="http://schemas.microsoft.com/office/drawing/2014/main" id="{FDDC242A-BFDA-4DB3-E67D-82D6636EDF93}"/>
              </a:ext>
            </a:extLst>
          </p:cNvPr>
          <p:cNvPicPr>
            <a:picLocks noChangeAspect="1"/>
          </p:cNvPicPr>
          <p:nvPr/>
        </p:nvPicPr>
        <p:blipFill>
          <a:blip r:embed="rId4"/>
          <a:stretch>
            <a:fillRect/>
          </a:stretch>
        </p:blipFill>
        <p:spPr>
          <a:xfrm>
            <a:off x="7214552" y="3923665"/>
            <a:ext cx="4407535" cy="2942590"/>
          </a:xfrm>
          <a:prstGeom prst="rect">
            <a:avLst/>
          </a:prstGeom>
        </p:spPr>
      </p:pic>
      <p:pic>
        <p:nvPicPr>
          <p:cNvPr id="4" name="Picture 3">
            <a:extLst>
              <a:ext uri="{FF2B5EF4-FFF2-40B4-BE49-F238E27FC236}">
                <a16:creationId xmlns:a16="http://schemas.microsoft.com/office/drawing/2014/main" id="{3E21627D-3F1A-1519-E815-8B344C28CBC8}"/>
              </a:ext>
            </a:extLst>
          </p:cNvPr>
          <p:cNvPicPr>
            <a:picLocks noChangeAspect="1"/>
          </p:cNvPicPr>
          <p:nvPr/>
        </p:nvPicPr>
        <p:blipFill>
          <a:blip r:embed="rId5"/>
          <a:stretch>
            <a:fillRect/>
          </a:stretch>
        </p:blipFill>
        <p:spPr>
          <a:xfrm>
            <a:off x="437832" y="3923665"/>
            <a:ext cx="4234815" cy="2912110"/>
          </a:xfrm>
          <a:prstGeom prst="rect">
            <a:avLst/>
          </a:prstGeom>
        </p:spPr>
      </p:pic>
      <p:sp>
        <p:nvSpPr>
          <p:cNvPr id="9" name="TextBox 8">
            <a:extLst>
              <a:ext uri="{FF2B5EF4-FFF2-40B4-BE49-F238E27FC236}">
                <a16:creationId xmlns:a16="http://schemas.microsoft.com/office/drawing/2014/main" id="{1146F50D-3E7F-A032-0E34-ACA1522EC742}"/>
              </a:ext>
            </a:extLst>
          </p:cNvPr>
          <p:cNvSpPr txBox="1"/>
          <p:nvPr/>
        </p:nvSpPr>
        <p:spPr>
          <a:xfrm>
            <a:off x="5313880" y="1715579"/>
            <a:ext cx="14270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KNN Linear</a:t>
            </a:r>
          </a:p>
        </p:txBody>
      </p:sp>
      <p:sp>
        <p:nvSpPr>
          <p:cNvPr id="11" name="Arrow: Left 10">
            <a:extLst>
              <a:ext uri="{FF2B5EF4-FFF2-40B4-BE49-F238E27FC236}">
                <a16:creationId xmlns:a16="http://schemas.microsoft.com/office/drawing/2014/main" id="{976624AD-F578-4E0B-C52A-061A6C90D52C}"/>
              </a:ext>
            </a:extLst>
          </p:cNvPr>
          <p:cNvSpPr/>
          <p:nvPr/>
        </p:nvSpPr>
        <p:spPr>
          <a:xfrm>
            <a:off x="5547150" y="2151230"/>
            <a:ext cx="654180" cy="35959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E16C640-6810-BD95-CE25-49A96DEB4D3C}"/>
              </a:ext>
            </a:extLst>
          </p:cNvPr>
          <p:cNvSpPr txBox="1"/>
          <p:nvPr/>
        </p:nvSpPr>
        <p:spPr>
          <a:xfrm>
            <a:off x="5354520" y="4519738"/>
            <a:ext cx="14372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KNN Radial</a:t>
            </a:r>
          </a:p>
        </p:txBody>
      </p:sp>
      <p:sp>
        <p:nvSpPr>
          <p:cNvPr id="13" name="Arrow: Left 12">
            <a:extLst>
              <a:ext uri="{FF2B5EF4-FFF2-40B4-BE49-F238E27FC236}">
                <a16:creationId xmlns:a16="http://schemas.microsoft.com/office/drawing/2014/main" id="{021C8A42-2C06-B309-E149-9452E8EE1731}"/>
              </a:ext>
            </a:extLst>
          </p:cNvPr>
          <p:cNvSpPr/>
          <p:nvPr/>
        </p:nvSpPr>
        <p:spPr>
          <a:xfrm rot="10800000">
            <a:off x="5699549" y="4884270"/>
            <a:ext cx="664340" cy="35959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2930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5C071-1EED-CC26-2750-91293CC11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AEDAF8-54CD-D60D-66E6-12A4F05BEA58}"/>
              </a:ext>
            </a:extLst>
          </p:cNvPr>
          <p:cNvSpPr>
            <a:spLocks noGrp="1"/>
          </p:cNvSpPr>
          <p:nvPr>
            <p:ph type="title"/>
          </p:nvPr>
        </p:nvSpPr>
        <p:spPr>
          <a:xfrm>
            <a:off x="4328" y="5120"/>
            <a:ext cx="12182443" cy="686313"/>
          </a:xfrm>
        </p:spPr>
        <p:txBody>
          <a:bodyPr>
            <a:normAutofit/>
          </a:bodyPr>
          <a:lstStyle/>
          <a:p>
            <a:pPr algn="ctr"/>
            <a:r>
              <a:rPr lang="en-US" sz="3300" b="1">
                <a:latin typeface="Cambria"/>
                <a:ea typeface="Cambria"/>
                <a:cs typeface="+mj-lt"/>
              </a:rPr>
              <a:t>Selection of Lambda and equations for scoring</a:t>
            </a:r>
            <a:endParaRPr lang="en-US"/>
          </a:p>
        </p:txBody>
      </p:sp>
      <p:sp>
        <p:nvSpPr>
          <p:cNvPr id="7" name="TextBox 6">
            <a:extLst>
              <a:ext uri="{FF2B5EF4-FFF2-40B4-BE49-F238E27FC236}">
                <a16:creationId xmlns:a16="http://schemas.microsoft.com/office/drawing/2014/main" id="{0A1EADF0-B21C-7491-1BC8-45A9FC75042F}"/>
              </a:ext>
            </a:extLst>
          </p:cNvPr>
          <p:cNvSpPr txBox="1"/>
          <p:nvPr/>
        </p:nvSpPr>
        <p:spPr>
          <a:xfrm>
            <a:off x="7875354" y="2466320"/>
            <a:ext cx="430662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a:p>
            <a:endParaRPr lang="en-US"/>
          </a:p>
          <a:p>
            <a:endParaRPr lang="en-US"/>
          </a:p>
          <a:p>
            <a:endParaRPr lang="en-US"/>
          </a:p>
          <a:p>
            <a:endParaRPr lang="en-US"/>
          </a:p>
          <a:p>
            <a:endParaRPr lang="en-US"/>
          </a:p>
        </p:txBody>
      </p:sp>
      <p:pic>
        <p:nvPicPr>
          <p:cNvPr id="14" name="Picture 13">
            <a:extLst>
              <a:ext uri="{FF2B5EF4-FFF2-40B4-BE49-F238E27FC236}">
                <a16:creationId xmlns:a16="http://schemas.microsoft.com/office/drawing/2014/main" id="{1557B83C-70C8-190E-621A-00D2D5D0921A}"/>
              </a:ext>
            </a:extLst>
          </p:cNvPr>
          <p:cNvPicPr>
            <a:picLocks noChangeAspect="1"/>
          </p:cNvPicPr>
          <p:nvPr/>
        </p:nvPicPr>
        <p:blipFill>
          <a:blip r:embed="rId2"/>
          <a:stretch>
            <a:fillRect/>
          </a:stretch>
        </p:blipFill>
        <p:spPr>
          <a:xfrm>
            <a:off x="1433830" y="689928"/>
            <a:ext cx="9618980" cy="5894705"/>
          </a:xfrm>
          <a:prstGeom prst="rect">
            <a:avLst/>
          </a:prstGeom>
        </p:spPr>
      </p:pic>
    </p:spTree>
    <p:extLst>
      <p:ext uri="{BB962C8B-B14F-4D97-AF65-F5344CB8AC3E}">
        <p14:creationId xmlns:p14="http://schemas.microsoft.com/office/powerpoint/2010/main" val="478443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47B94-4665-7088-CD4B-E4D31DD76E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F9C58-3733-04A3-DB05-FF5558B8E6A6}"/>
              </a:ext>
            </a:extLst>
          </p:cNvPr>
          <p:cNvSpPr>
            <a:spLocks noGrp="1"/>
          </p:cNvSpPr>
          <p:nvPr>
            <p:ph type="title"/>
          </p:nvPr>
        </p:nvSpPr>
        <p:spPr>
          <a:xfrm>
            <a:off x="4328" y="5120"/>
            <a:ext cx="12182443" cy="686313"/>
          </a:xfrm>
        </p:spPr>
        <p:txBody>
          <a:bodyPr>
            <a:normAutofit/>
          </a:bodyPr>
          <a:lstStyle/>
          <a:p>
            <a:pPr algn="ctr"/>
            <a:r>
              <a:rPr lang="en-US" sz="3300" b="1">
                <a:latin typeface="Cambria"/>
                <a:ea typeface="Cambria"/>
                <a:cs typeface="+mj-lt"/>
              </a:rPr>
              <a:t>Selection of Lambda and equations for scoring</a:t>
            </a:r>
            <a:endParaRPr lang="en-US"/>
          </a:p>
        </p:txBody>
      </p:sp>
      <p:sp>
        <p:nvSpPr>
          <p:cNvPr id="7" name="TextBox 6">
            <a:extLst>
              <a:ext uri="{FF2B5EF4-FFF2-40B4-BE49-F238E27FC236}">
                <a16:creationId xmlns:a16="http://schemas.microsoft.com/office/drawing/2014/main" id="{887D4B30-948C-B4D5-A700-77ED3C6C751E}"/>
              </a:ext>
            </a:extLst>
          </p:cNvPr>
          <p:cNvSpPr txBox="1"/>
          <p:nvPr/>
        </p:nvSpPr>
        <p:spPr>
          <a:xfrm>
            <a:off x="7875354" y="2466320"/>
            <a:ext cx="430662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a:p>
            <a:endParaRPr lang="en-US"/>
          </a:p>
          <a:p>
            <a:endParaRPr lang="en-US"/>
          </a:p>
          <a:p>
            <a:endParaRPr lang="en-US"/>
          </a:p>
          <a:p>
            <a:endParaRPr lang="en-US"/>
          </a:p>
          <a:p>
            <a:endParaRPr lang="en-US"/>
          </a:p>
        </p:txBody>
      </p:sp>
      <p:pic>
        <p:nvPicPr>
          <p:cNvPr id="3" name="Picture 2">
            <a:extLst>
              <a:ext uri="{FF2B5EF4-FFF2-40B4-BE49-F238E27FC236}">
                <a16:creationId xmlns:a16="http://schemas.microsoft.com/office/drawing/2014/main" id="{BFD287F2-05F7-99C4-1C09-A66F078133DF}"/>
              </a:ext>
            </a:extLst>
          </p:cNvPr>
          <p:cNvPicPr>
            <a:picLocks noChangeAspect="1"/>
          </p:cNvPicPr>
          <p:nvPr/>
        </p:nvPicPr>
        <p:blipFill>
          <a:blip r:embed="rId2"/>
          <a:stretch>
            <a:fillRect/>
          </a:stretch>
        </p:blipFill>
        <p:spPr>
          <a:xfrm>
            <a:off x="2094230" y="1015048"/>
            <a:ext cx="8735060" cy="5356225"/>
          </a:xfrm>
          <a:prstGeom prst="rect">
            <a:avLst/>
          </a:prstGeom>
        </p:spPr>
      </p:pic>
    </p:spTree>
    <p:extLst>
      <p:ext uri="{BB962C8B-B14F-4D97-AF65-F5344CB8AC3E}">
        <p14:creationId xmlns:p14="http://schemas.microsoft.com/office/powerpoint/2010/main" val="1962976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22</Slides>
  <Notes>0</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Problem Statement </vt:lpstr>
      <vt:lpstr>Exploratory Data Analysis   </vt:lpstr>
      <vt:lpstr>PowerPoint Presentation</vt:lpstr>
      <vt:lpstr>Data Challenges &amp; Solutions </vt:lpstr>
      <vt:lpstr>Identifier Harmonization </vt:lpstr>
      <vt:lpstr>Integrating four omics layers with MOFA  Why the standard decompositions failed, and what MOFA+ does instead</vt:lpstr>
      <vt:lpstr>System architecture</vt:lpstr>
      <vt:lpstr>How a cell line gets its score</vt:lpstr>
      <vt:lpstr>The written explanation</vt:lpstr>
      <vt:lpstr>Exclusion Gene Penalties </vt:lpstr>
      <vt:lpstr>Clustering the Cell Lines</vt:lpstr>
      <vt:lpstr>Clustering Images</vt:lpstr>
      <vt:lpstr>Query and Results</vt:lpstr>
      <vt:lpstr>Limitations And Future Work</vt:lpstr>
      <vt:lpstr>PowerPoint Presentation</vt:lpstr>
      <vt:lpstr>PowerPoint Presentation</vt:lpstr>
      <vt:lpstr>PowerPoint Presentation</vt:lpstr>
      <vt:lpstr>PowerPoint Presentation</vt:lpstr>
      <vt:lpstr>Clustering Images</vt:lpstr>
      <vt:lpstr>Selection of Lambda and equations for scoring</vt:lpstr>
      <vt:lpstr>Selection of Lambda and equations for scoring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Vian Dsouza</dc:creator>
  <cp:revision>27</cp:revision>
  <dcterms:created xsi:type="dcterms:W3CDTF">2026-09-11T14:14:26Z</dcterms:created>
  <dcterms:modified xsi:type="dcterms:W3CDTF">2026-09-15T18:35:55Z</dcterms:modified>
</cp:coreProperties>
</file>